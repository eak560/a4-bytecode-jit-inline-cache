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6" r:id="rId27"/>
    <p:sldId id="277" r:id="rId28"/>
    <p:sldId id="278" r:id="rId29"/>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  <Relationship Id="rId27" Type="http://schemas.openxmlformats.org/officeDocument/2006/relationships/slide" Target="slides/slide21.xml"/>
  <Relationship Id="rId28" Type="http://schemas.openxmlformats.org/officeDocument/2006/relationships/slide" Target="slides/slide22.xml"/>
  <Relationship Id="rId29" Type="http://schemas.openxmlformats.org/officeDocument/2006/relationships/slide" Target="slides/slide23.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Hit rate</c:v>
                </c:pt>
              </c:strCache>
            </c:strRef>
          </c:tx>
          <c:spPr>
            <a:solidFill>
              <a:srgbClr val="548687"/>
            </a:solidFill>
            <a:effectLst/>
          </c:spPr>
          <c:invertIfNegative val="0"/>
          <c:dLbls>
            <c:numFmt formatCode="0.0&quot;%&quot;" sourceLinked="0"/>
            <c:txPr>
              <a:bodyPr/>
              <a:lstStyle/>
              <a:p>
                <a:pPr>
                  <a:defRPr b="1" i="0" strike="noStrike" sz="1200" u="none">
                    <a:solidFill>
                      <a:srgbClr val="513B3C"/>
                    </a:solidFill>
                    <a:latin typeface="Arial"/>
                  </a:defRPr>
                </a:pPr>
              </a:p>
            </c:txPr>
            <c:showLegendKey val="0"/>
            <c:showVal val="1"/>
            <c:showCatName val="0"/>
            <c:showSerName val="0"/>
            <c:showPercent val="0"/>
            <c:showBubbleSize val="0"/>
            <c:showLeaderLines val="0"/>
          </c:dLbls>
          <c:dPt>
            <c:idx val="0"/>
            <c:invertIfNegative val="0"/>
            <c:bubble3D val="0"/>
            <c:spPr>
              <a:solidFill>
                <a:srgbClr val="548687"/>
              </a:solidFill>
              <a:effectLst/>
            </c:spPr>
          </c:dPt>
          <c:dPt>
            <c:idx val="1"/>
            <c:invertIfNegative val="0"/>
            <c:bubble3D val="0"/>
            <c:spPr>
              <a:solidFill>
                <a:srgbClr val="548687"/>
              </a:solidFill>
              <a:effectLst/>
            </c:spPr>
          </c:dPt>
          <c:dPt>
            <c:idx val="2"/>
            <c:invertIfNegative val="0"/>
            <c:bubble3D val="0"/>
            <c:spPr>
              <a:solidFill>
                <a:srgbClr val="E1B07E"/>
              </a:solidFill>
              <a:effectLst/>
            </c:spPr>
          </c:dPt>
          <c:cat>
            <c:multiLvlStrRef>
              <c:f>Sheet1!$A$2:$A$4</c:f>
              <c:multiLvlStrCache>
                <c:ptCount val="3"/>
                <c:lvl>
                  <c:pt idx="0">
                    <c:v>Monomorphic
1 shape</c:v>
                  </c:pt>
                  <c:pt idx="1">
                    <c:v>Polymorphic
3 shapes</c:v>
                  </c:pt>
                  <c:pt idx="2">
                    <c:v>Megamorphic
16 shapes, 4 slots</c:v>
                  </c:pt>
                </c:lvl>
              </c:multiLvlStrCache>
            </c:multiLvlStrRef>
          </c:cat>
          <c:val>
            <c:numRef>
              <c:f>Sheet1!$B$2:$B$4</c:f>
              <c:numCache>
                <c:formatCode>General</c:formatCode>
                <c:ptCount val="3"/>
                <c:pt idx="0">
                  <c:v>100</c:v>
                </c:pt>
                <c:pt idx="1">
                  <c:v>100</c:v>
                </c:pt>
                <c:pt idx="2">
                  <c:v>24.9</c:v>
                </c:pt>
              </c:numCache>
            </c:numRef>
          </c:val>
        </c:ser>
        <c:dLbls>
          <c:numFmt formatCode="0.0&quot;%&quot;" sourceLinked="0"/>
          <c:txPr>
            <a:bodyPr/>
            <a:lstStyle/>
            <a:p>
              <a:pPr>
                <a:defRPr b="1" i="0" strike="noStrike" sz="1200" u="none">
                  <a:solidFill>
                    <a:srgbClr val="513B3C"/>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13B3C"/>
                </a:solidFill>
                <a:latin typeface="Calibri"/>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Speedup</c:v>
                </c:pt>
              </c:strCache>
            </c:strRef>
          </c:tx>
          <c:spPr>
            <a:solidFill>
              <a:srgbClr val="548687"/>
            </a:solidFill>
            <a:effectLst/>
          </c:spPr>
          <c:invertIfNegative val="0"/>
          <c:dLbls>
            <c:numFmt formatCode="0.00&quot;×&quot;" sourceLinked="0"/>
            <c:txPr>
              <a:bodyPr/>
              <a:lstStyle/>
              <a:p>
                <a:pPr>
                  <a:defRPr b="1" i="0" strike="noStrike" sz="1300" u="none">
                    <a:solidFill>
                      <a:srgbClr val="513B3C"/>
                    </a:solidFill>
                    <a:latin typeface="Arial"/>
                  </a:defRPr>
                </a:pPr>
              </a:p>
            </c:txPr>
            <c:showLegendKey val="0"/>
            <c:showVal val="1"/>
            <c:showCatName val="0"/>
            <c:showSerName val="0"/>
            <c:showPercent val="0"/>
            <c:showBubbleSize val="0"/>
            <c:showLeaderLines val="0"/>
          </c:dLbls>
          <c:dPt>
            <c:idx val="0"/>
            <c:invertIfNegative val="0"/>
            <c:bubble3D val="0"/>
            <c:spPr>
              <a:solidFill>
                <a:srgbClr val="548687"/>
              </a:solidFill>
              <a:effectLst/>
            </c:spPr>
          </c:dPt>
          <c:dPt>
            <c:idx val="1"/>
            <c:invertIfNegative val="0"/>
            <c:bubble3D val="0"/>
            <c:spPr>
              <a:solidFill>
                <a:srgbClr val="548687"/>
              </a:solidFill>
              <a:effectLst/>
            </c:spPr>
          </c:dPt>
          <c:dPt>
            <c:idx val="2"/>
            <c:invertIfNegative val="0"/>
            <c:bubble3D val="0"/>
            <c:spPr>
              <a:solidFill>
                <a:srgbClr val="E1B07E"/>
              </a:solidFill>
              <a:effectLst/>
            </c:spPr>
          </c:dPt>
          <c:cat>
            <c:multiLvlStrRef>
              <c:f>Sheet1!$A$2:$A$4</c:f>
              <c:multiLvlStrCache>
                <c:ptCount val="3"/>
                <c:lvl>
                  <c:pt idx="0">
                    <c:v>Monomorphic</c:v>
                  </c:pt>
                  <c:pt idx="1">
                    <c:v>Polymorphic</c:v>
                  </c:pt>
                  <c:pt idx="2">
                    <c:v>Megamorphic</c:v>
                  </c:pt>
                </c:lvl>
              </c:multiLvlStrCache>
            </c:multiLvlStrRef>
          </c:cat>
          <c:val>
            <c:numRef>
              <c:f>Sheet1!$B$2:$B$4</c:f>
              <c:numCache>
                <c:formatCode>General</c:formatCode>
                <c:ptCount val="3"/>
                <c:pt idx="0">
                  <c:v>2.23</c:v>
                </c:pt>
                <c:pt idx="1">
                  <c:v>1.53</c:v>
                </c:pt>
                <c:pt idx="2">
                  <c:v>0.89</c:v>
                </c:pt>
              </c:numCache>
            </c:numRef>
          </c:val>
        </c:ser>
        <c:dLbls>
          <c:numFmt formatCode="0.00&quot;×&quot;" sourceLinked="0"/>
          <c:txPr>
            <a:bodyPr/>
            <a:lstStyle/>
            <a:p>
              <a:pPr>
                <a:defRPr b="1" i="0" strike="noStrike" sz="1300" u="none">
                  <a:solidFill>
                    <a:srgbClr val="513B3C"/>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13B3C"/>
                </a:solidFill>
                <a:latin typeface="Calibri"/>
              </a:defRPr>
            </a:pPr>
            <a:endParaRPr lang="en-US"/>
          </a:p>
        </c:txPr>
        <c:crossAx val="2094734552"/>
        <c:crosses val="autoZero"/>
        <c:auto val="1"/>
        <c:lblAlgn val="ctr"/>
        <c:noMultiLvlLbl val="1"/>
      </c:catAx>
      <c:valAx>
        <c:axId val="2094734552"/>
        <c:scaling>
          <c:orientation val="minMax"/>
          <c:max val="2.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(any member, ~20 s): We are team A4. Our project is a bytecode virtual machine with a JIT compiler and inline caching — the same core ideas used in engines like V8. This is Review 2: what we have built since Review 1 and our first measured results. Each of us will present our own module for about three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Here is how we split the talk. Charith covers the VM, Vatsal the profiler and testing, Mayan the inline cache and results, and Ehsan the tier-2 compiler, deoptimisation and our next steps. Review 2 covers milestones M1 and M2 and early work toward M3.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Charith (~10 s): I'll cover where the project stands overall, how our virtual machine works, and the tests that prove the interpreter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Charith (~45 s): This is our scorecard against the objectives from Review 1. The VM and bytecode format, the baseline interpreter, and hot-code detection are done. Inline caching works in all states and is being tuned for the megamorphic case. Tier-2 native code generation is in progress — arithmetic is done, and the guard and deoptimisation logic has been modelled and tested. Differential testing shows zero mismatches.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Charith (~60 s): Programs are compiled to bytecode — a list of simple instructions. The VM keeps a stack of values and a program counter, and loops forever: fetch the instruction at pc, decode which opcode it is, execute it, and move on until HALT. For example PUSH 10, PUSH 20, ADD leaves 30 on the stack. The full Review 1 instruction set is now implemented: stack, arithmetic, locals, jumps and comparison, and I/O. We added two opcodes, LOADOBJ and GETFIELD, so we can test property access — that is what the inline cache speeds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Charith (~60 s): Each test is a tiny program with a known answer. TC1 to TC6 were in Review 1: arithmetic, sequencing and divide-by-zero. We added TC7 to TC12: variables, both kinds of jump, comparisons including the equal case, a real loop that must be flagged hot, and a 1000-deep stack stress test. All 12 pass. This matters because the baseline interpreter is our reference — everything faster must produce exactly the same output. Vatsal will now explain how we detect hot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Vatsal (~10 s): I'll explain how we find hot code, how we prove the cache never changes program output, and where we are on the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Vatsal (~60 s): A JIT only pays off if it compiles the code that actually runs a lot — and that is almost always loops. On the left is the bytecode for 'while i &lt; 10: i += 1'. The JMP at address 10 jumps backwards to address 2 — that is a back-edge. Every time we see a backward jump we increment a counter for its target. When the counter reaches the threshold, the loop head is flagged hot and becomes a candidate for tier-2 compilation. TC11 checks this: the loop runs 10 times and address 2 is flagged. The threshold is currently a constant; we will make it configurable so we can tune it per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Vatsal (~60 s): Speed is worthless if the answers change. So we use differential testing. The same generated workload is run twice: once on the plain baseline interpreter and once with the inline cache enabled. Then we compare every single output value. Across three workload types and 300,000 field accesses, we see zero mismatches. The same comparison is built into each of the 17 unit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Vatsal (~50 s): Against our 12-week plan: weeks 1 to 7 are complete, including milestone M1, the inline cache design, and M2, the interpreter with the cache working. M3, the tier-2 compiled path with deoptimisation, is in progress and slightly behind. We are at week 10, Review 2. Mayan will now present the inline cache and our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 (~10 s): I'll explain what an inline cache is, how it moves between states, and what we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 (~60 s): Reading obj.x naively means scanning the object's field names every time. Objects with the same fields in the same order share a shape, so a GETFIELD site can remember: for shape S, x is in slot k. That memory is the inline cache. It starts UNINIT. After the first shape it is MONOmorphic — one check and a direct read. With 2 to 4 shapes it is POLYmorphic, a short list. Beyond that it goes MEGAmorphic and uses a small shared table with first-in-first-out eviction. Tests IC1 to IC3 confirm each state is reached with no wrong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 (~50 s): These are measured, not estimated. Monomorphic and polymorphic sites hit 100% of the time after warm-up — only 1 and 3 misses respectively in 100,000 accesses. The megamorphic case hits only 24.9%: 16 shapes compete for 4 slots, and first-in-first-out eviction keeps throwing out entries just before they are needed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 (~60 s): Timing the same workloads, the cache gives 2.23 times speedup on monomorphic and 1.53 times on polymorphic sites. On megamorphic sites it is slightly slower, 0.89 times, because the cache thrashes and its bookkeeping costs more than the scan it replaces. That is an expected trade-off, not a bug, and it is why we will tune the megamorphic capacity and eviction policy. Note these timings come from our Python reference model, so they show algorithmic savings; final numbers will come from the native tier-2 compiler, which Ehsan will now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(~10 s): I'll cover two correctness problems a JIT must solve — stale caches and wrong assumptions — then tier-2 status and our plan for Review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(~60 s): The first correctness problem is a stale cache. The cache learned that x lives in slot 2. If the shape itself is changed — here a field is added at the front — x moves to slot 3, but it is still the same shape. Without protection, the cache would read slot 2 and return b, which is 2: the wrong answer. So every shape now carries a version number, and the cache stores the version together with the slot. After the change the versions don't match, the access is treated as a miss, and the lookup finds slot 3. Test IC4 checks exactly this: it proves the stale slot would give the wrong value, and that the cache misses once and then returns the right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(~60 s): The second problem is a wrong assumption. Once a loop is hot and a field site has seen only one shape, tier-2 compiles a fast path that assumes that shape — guarded by a single check. If the guard holds, we read the slot directly with no cache lookup at all. If a different shape arrives, the guard fails and we deoptimise: throw away the compiled code, hard-reset that site's cache to UNINIT, and redo the access through the interpreter, so the answer is still correct. In IC5, 50 objects of shape A are followed by 50 of shape B. We see exactly one deopt at the first B, the cache is UNINIT right after the reset, 92 reads went through the fast path, and zero mismatches. This logic is modelled in Python — it is the reference our native asmjit code must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(~50 s): Where tier-2 stands: native code generation with asmjit works for arithmetic hot paths. The guard and deoptimisation logic is designed and tested in the reference model. What is not done yet is emitting cache guards in native code, and the native deopt path is only a stub — so compiled code currently falls back to the interpreter for field access. That puts milestone M3 slightly behind. Our mitigation: port the logic we have already tested directly, and if native guards slip, use threaded code, the contingency we agreed in Review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(~40 s): Before Review 3, the top priorities — our critical path for M3 — are emitting cache guards in native code and exercising the native deopt path end to end. We will also tune the megamorphic cache, make the hot threshold configurable, run the full benchmark on our nominated machine, and start drafting the final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(~20 s): That is our progress. We are happy to take questions, and we can run it live: demo.py walks through the cache states, deopt and the V8 comparison, and run_js.py compiles our JavaScript examples, runs them on our VM three ways and checks every line against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(~50 s): Review 1 said our VM only runs hand-written bytecode. We closed that gap with a small compiler, jsc.py, for a subset of JavaScript: variables, if, while and for loops, integer arithmetic, object and array literals, property reads and console.log. It has three stages. A regex lexer turns the text into tokens. A recursive-descent parser emits bytecode directly in one pass, back-patching jump targets once it knows where a loop ends. And lowering: our instruction set only has LT, so greater-than, equals and modulo are rewritten using LT, ADD, SUB and DIV plus temporary locals. On the left is what one line, total += items[i].x inside a for loop, compiles to. Address 13 is the GETFIELD site that the inline cache and tier 2 work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(~45 s): Because the input is real JavaScript, Node can run the same file. Node is our reference: it tells us what the correct output is. We run each program through our compiler and VM in three modes, plain baseline, with the inline cache, and with the cache plus tier 2, and compare every printed line with Node. Six programs times three modes is 18 runs, and all 18 are identical to Node, including the deopt test. We also ran the same mono, poly and mega experiment directly in V8: its megamorphic case is about 4 times slower than monomorphic, the same pattern our model shows. We do not compare raw speed with V8 — it is native C++; ours is a Python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Ehsan (~50 s): Correctness is perfect on all six. Speed is more interesting. With small six-field objects the inline cache is actually slower than just scanning the names, because in Python the cache bookkeeping costs more than a six-name search. With wide objects, here 32 fields, it wins: 1.13 times with the cache and 1.46 times with tier 2 on top. That is why real engines compile cached reads into machine code, which is exactly our tier-2 work. The megamorphic program hits 0 percent because 16 shapes arrive in a fixed rotation and FIFO always evicts the next one needed, which strengthens the case for tuning that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13B3C"/>
        </a:solidFill>
      </p:bgPr>
    </p:bg>
    <p:spTree>
      <p:nvGrpSpPr>
        <p:cNvPr id="1" name=""/>
        <p:cNvGrpSpPr/>
        <p:nvPr/>
      </p:nvGrpSpPr>
      <p:grpSpPr>
        <a:xfrm>
          <a:off x="0" y="0"/>
          <a:ext cx="0" cy="0"/>
          <a:chOff x="0" y="0"/>
          <a:chExt cx="0" cy="0"/>
        </a:xfrm>
      </p:grpSpPr>
      <p:sp>
        <p:nvSpPr>
          <p:cNvPr id="2" name="Text 0"/>
          <p:cNvSpPr txBox="1"/>
          <p:nvPr/>
        </p:nvSpPr>
        <p:spPr>
          <a:xfrm>
            <a:off x="548640" y="640080"/>
            <a:ext cx="5120640" cy="274320"/>
          </a:xfrm>
          <a:prstGeom prst="rect">
            <a:avLst/>
          </a:prstGeom>
          <a:noFill/>
          <a:ln/>
        </p:spPr>
        <p:txBody>
          <a:bodyPr wrap="square" lIns="0" tIns="0" rIns="0" bIns="0" rtlCol="0" anchor="ctr"/>
          <a:lstStyle/>
          <a:p>
            <a:pPr indent="0" marL="0">
              <a:buNone/>
            </a:pPr>
            <a:r>
              <a:rPr lang="en-US" sz="1200" b="1" spc="300" kern="0" dirty="0">
                <a:solidFill>
                  <a:srgbClr val="E1B07E"/>
                </a:solidFill>
                <a:latin typeface="Calibri" pitchFamily="34" charset="0"/>
                <a:ea typeface="Calibri" pitchFamily="34" charset="-122"/>
                <a:cs typeface="Calibri" pitchFamily="34" charset="-120"/>
              </a:rPr>
              <a:t>BCSE307 · COMPILER DESIGN · PROJECT A4</a:t>
            </a:r>
            <a:endParaRPr lang="en-US" sz="1200" dirty="0"/>
          </a:p>
        </p:txBody>
      </p:sp>
      <p:sp>
        <p:nvSpPr>
          <p:cNvPr id="3" name="Text 1"/>
          <p:cNvSpPr txBox="1"/>
          <p:nvPr/>
        </p:nvSpPr>
        <p:spPr>
          <a:xfrm>
            <a:off x="548640" y="1051560"/>
            <a:ext cx="4937760" cy="14630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Bytecode JIT Compiler with Inline Caching</a:t>
            </a:r>
            <a:endParaRPr lang="en-US" sz="3600" dirty="0"/>
          </a:p>
        </p:txBody>
      </p:sp>
      <p:sp>
        <p:nvSpPr>
          <p:cNvPr id="4" name="Text 2"/>
          <p:cNvSpPr txBox="1"/>
          <p:nvPr/>
        </p:nvSpPr>
        <p:spPr>
          <a:xfrm>
            <a:off x="548640" y="2606040"/>
            <a:ext cx="4754880" cy="640080"/>
          </a:xfrm>
          <a:prstGeom prst="rect">
            <a:avLst/>
          </a:prstGeom>
          <a:noFill/>
          <a:ln/>
        </p:spPr>
        <p:txBody>
          <a:bodyPr wrap="square" lIns="0" tIns="0" rIns="0" bIns="0" rtlCol="0" anchor="ctr"/>
          <a:lstStyle/>
          <a:p>
            <a:pPr indent="0" marL="0">
              <a:buNone/>
            </a:pPr>
            <a:r>
              <a:rPr lang="en-US" sz="1600" dirty="0">
                <a:solidFill>
                  <a:srgbClr val="E5BE9E"/>
                </a:solidFill>
                <a:latin typeface="Calibri" pitchFamily="34" charset="0"/>
                <a:ea typeface="Calibri" pitchFamily="34" charset="-122"/>
                <a:cs typeface="Calibri" pitchFamily="34" charset="-120"/>
              </a:rPr>
              <a:t>Project Review 2 — Implementation, Results and a JavaScript Front End</a:t>
            </a:r>
            <a:endParaRPr lang="en-US" sz="1600" dirty="0"/>
          </a:p>
        </p:txBody>
      </p:sp>
      <p:sp>
        <p:nvSpPr>
          <p:cNvPr id="5" name="Text 3"/>
          <p:cNvSpPr txBox="1"/>
          <p:nvPr/>
        </p:nvSpPr>
        <p:spPr>
          <a:xfrm>
            <a:off x="548640" y="4206240"/>
            <a:ext cx="5486400" cy="274320"/>
          </a:xfrm>
          <a:prstGeom prst="rect">
            <a:avLst/>
          </a:prstGeom>
          <a:noFill/>
          <a:ln/>
        </p:spPr>
        <p:txBody>
          <a:bodyPr wrap="square" lIns="0" tIns="0" rIns="0" bIns="0" rtlCol="0" anchor="ctr"/>
          <a:lstStyle/>
          <a:p>
            <a:pPr indent="0" marL="0">
              <a:buNone/>
            </a:pPr>
            <a:r>
              <a:rPr lang="en-US" sz="1100" dirty="0">
                <a:solidFill>
                  <a:srgbClr val="C1EEFF"/>
                </a:solidFill>
                <a:latin typeface="Calibri" pitchFamily="34" charset="0"/>
                <a:ea typeface="Calibri" pitchFamily="34" charset="-122"/>
                <a:cs typeface="Calibri" pitchFamily="34" charset="-120"/>
              </a:rPr>
              <a:t>Chilukuri Charith Reddy  ·  Vatsal Sharma  ·  Mayan Manit  ·  Ehsan Abdulkhader</a:t>
            </a:r>
            <a:endParaRPr lang="en-US" sz="1100" dirty="0"/>
          </a:p>
        </p:txBody>
      </p:sp>
      <p:sp>
        <p:nvSpPr>
          <p:cNvPr id="6" name="Shape 4"/>
          <p:cNvSpPr/>
          <p:nvPr/>
        </p:nvSpPr>
        <p:spPr>
          <a:xfrm>
            <a:off x="7383780" y="822960"/>
            <a:ext cx="0" cy="3108960"/>
          </a:xfrm>
          <a:prstGeom prst="line">
            <a:avLst/>
          </a:prstGeom>
          <a:noFill/>
          <a:ln w="19050">
            <a:solidFill>
              <a:srgbClr val="7D6A6B"/>
            </a:solidFill>
            <a:prstDash val="dash"/>
          </a:ln>
        </p:spPr>
      </p:sp>
      <p:sp>
        <p:nvSpPr>
          <p:cNvPr id="7" name="Shape 5"/>
          <p:cNvSpPr/>
          <p:nvPr/>
        </p:nvSpPr>
        <p:spPr>
          <a:xfrm>
            <a:off x="6949440" y="685800"/>
            <a:ext cx="868680" cy="868680"/>
          </a:xfrm>
          <a:prstGeom prst="ellipse">
            <a:avLst/>
          </a:prstGeom>
          <a:solidFill>
            <a:srgbClr val="C1EEFF"/>
          </a:solidFill>
          <a:ln w="12700">
            <a:solidFill>
              <a:srgbClr val="C1EEFF"/>
            </a:solidFill>
            <a:prstDash val="solid"/>
          </a:ln>
        </p:spPr>
      </p:sp>
      <p:sp>
        <p:nvSpPr>
          <p:cNvPr id="8" name="Text 6"/>
          <p:cNvSpPr txBox="1"/>
          <p:nvPr/>
        </p:nvSpPr>
        <p:spPr>
          <a:xfrm>
            <a:off x="6949440" y="685800"/>
            <a:ext cx="868680" cy="868680"/>
          </a:xfrm>
          <a:prstGeom prst="rect">
            <a:avLst/>
          </a:prstGeom>
          <a:noFill/>
          <a:ln/>
        </p:spPr>
        <p:txBody>
          <a:bodyPr wrap="square" lIns="0" tIns="0" rIns="0" bIns="0" rtlCol="0" anchor="ctr"/>
          <a:lstStyle/>
          <a:p>
            <a:pPr algn="ctr" indent="0" marL="0">
              <a:buNone/>
            </a:pPr>
            <a:r>
              <a:rPr lang="en-US" sz="1100" b="1" dirty="0">
                <a:solidFill>
                  <a:srgbClr val="513B3C"/>
                </a:solidFill>
                <a:latin typeface="Cambria" pitchFamily="34" charset="0"/>
                <a:ea typeface="Cambria" pitchFamily="34" charset="-122"/>
                <a:cs typeface="Cambria" pitchFamily="34" charset="-120"/>
              </a:rPr>
              <a:t>UNINIT</a:t>
            </a:r>
            <a:endParaRPr lang="en-US" sz="1100" dirty="0"/>
          </a:p>
        </p:txBody>
      </p:sp>
      <p:sp>
        <p:nvSpPr>
          <p:cNvPr id="9" name="Shape 7"/>
          <p:cNvSpPr/>
          <p:nvPr/>
        </p:nvSpPr>
        <p:spPr>
          <a:xfrm>
            <a:off x="6949440" y="1645920"/>
            <a:ext cx="868680" cy="868680"/>
          </a:xfrm>
          <a:prstGeom prst="ellipse">
            <a:avLst/>
          </a:prstGeom>
          <a:solidFill>
            <a:srgbClr val="548687"/>
          </a:solidFill>
          <a:ln w="12700">
            <a:solidFill>
              <a:srgbClr val="548687"/>
            </a:solidFill>
            <a:prstDash val="solid"/>
          </a:ln>
        </p:spPr>
      </p:sp>
      <p:sp>
        <p:nvSpPr>
          <p:cNvPr id="10" name="Text 8"/>
          <p:cNvSpPr txBox="1"/>
          <p:nvPr/>
        </p:nvSpPr>
        <p:spPr>
          <a:xfrm>
            <a:off x="6949440" y="1645920"/>
            <a:ext cx="86868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MONO</a:t>
            </a:r>
            <a:endParaRPr lang="en-US" sz="1100" dirty="0"/>
          </a:p>
        </p:txBody>
      </p:sp>
      <p:sp>
        <p:nvSpPr>
          <p:cNvPr id="11" name="Shape 9"/>
          <p:cNvSpPr/>
          <p:nvPr/>
        </p:nvSpPr>
        <p:spPr>
          <a:xfrm>
            <a:off x="6949440" y="2606040"/>
            <a:ext cx="868680" cy="868680"/>
          </a:xfrm>
          <a:prstGeom prst="ellipse">
            <a:avLst/>
          </a:prstGeom>
          <a:solidFill>
            <a:srgbClr val="E1B07E"/>
          </a:solidFill>
          <a:ln w="12700">
            <a:solidFill>
              <a:srgbClr val="E1B07E"/>
            </a:solidFill>
            <a:prstDash val="solid"/>
          </a:ln>
        </p:spPr>
      </p:sp>
      <p:sp>
        <p:nvSpPr>
          <p:cNvPr id="12" name="Text 10"/>
          <p:cNvSpPr txBox="1"/>
          <p:nvPr/>
        </p:nvSpPr>
        <p:spPr>
          <a:xfrm>
            <a:off x="6949440" y="2606040"/>
            <a:ext cx="868680" cy="868680"/>
          </a:xfrm>
          <a:prstGeom prst="rect">
            <a:avLst/>
          </a:prstGeom>
          <a:noFill/>
          <a:ln/>
        </p:spPr>
        <p:txBody>
          <a:bodyPr wrap="square" lIns="0" tIns="0" rIns="0" bIns="0" rtlCol="0" anchor="ctr"/>
          <a:lstStyle/>
          <a:p>
            <a:pPr algn="ctr" indent="0" marL="0">
              <a:buNone/>
            </a:pPr>
            <a:r>
              <a:rPr lang="en-US" sz="1100" b="1" dirty="0">
                <a:solidFill>
                  <a:srgbClr val="513B3C"/>
                </a:solidFill>
                <a:latin typeface="Cambria" pitchFamily="34" charset="0"/>
                <a:ea typeface="Cambria" pitchFamily="34" charset="-122"/>
                <a:cs typeface="Cambria" pitchFamily="34" charset="-120"/>
              </a:rPr>
              <a:t>POLY</a:t>
            </a:r>
            <a:endParaRPr lang="en-US" sz="1100" dirty="0"/>
          </a:p>
        </p:txBody>
      </p:sp>
      <p:sp>
        <p:nvSpPr>
          <p:cNvPr id="13" name="Shape 11"/>
          <p:cNvSpPr/>
          <p:nvPr/>
        </p:nvSpPr>
        <p:spPr>
          <a:xfrm>
            <a:off x="6949440" y="3566160"/>
            <a:ext cx="868680" cy="868680"/>
          </a:xfrm>
          <a:prstGeom prst="ellipse">
            <a:avLst/>
          </a:prstGeom>
          <a:solidFill>
            <a:srgbClr val="E5BE9E"/>
          </a:solidFill>
          <a:ln w="12700">
            <a:solidFill>
              <a:srgbClr val="E5BE9E"/>
            </a:solidFill>
            <a:prstDash val="solid"/>
          </a:ln>
        </p:spPr>
      </p:sp>
      <p:sp>
        <p:nvSpPr>
          <p:cNvPr id="14" name="Text 12"/>
          <p:cNvSpPr txBox="1"/>
          <p:nvPr/>
        </p:nvSpPr>
        <p:spPr>
          <a:xfrm>
            <a:off x="6949440" y="3566160"/>
            <a:ext cx="868680" cy="868680"/>
          </a:xfrm>
          <a:prstGeom prst="rect">
            <a:avLst/>
          </a:prstGeom>
          <a:noFill/>
          <a:ln/>
        </p:spPr>
        <p:txBody>
          <a:bodyPr wrap="square" lIns="0" tIns="0" rIns="0" bIns="0" rtlCol="0" anchor="ctr"/>
          <a:lstStyle/>
          <a:p>
            <a:pPr algn="ctr" indent="0" marL="0">
              <a:buNone/>
            </a:pPr>
            <a:r>
              <a:rPr lang="en-US" sz="1100" b="1" dirty="0">
                <a:solidFill>
                  <a:srgbClr val="513B3C"/>
                </a:solidFill>
                <a:latin typeface="Cambria" pitchFamily="34" charset="0"/>
                <a:ea typeface="Cambria" pitchFamily="34" charset="-122"/>
                <a:cs typeface="Cambria" pitchFamily="34" charset="-120"/>
              </a:rPr>
              <a:t>MEGA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2</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Who presents what</a:t>
            </a:r>
            <a:endParaRPr lang="en-US" sz="2800" dirty="0"/>
          </a:p>
        </p:txBody>
      </p:sp>
      <p:sp>
        <p:nvSpPr>
          <p:cNvPr id="4" name="Shape 2"/>
          <p:cNvSpPr/>
          <p:nvPr/>
        </p:nvSpPr>
        <p:spPr>
          <a:xfrm>
            <a:off x="457200" y="1234440"/>
            <a:ext cx="1920240" cy="2834640"/>
          </a:xfrm>
          <a:prstGeom prst="roundRect">
            <a:avLst>
              <a:gd name="adj" fmla="val 3810"/>
            </a:avLst>
          </a:prstGeom>
          <a:solidFill>
            <a:srgbClr val="E6F8FF"/>
          </a:solidFill>
          <a:ln w="12700">
            <a:solidFill>
              <a:srgbClr val="E6F8FF"/>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640080" y="1463040"/>
            <a:ext cx="502920" cy="502920"/>
          </a:xfrm>
          <a:prstGeom prst="ellipse">
            <a:avLst/>
          </a:prstGeom>
          <a:solidFill>
            <a:srgbClr val="548687"/>
          </a:solidFill>
          <a:ln w="12700">
            <a:solidFill>
              <a:srgbClr val="548687"/>
            </a:solidFill>
            <a:prstDash val="solid"/>
          </a:ln>
        </p:spPr>
      </p:sp>
      <p:sp>
        <p:nvSpPr>
          <p:cNvPr id="6" name="Text 4"/>
          <p:cNvSpPr txBox="1"/>
          <p:nvPr/>
        </p:nvSpPr>
        <p:spPr>
          <a:xfrm>
            <a:off x="640080" y="1463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280160" y="1554480"/>
            <a:ext cx="914400" cy="320040"/>
          </a:xfrm>
          <a:prstGeom prst="rect">
            <a:avLst/>
          </a:prstGeom>
          <a:noFill/>
          <a:ln/>
        </p:spPr>
        <p:txBody>
          <a:bodyPr wrap="square" lIns="0" tIns="0" rIns="0" bIns="0" rtlCol="0" anchor="ctr"/>
          <a:lstStyle/>
          <a:p>
            <a:pPr algn="r" indent="0" marL="0">
              <a:buNone/>
            </a:pPr>
            <a:r>
              <a:rPr lang="en-US" sz="1100" dirty="0">
                <a:solidFill>
                  <a:srgbClr val="7D6A6B"/>
                </a:solidFill>
                <a:latin typeface="Calibri" pitchFamily="34" charset="0"/>
                <a:ea typeface="Calibri" pitchFamily="34" charset="-122"/>
                <a:cs typeface="Calibri" pitchFamily="34" charset="-120"/>
              </a:rPr>
              <a:t>≈ 3 min</a:t>
            </a:r>
            <a:endParaRPr lang="en-US" sz="1100" dirty="0"/>
          </a:p>
        </p:txBody>
      </p:sp>
      <p:sp>
        <p:nvSpPr>
          <p:cNvPr id="8" name="Text 6"/>
          <p:cNvSpPr txBox="1"/>
          <p:nvPr/>
        </p:nvSpPr>
        <p:spPr>
          <a:xfrm>
            <a:off x="640080" y="2148840"/>
            <a:ext cx="1554480" cy="548640"/>
          </a:xfrm>
          <a:prstGeom prst="rect">
            <a:avLst/>
          </a:prstGeom>
          <a:noFill/>
          <a:ln/>
        </p:spPr>
        <p:txBody>
          <a:bodyPr wrap="square" lIns="0" tIns="0" rIns="0" bIns="0" rtlCol="0" anchor="t"/>
          <a:lstStyle/>
          <a:p>
            <a:pPr indent="0" marL="0">
              <a:buNone/>
            </a:pPr>
            <a:r>
              <a:rPr lang="en-US" sz="1400" b="1" dirty="0">
                <a:solidFill>
                  <a:srgbClr val="513B3C"/>
                </a:solidFill>
                <a:latin typeface="Calibri" pitchFamily="34" charset="0"/>
                <a:ea typeface="Calibri" pitchFamily="34" charset="-122"/>
                <a:cs typeface="Calibri" pitchFamily="34" charset="-120"/>
              </a:rPr>
              <a:t>Chilukuri Charith Reddy</a:t>
            </a:r>
            <a:endParaRPr lang="en-US" sz="1400" dirty="0"/>
          </a:p>
        </p:txBody>
      </p:sp>
      <p:sp>
        <p:nvSpPr>
          <p:cNvPr id="9" name="Text 7"/>
          <p:cNvSpPr txBox="1"/>
          <p:nvPr/>
        </p:nvSpPr>
        <p:spPr>
          <a:xfrm>
            <a:off x="640080" y="2697480"/>
            <a:ext cx="1554480" cy="228600"/>
          </a:xfrm>
          <a:prstGeom prst="rect">
            <a:avLst/>
          </a:prstGeom>
          <a:noFill/>
          <a:ln/>
        </p:spPr>
        <p:txBody>
          <a:bodyPr wrap="square" lIns="0" tIns="0" rIns="0" bIns="0" rtlCol="0" anchor="ctr"/>
          <a:lstStyle/>
          <a:p>
            <a:pPr indent="0" marL="0">
              <a:buNone/>
            </a:pPr>
            <a:r>
              <a:rPr lang="en-US" sz="1000" dirty="0">
                <a:solidFill>
                  <a:srgbClr val="7D6A6B"/>
                </a:solidFill>
                <a:latin typeface="Calibri" pitchFamily="34" charset="0"/>
                <a:ea typeface="Calibri" pitchFamily="34" charset="-122"/>
                <a:cs typeface="Calibri" pitchFamily="34" charset="-120"/>
              </a:rPr>
              <a:t>24BCT0093</a:t>
            </a:r>
            <a:endParaRPr lang="en-US" sz="1000" dirty="0"/>
          </a:p>
        </p:txBody>
      </p:sp>
      <p:sp>
        <p:nvSpPr>
          <p:cNvPr id="10" name="Text 8"/>
          <p:cNvSpPr txBox="1"/>
          <p:nvPr/>
        </p:nvSpPr>
        <p:spPr>
          <a:xfrm>
            <a:off x="640080" y="3017520"/>
            <a:ext cx="1554480" cy="457200"/>
          </a:xfrm>
          <a:prstGeom prst="rect">
            <a:avLst/>
          </a:prstGeom>
          <a:noFill/>
          <a:ln/>
        </p:spPr>
        <p:txBody>
          <a:bodyPr wrap="square" lIns="0" tIns="0" rIns="0" bIns="0" rtlCol="0" anchor="t"/>
          <a:lstStyle/>
          <a:p>
            <a:pPr indent="0" marL="0">
              <a:buNone/>
            </a:pPr>
            <a:r>
              <a:rPr lang="en-US" sz="1200" b="1" dirty="0">
                <a:solidFill>
                  <a:srgbClr val="548687"/>
                </a:solidFill>
                <a:latin typeface="Calibri" pitchFamily="34" charset="0"/>
                <a:ea typeface="Calibri" pitchFamily="34" charset="-122"/>
                <a:cs typeface="Calibri" pitchFamily="34" charset="-120"/>
              </a:rPr>
              <a:t>VM &amp; hot-path integration</a:t>
            </a:r>
            <a:endParaRPr lang="en-US" sz="1200" dirty="0"/>
          </a:p>
        </p:txBody>
      </p:sp>
      <p:sp>
        <p:nvSpPr>
          <p:cNvPr id="11" name="Text 9"/>
          <p:cNvSpPr txBox="1"/>
          <p:nvPr/>
        </p:nvSpPr>
        <p:spPr>
          <a:xfrm>
            <a:off x="640080" y="3474720"/>
            <a:ext cx="1554480" cy="502920"/>
          </a:xfrm>
          <a:prstGeom prst="rect">
            <a:avLst/>
          </a:prstGeom>
          <a:noFill/>
          <a:ln/>
        </p:spPr>
        <p:txBody>
          <a:bodyPr wrap="square" lIns="0" tIns="0" rIns="0" bIns="0" rtlCol="0" anchor="t"/>
          <a:lstStyle/>
          <a:p>
            <a:pPr indent="0" marL="0">
              <a:buNone/>
            </a:pPr>
            <a:r>
              <a:rPr lang="en-US" sz="1050" dirty="0">
                <a:solidFill>
                  <a:srgbClr val="513B3C"/>
                </a:solidFill>
                <a:latin typeface="Calibri" pitchFamily="34" charset="0"/>
                <a:ea typeface="Calibri" pitchFamily="34" charset="-122"/>
                <a:cs typeface="Calibri" pitchFamily="34" charset="-120"/>
              </a:rPr>
              <a:t>Objectives · stack VM · baseline tests</a:t>
            </a:r>
            <a:endParaRPr lang="en-US" sz="1050" dirty="0"/>
          </a:p>
        </p:txBody>
      </p:sp>
      <p:sp>
        <p:nvSpPr>
          <p:cNvPr id="12" name="Shape 10"/>
          <p:cNvSpPr/>
          <p:nvPr/>
        </p:nvSpPr>
        <p:spPr>
          <a:xfrm>
            <a:off x="2560320" y="1234440"/>
            <a:ext cx="1920240" cy="2834640"/>
          </a:xfrm>
          <a:prstGeom prst="roundRect">
            <a:avLst>
              <a:gd name="adj" fmla="val 3810"/>
            </a:avLst>
          </a:prstGeom>
          <a:solidFill>
            <a:srgbClr val="E6F8FF"/>
          </a:solidFill>
          <a:ln w="12700">
            <a:solidFill>
              <a:srgbClr val="E6F8FF"/>
            </a:solidFill>
            <a:prstDash val="solid"/>
          </a:ln>
          <a:effectLst>
            <a:outerShdw sx="100000" sy="100000" kx="0" ky="0" algn="bl" rotWithShape="0" blurRad="76200" dist="25400" dir="5400000">
              <a:srgbClr val="000000">
                <a:alpha val="12000"/>
              </a:srgbClr>
            </a:outerShdw>
          </a:effectLst>
        </p:spPr>
      </p:sp>
      <p:sp>
        <p:nvSpPr>
          <p:cNvPr id="13" name="Shape 11"/>
          <p:cNvSpPr/>
          <p:nvPr/>
        </p:nvSpPr>
        <p:spPr>
          <a:xfrm>
            <a:off x="2743200" y="1463040"/>
            <a:ext cx="502920" cy="502920"/>
          </a:xfrm>
          <a:prstGeom prst="ellipse">
            <a:avLst/>
          </a:prstGeom>
          <a:solidFill>
            <a:srgbClr val="548687"/>
          </a:solidFill>
          <a:ln w="12700">
            <a:solidFill>
              <a:srgbClr val="548687"/>
            </a:solidFill>
            <a:prstDash val="solid"/>
          </a:ln>
        </p:spPr>
      </p:sp>
      <p:sp>
        <p:nvSpPr>
          <p:cNvPr id="14" name="Text 12"/>
          <p:cNvSpPr txBox="1"/>
          <p:nvPr/>
        </p:nvSpPr>
        <p:spPr>
          <a:xfrm>
            <a:off x="2743200" y="1463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3"/>
          <p:cNvSpPr txBox="1"/>
          <p:nvPr/>
        </p:nvSpPr>
        <p:spPr>
          <a:xfrm>
            <a:off x="3383280" y="1554480"/>
            <a:ext cx="914400" cy="320040"/>
          </a:xfrm>
          <a:prstGeom prst="rect">
            <a:avLst/>
          </a:prstGeom>
          <a:noFill/>
          <a:ln/>
        </p:spPr>
        <p:txBody>
          <a:bodyPr wrap="square" lIns="0" tIns="0" rIns="0" bIns="0" rtlCol="0" anchor="ctr"/>
          <a:lstStyle/>
          <a:p>
            <a:pPr algn="r" indent="0" marL="0">
              <a:buNone/>
            </a:pPr>
            <a:r>
              <a:rPr lang="en-US" sz="1100" dirty="0">
                <a:solidFill>
                  <a:srgbClr val="7D6A6B"/>
                </a:solidFill>
                <a:latin typeface="Calibri" pitchFamily="34" charset="0"/>
                <a:ea typeface="Calibri" pitchFamily="34" charset="-122"/>
                <a:cs typeface="Calibri" pitchFamily="34" charset="-120"/>
              </a:rPr>
              <a:t>≈ 3 min</a:t>
            </a:r>
            <a:endParaRPr lang="en-US" sz="1100" dirty="0"/>
          </a:p>
        </p:txBody>
      </p:sp>
      <p:sp>
        <p:nvSpPr>
          <p:cNvPr id="16" name="Text 14"/>
          <p:cNvSpPr txBox="1"/>
          <p:nvPr/>
        </p:nvSpPr>
        <p:spPr>
          <a:xfrm>
            <a:off x="2743200" y="2148840"/>
            <a:ext cx="1554480" cy="548640"/>
          </a:xfrm>
          <a:prstGeom prst="rect">
            <a:avLst/>
          </a:prstGeom>
          <a:noFill/>
          <a:ln/>
        </p:spPr>
        <p:txBody>
          <a:bodyPr wrap="square" lIns="0" tIns="0" rIns="0" bIns="0" rtlCol="0" anchor="t"/>
          <a:lstStyle/>
          <a:p>
            <a:pPr indent="0" marL="0">
              <a:buNone/>
            </a:pPr>
            <a:r>
              <a:rPr lang="en-US" sz="1400" b="1" dirty="0">
                <a:solidFill>
                  <a:srgbClr val="513B3C"/>
                </a:solidFill>
                <a:latin typeface="Calibri" pitchFamily="34" charset="0"/>
                <a:ea typeface="Calibri" pitchFamily="34" charset="-122"/>
                <a:cs typeface="Calibri" pitchFamily="34" charset="-120"/>
              </a:rPr>
              <a:t>Vatsal Sharma</a:t>
            </a:r>
            <a:endParaRPr lang="en-US" sz="1400" dirty="0"/>
          </a:p>
        </p:txBody>
      </p:sp>
      <p:sp>
        <p:nvSpPr>
          <p:cNvPr id="17" name="Text 15"/>
          <p:cNvSpPr txBox="1"/>
          <p:nvPr/>
        </p:nvSpPr>
        <p:spPr>
          <a:xfrm>
            <a:off x="2743200" y="2697480"/>
            <a:ext cx="1554480" cy="228600"/>
          </a:xfrm>
          <a:prstGeom prst="rect">
            <a:avLst/>
          </a:prstGeom>
          <a:noFill/>
          <a:ln/>
        </p:spPr>
        <p:txBody>
          <a:bodyPr wrap="square" lIns="0" tIns="0" rIns="0" bIns="0" rtlCol="0" anchor="ctr"/>
          <a:lstStyle/>
          <a:p>
            <a:pPr indent="0" marL="0">
              <a:buNone/>
            </a:pPr>
            <a:r>
              <a:rPr lang="en-US" sz="1000" dirty="0">
                <a:solidFill>
                  <a:srgbClr val="7D6A6B"/>
                </a:solidFill>
                <a:latin typeface="Calibri" pitchFamily="34" charset="0"/>
                <a:ea typeface="Calibri" pitchFamily="34" charset="-122"/>
                <a:cs typeface="Calibri" pitchFamily="34" charset="-120"/>
              </a:rPr>
              <a:t>24BCE0334</a:t>
            </a:r>
            <a:endParaRPr lang="en-US" sz="1000" dirty="0"/>
          </a:p>
        </p:txBody>
      </p:sp>
      <p:sp>
        <p:nvSpPr>
          <p:cNvPr id="18" name="Text 16"/>
          <p:cNvSpPr txBox="1"/>
          <p:nvPr/>
        </p:nvSpPr>
        <p:spPr>
          <a:xfrm>
            <a:off x="2743200" y="3017520"/>
            <a:ext cx="1554480" cy="457200"/>
          </a:xfrm>
          <a:prstGeom prst="rect">
            <a:avLst/>
          </a:prstGeom>
          <a:noFill/>
          <a:ln/>
        </p:spPr>
        <p:txBody>
          <a:bodyPr wrap="square" lIns="0" tIns="0" rIns="0" bIns="0" rtlCol="0" anchor="t"/>
          <a:lstStyle/>
          <a:p>
            <a:pPr indent="0" marL="0">
              <a:buNone/>
            </a:pPr>
            <a:r>
              <a:rPr lang="en-US" sz="1200" b="1" dirty="0">
                <a:solidFill>
                  <a:srgbClr val="548687"/>
                </a:solidFill>
                <a:latin typeface="Calibri" pitchFamily="34" charset="0"/>
                <a:ea typeface="Calibri" pitchFamily="34" charset="-122"/>
                <a:cs typeface="Calibri" pitchFamily="34" charset="-120"/>
              </a:rPr>
              <a:t>Profiler &amp; hot-code detection</a:t>
            </a:r>
            <a:endParaRPr lang="en-US" sz="1200" dirty="0"/>
          </a:p>
        </p:txBody>
      </p:sp>
      <p:sp>
        <p:nvSpPr>
          <p:cNvPr id="19" name="Text 17"/>
          <p:cNvSpPr txBox="1"/>
          <p:nvPr/>
        </p:nvSpPr>
        <p:spPr>
          <a:xfrm>
            <a:off x="2743200" y="3474720"/>
            <a:ext cx="1554480" cy="502920"/>
          </a:xfrm>
          <a:prstGeom prst="rect">
            <a:avLst/>
          </a:prstGeom>
          <a:noFill/>
          <a:ln/>
        </p:spPr>
        <p:txBody>
          <a:bodyPr wrap="square" lIns="0" tIns="0" rIns="0" bIns="0" rtlCol="0" anchor="t"/>
          <a:lstStyle/>
          <a:p>
            <a:pPr indent="0" marL="0">
              <a:buNone/>
            </a:pPr>
            <a:r>
              <a:rPr lang="en-US" sz="1050" dirty="0">
                <a:solidFill>
                  <a:srgbClr val="513B3C"/>
                </a:solidFill>
                <a:latin typeface="Calibri" pitchFamily="34" charset="0"/>
                <a:ea typeface="Calibri" pitchFamily="34" charset="-122"/>
                <a:cs typeface="Calibri" pitchFamily="34" charset="-120"/>
              </a:rPr>
              <a:t>Back-edge counters · differential testing · timeline</a:t>
            </a:r>
            <a:endParaRPr lang="en-US" sz="1050" dirty="0"/>
          </a:p>
        </p:txBody>
      </p:sp>
      <p:sp>
        <p:nvSpPr>
          <p:cNvPr id="20" name="Shape 18"/>
          <p:cNvSpPr/>
          <p:nvPr/>
        </p:nvSpPr>
        <p:spPr>
          <a:xfrm>
            <a:off x="4663440" y="1234440"/>
            <a:ext cx="1920240" cy="2834640"/>
          </a:xfrm>
          <a:prstGeom prst="roundRect">
            <a:avLst>
              <a:gd name="adj" fmla="val 3810"/>
            </a:avLst>
          </a:prstGeom>
          <a:solidFill>
            <a:srgbClr val="E6F8FF"/>
          </a:solidFill>
          <a:ln w="12700">
            <a:solidFill>
              <a:srgbClr val="E6F8FF"/>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4846320" y="1463040"/>
            <a:ext cx="502920" cy="502920"/>
          </a:xfrm>
          <a:prstGeom prst="ellipse">
            <a:avLst/>
          </a:prstGeom>
          <a:solidFill>
            <a:srgbClr val="548687"/>
          </a:solidFill>
          <a:ln w="12700">
            <a:solidFill>
              <a:srgbClr val="548687"/>
            </a:solidFill>
            <a:prstDash val="solid"/>
          </a:ln>
        </p:spPr>
      </p:sp>
      <p:sp>
        <p:nvSpPr>
          <p:cNvPr id="22" name="Text 20"/>
          <p:cNvSpPr txBox="1"/>
          <p:nvPr/>
        </p:nvSpPr>
        <p:spPr>
          <a:xfrm>
            <a:off x="4846320" y="1463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3" name="Text 21"/>
          <p:cNvSpPr txBox="1"/>
          <p:nvPr/>
        </p:nvSpPr>
        <p:spPr>
          <a:xfrm>
            <a:off x="5486400" y="1554480"/>
            <a:ext cx="914400" cy="320040"/>
          </a:xfrm>
          <a:prstGeom prst="rect">
            <a:avLst/>
          </a:prstGeom>
          <a:noFill/>
          <a:ln/>
        </p:spPr>
        <p:txBody>
          <a:bodyPr wrap="square" lIns="0" tIns="0" rIns="0" bIns="0" rtlCol="0" anchor="ctr"/>
          <a:lstStyle/>
          <a:p>
            <a:pPr algn="r" indent="0" marL="0">
              <a:buNone/>
            </a:pPr>
            <a:r>
              <a:rPr lang="en-US" sz="1100" dirty="0">
                <a:solidFill>
                  <a:srgbClr val="7D6A6B"/>
                </a:solidFill>
                <a:latin typeface="Calibri" pitchFamily="34" charset="0"/>
                <a:ea typeface="Calibri" pitchFamily="34" charset="-122"/>
                <a:cs typeface="Calibri" pitchFamily="34" charset="-120"/>
              </a:rPr>
              <a:t>≈ 3 min</a:t>
            </a:r>
            <a:endParaRPr lang="en-US" sz="1100" dirty="0"/>
          </a:p>
        </p:txBody>
      </p:sp>
      <p:sp>
        <p:nvSpPr>
          <p:cNvPr id="24" name="Text 22"/>
          <p:cNvSpPr txBox="1"/>
          <p:nvPr/>
        </p:nvSpPr>
        <p:spPr>
          <a:xfrm>
            <a:off x="4846320" y="2148840"/>
            <a:ext cx="1554480" cy="548640"/>
          </a:xfrm>
          <a:prstGeom prst="rect">
            <a:avLst/>
          </a:prstGeom>
          <a:noFill/>
          <a:ln/>
        </p:spPr>
        <p:txBody>
          <a:bodyPr wrap="square" lIns="0" tIns="0" rIns="0" bIns="0" rtlCol="0" anchor="t"/>
          <a:lstStyle/>
          <a:p>
            <a:pPr indent="0" marL="0">
              <a:buNone/>
            </a:pPr>
            <a:r>
              <a:rPr lang="en-US" sz="1400" b="1" dirty="0">
                <a:solidFill>
                  <a:srgbClr val="513B3C"/>
                </a:solidFill>
                <a:latin typeface="Calibri" pitchFamily="34" charset="0"/>
                <a:ea typeface="Calibri" pitchFamily="34" charset="-122"/>
                <a:cs typeface="Calibri" pitchFamily="34" charset="-120"/>
              </a:rPr>
              <a:t>Mayan Manit</a:t>
            </a:r>
            <a:endParaRPr lang="en-US" sz="1400" dirty="0"/>
          </a:p>
        </p:txBody>
      </p:sp>
      <p:sp>
        <p:nvSpPr>
          <p:cNvPr id="25" name="Text 23"/>
          <p:cNvSpPr txBox="1"/>
          <p:nvPr/>
        </p:nvSpPr>
        <p:spPr>
          <a:xfrm>
            <a:off x="4846320" y="2697480"/>
            <a:ext cx="1554480" cy="228600"/>
          </a:xfrm>
          <a:prstGeom prst="rect">
            <a:avLst/>
          </a:prstGeom>
          <a:noFill/>
          <a:ln/>
        </p:spPr>
        <p:txBody>
          <a:bodyPr wrap="square" lIns="0" tIns="0" rIns="0" bIns="0" rtlCol="0" anchor="ctr"/>
          <a:lstStyle/>
          <a:p>
            <a:pPr indent="0" marL="0">
              <a:buNone/>
            </a:pPr>
            <a:r>
              <a:rPr lang="en-US" sz="1000" dirty="0">
                <a:solidFill>
                  <a:srgbClr val="7D6A6B"/>
                </a:solidFill>
                <a:latin typeface="Calibri" pitchFamily="34" charset="0"/>
                <a:ea typeface="Calibri" pitchFamily="34" charset="-122"/>
                <a:cs typeface="Calibri" pitchFamily="34" charset="-120"/>
              </a:rPr>
              <a:t>24BCE0506</a:t>
            </a:r>
            <a:endParaRPr lang="en-US" sz="1000" dirty="0"/>
          </a:p>
        </p:txBody>
      </p:sp>
      <p:sp>
        <p:nvSpPr>
          <p:cNvPr id="26" name="Text 24"/>
          <p:cNvSpPr txBox="1"/>
          <p:nvPr/>
        </p:nvSpPr>
        <p:spPr>
          <a:xfrm>
            <a:off x="4846320" y="3017520"/>
            <a:ext cx="1554480" cy="457200"/>
          </a:xfrm>
          <a:prstGeom prst="rect">
            <a:avLst/>
          </a:prstGeom>
          <a:noFill/>
          <a:ln/>
        </p:spPr>
        <p:txBody>
          <a:bodyPr wrap="square" lIns="0" tIns="0" rIns="0" bIns="0" rtlCol="0" anchor="t"/>
          <a:lstStyle/>
          <a:p>
            <a:pPr indent="0" marL="0">
              <a:buNone/>
            </a:pPr>
            <a:r>
              <a:rPr lang="en-US" sz="1200" b="1" dirty="0">
                <a:solidFill>
                  <a:srgbClr val="548687"/>
                </a:solidFill>
                <a:latin typeface="Calibri" pitchFamily="34" charset="0"/>
                <a:ea typeface="Calibri" pitchFamily="34" charset="-122"/>
                <a:cs typeface="Calibri" pitchFamily="34" charset="-120"/>
              </a:rPr>
              <a:t>Inline cache &amp; hit rate</a:t>
            </a:r>
            <a:endParaRPr lang="en-US" sz="1200" dirty="0"/>
          </a:p>
        </p:txBody>
      </p:sp>
      <p:sp>
        <p:nvSpPr>
          <p:cNvPr id="27" name="Text 25"/>
          <p:cNvSpPr txBox="1"/>
          <p:nvPr/>
        </p:nvSpPr>
        <p:spPr>
          <a:xfrm>
            <a:off x="4846320" y="3474720"/>
            <a:ext cx="1554480" cy="502920"/>
          </a:xfrm>
          <a:prstGeom prst="rect">
            <a:avLst/>
          </a:prstGeom>
          <a:noFill/>
          <a:ln/>
        </p:spPr>
        <p:txBody>
          <a:bodyPr wrap="square" lIns="0" tIns="0" rIns="0" bIns="0" rtlCol="0" anchor="t"/>
          <a:lstStyle/>
          <a:p>
            <a:pPr indent="0" marL="0">
              <a:buNone/>
            </a:pPr>
            <a:r>
              <a:rPr lang="en-US" sz="1050" dirty="0">
                <a:solidFill>
                  <a:srgbClr val="513B3C"/>
                </a:solidFill>
                <a:latin typeface="Calibri" pitchFamily="34" charset="0"/>
                <a:ea typeface="Calibri" pitchFamily="34" charset="-122"/>
                <a:cs typeface="Calibri" pitchFamily="34" charset="-120"/>
              </a:rPr>
              <a:t>State machine · hit rate · performance</a:t>
            </a:r>
            <a:endParaRPr lang="en-US" sz="1050" dirty="0"/>
          </a:p>
        </p:txBody>
      </p:sp>
      <p:sp>
        <p:nvSpPr>
          <p:cNvPr id="28" name="Shape 26"/>
          <p:cNvSpPr/>
          <p:nvPr/>
        </p:nvSpPr>
        <p:spPr>
          <a:xfrm>
            <a:off x="6766560" y="1234440"/>
            <a:ext cx="1920240" cy="2834640"/>
          </a:xfrm>
          <a:prstGeom prst="roundRect">
            <a:avLst>
              <a:gd name="adj" fmla="val 3810"/>
            </a:avLst>
          </a:prstGeom>
          <a:solidFill>
            <a:srgbClr val="E6F8FF"/>
          </a:solidFill>
          <a:ln w="12700">
            <a:solidFill>
              <a:srgbClr val="E6F8FF"/>
            </a:solidFill>
            <a:prstDash val="solid"/>
          </a:ln>
          <a:effectLst>
            <a:outerShdw sx="100000" sy="100000" kx="0" ky="0" algn="bl" rotWithShape="0" blurRad="76200" dist="25400" dir="5400000">
              <a:srgbClr val="000000">
                <a:alpha val="12000"/>
              </a:srgbClr>
            </a:outerShdw>
          </a:effectLst>
        </p:spPr>
      </p:sp>
      <p:sp>
        <p:nvSpPr>
          <p:cNvPr id="29" name="Shape 27"/>
          <p:cNvSpPr/>
          <p:nvPr/>
        </p:nvSpPr>
        <p:spPr>
          <a:xfrm>
            <a:off x="6949440" y="1463040"/>
            <a:ext cx="502920" cy="502920"/>
          </a:xfrm>
          <a:prstGeom prst="ellipse">
            <a:avLst/>
          </a:prstGeom>
          <a:solidFill>
            <a:srgbClr val="548687"/>
          </a:solidFill>
          <a:ln w="12700">
            <a:solidFill>
              <a:srgbClr val="548687"/>
            </a:solidFill>
            <a:prstDash val="solid"/>
          </a:ln>
        </p:spPr>
      </p:sp>
      <p:sp>
        <p:nvSpPr>
          <p:cNvPr id="30" name="Text 28"/>
          <p:cNvSpPr txBox="1"/>
          <p:nvPr/>
        </p:nvSpPr>
        <p:spPr>
          <a:xfrm>
            <a:off x="6949440" y="1463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31" name="Text 29"/>
          <p:cNvSpPr txBox="1"/>
          <p:nvPr/>
        </p:nvSpPr>
        <p:spPr>
          <a:xfrm>
            <a:off x="7589520" y="1554480"/>
            <a:ext cx="914400" cy="320040"/>
          </a:xfrm>
          <a:prstGeom prst="rect">
            <a:avLst/>
          </a:prstGeom>
          <a:noFill/>
          <a:ln/>
        </p:spPr>
        <p:txBody>
          <a:bodyPr wrap="square" lIns="0" tIns="0" rIns="0" bIns="0" rtlCol="0" anchor="ctr"/>
          <a:lstStyle/>
          <a:p>
            <a:pPr algn="r" indent="0" marL="0">
              <a:buNone/>
            </a:pPr>
            <a:r>
              <a:rPr lang="en-US" sz="1100" dirty="0">
                <a:solidFill>
                  <a:srgbClr val="7D6A6B"/>
                </a:solidFill>
                <a:latin typeface="Calibri" pitchFamily="34" charset="0"/>
                <a:ea typeface="Calibri" pitchFamily="34" charset="-122"/>
                <a:cs typeface="Calibri" pitchFamily="34" charset="-120"/>
              </a:rPr>
              <a:t>≈ 6 min</a:t>
            </a:r>
            <a:endParaRPr lang="en-US" sz="1100" dirty="0"/>
          </a:p>
        </p:txBody>
      </p:sp>
      <p:sp>
        <p:nvSpPr>
          <p:cNvPr id="32" name="Text 30"/>
          <p:cNvSpPr txBox="1"/>
          <p:nvPr/>
        </p:nvSpPr>
        <p:spPr>
          <a:xfrm>
            <a:off x="6949440" y="2148840"/>
            <a:ext cx="1554480" cy="548640"/>
          </a:xfrm>
          <a:prstGeom prst="rect">
            <a:avLst/>
          </a:prstGeom>
          <a:noFill/>
          <a:ln/>
        </p:spPr>
        <p:txBody>
          <a:bodyPr wrap="square" lIns="0" tIns="0" rIns="0" bIns="0" rtlCol="0" anchor="t"/>
          <a:lstStyle/>
          <a:p>
            <a:pPr indent="0" marL="0">
              <a:buNone/>
            </a:pPr>
            <a:r>
              <a:rPr lang="en-US" sz="1400" b="1" dirty="0">
                <a:solidFill>
                  <a:srgbClr val="513B3C"/>
                </a:solidFill>
                <a:latin typeface="Calibri" pitchFamily="34" charset="0"/>
                <a:ea typeface="Calibri" pitchFamily="34" charset="-122"/>
                <a:cs typeface="Calibri" pitchFamily="34" charset="-120"/>
              </a:rPr>
              <a:t>Ehsan Abdulkhader</a:t>
            </a:r>
            <a:endParaRPr lang="en-US" sz="1400" dirty="0"/>
          </a:p>
        </p:txBody>
      </p:sp>
      <p:sp>
        <p:nvSpPr>
          <p:cNvPr id="33" name="Text 31"/>
          <p:cNvSpPr txBox="1"/>
          <p:nvPr/>
        </p:nvSpPr>
        <p:spPr>
          <a:xfrm>
            <a:off x="6949440" y="2697480"/>
            <a:ext cx="1554480" cy="228600"/>
          </a:xfrm>
          <a:prstGeom prst="rect">
            <a:avLst/>
          </a:prstGeom>
          <a:noFill/>
          <a:ln/>
        </p:spPr>
        <p:txBody>
          <a:bodyPr wrap="square" lIns="0" tIns="0" rIns="0" bIns="0" rtlCol="0" anchor="ctr"/>
          <a:lstStyle/>
          <a:p>
            <a:pPr indent="0" marL="0">
              <a:buNone/>
            </a:pPr>
            <a:r>
              <a:rPr lang="en-US" sz="1000" dirty="0">
                <a:solidFill>
                  <a:srgbClr val="7D6A6B"/>
                </a:solidFill>
                <a:latin typeface="Calibri" pitchFamily="34" charset="0"/>
                <a:ea typeface="Calibri" pitchFamily="34" charset="-122"/>
                <a:cs typeface="Calibri" pitchFamily="34" charset="-120"/>
              </a:rPr>
              <a:t>24BCT0089</a:t>
            </a:r>
            <a:endParaRPr lang="en-US" sz="1000" dirty="0"/>
          </a:p>
        </p:txBody>
      </p:sp>
      <p:sp>
        <p:nvSpPr>
          <p:cNvPr id="34" name="Text 32"/>
          <p:cNvSpPr txBox="1"/>
          <p:nvPr/>
        </p:nvSpPr>
        <p:spPr>
          <a:xfrm>
            <a:off x="6949440" y="3017520"/>
            <a:ext cx="1554480" cy="457200"/>
          </a:xfrm>
          <a:prstGeom prst="rect">
            <a:avLst/>
          </a:prstGeom>
          <a:noFill/>
          <a:ln/>
        </p:spPr>
        <p:txBody>
          <a:bodyPr wrap="square" lIns="0" tIns="0" rIns="0" bIns="0" rtlCol="0" anchor="t"/>
          <a:lstStyle/>
          <a:p>
            <a:pPr indent="0" marL="0">
              <a:buNone/>
            </a:pPr>
            <a:r>
              <a:rPr lang="en-US" sz="1200" b="1" dirty="0">
                <a:solidFill>
                  <a:srgbClr val="548687"/>
                </a:solidFill>
                <a:latin typeface="Calibri" pitchFamily="34" charset="0"/>
                <a:ea typeface="Calibri" pitchFamily="34" charset="-122"/>
                <a:cs typeface="Calibri" pitchFamily="34" charset="-120"/>
              </a:rPr>
              <a:t>Tier-2 codegen &amp; deopt</a:t>
            </a:r>
            <a:endParaRPr lang="en-US" sz="1200" dirty="0"/>
          </a:p>
        </p:txBody>
      </p:sp>
      <p:sp>
        <p:nvSpPr>
          <p:cNvPr id="35" name="Text 33"/>
          <p:cNvSpPr txBox="1"/>
          <p:nvPr/>
        </p:nvSpPr>
        <p:spPr>
          <a:xfrm>
            <a:off x="6949440" y="3474720"/>
            <a:ext cx="1554480" cy="502920"/>
          </a:xfrm>
          <a:prstGeom prst="rect">
            <a:avLst/>
          </a:prstGeom>
          <a:noFill/>
          <a:ln/>
        </p:spPr>
        <p:txBody>
          <a:bodyPr wrap="square" lIns="0" tIns="0" rIns="0" bIns="0" rtlCol="0" anchor="t"/>
          <a:lstStyle/>
          <a:p>
            <a:pPr indent="0" marL="0">
              <a:buNone/>
            </a:pPr>
            <a:r>
              <a:rPr lang="en-US" sz="1050" dirty="0">
                <a:solidFill>
                  <a:srgbClr val="513B3C"/>
                </a:solidFill>
                <a:latin typeface="Calibri" pitchFamily="34" charset="0"/>
                <a:ea typeface="Calibri" pitchFamily="34" charset="-122"/>
                <a:cs typeface="Calibri" pitchFamily="34" charset="-120"/>
              </a:rPr>
              <a:t>Versioning · deopt · JS front end · next steps</a:t>
            </a:r>
            <a:endParaRPr lang="en-US" sz="1050" dirty="0"/>
          </a:p>
        </p:txBody>
      </p:sp>
      <p:sp>
        <p:nvSpPr>
          <p:cNvPr id="36" name="Text 34"/>
          <p:cNvSpPr txBox="1"/>
          <p:nvPr/>
        </p:nvSpPr>
        <p:spPr>
          <a:xfrm>
            <a:off x="457200" y="4297680"/>
            <a:ext cx="8229600" cy="320040"/>
          </a:xfrm>
          <a:prstGeom prst="rect">
            <a:avLst/>
          </a:prstGeom>
          <a:noFill/>
          <a:ln/>
        </p:spPr>
        <p:txBody>
          <a:bodyPr wrap="square" lIns="0" tIns="0" rIns="0" bIns="0" rtlCol="0" anchor="ctr"/>
          <a:lstStyle/>
          <a:p>
            <a:pPr indent="0" marL="0">
              <a:buNone/>
            </a:pPr>
            <a:r>
              <a:rPr lang="en-US" sz="1200" i="1" dirty="0">
                <a:solidFill>
                  <a:srgbClr val="7D6A6B"/>
                </a:solidFill>
                <a:latin typeface="Calibri" pitchFamily="34" charset="0"/>
                <a:ea typeface="Calibri" pitchFamily="34" charset="-122"/>
                <a:cs typeface="Calibri" pitchFamily="34" charset="-120"/>
              </a:rPr>
              <a:t>Scope: milestone M1 (IC design frozen) and M2 (interpreter + IC working), with early work toward M3 (tier-2).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13B3C"/>
        </a:solidFill>
      </p:bgPr>
    </p:bg>
    <p:spTree>
      <p:nvGrpSpPr>
        <p:cNvPr id="1" name=""/>
        <p:cNvGrpSpPr/>
        <p:nvPr/>
      </p:nvGrpSpPr>
      <p:grpSpPr>
        <a:xfrm>
          <a:off x="0" y="0"/>
          <a:ext cx="0" cy="0"/>
          <a:chOff x="0" y="0"/>
          <a:chExt cx="0" cy="0"/>
        </a:xfrm>
      </p:grpSpPr>
      <p:sp>
        <p:nvSpPr>
          <p:cNvPr id="2" name="Text 0"/>
          <p:cNvSpPr txBox="1"/>
          <p:nvPr/>
        </p:nvSpPr>
        <p:spPr>
          <a:xfrm>
            <a:off x="548640" y="822960"/>
            <a:ext cx="2286000" cy="1371600"/>
          </a:xfrm>
          <a:prstGeom prst="rect">
            <a:avLst/>
          </a:prstGeom>
          <a:noFill/>
          <a:ln/>
        </p:spPr>
        <p:txBody>
          <a:bodyPr wrap="square" lIns="0" tIns="0" rIns="0" bIns="0" rtlCol="0" anchor="ctr"/>
          <a:lstStyle/>
          <a:p>
            <a:pPr indent="0" marL="0">
              <a:buNone/>
            </a:pPr>
            <a:r>
              <a:rPr lang="en-US" sz="8800" b="1" dirty="0">
                <a:solidFill>
                  <a:srgbClr val="E1B07E"/>
                </a:solidFill>
                <a:latin typeface="Cambria" pitchFamily="34" charset="0"/>
                <a:ea typeface="Cambria" pitchFamily="34" charset="-122"/>
                <a:cs typeface="Cambria" pitchFamily="34" charset="-120"/>
              </a:rPr>
              <a:t>01</a:t>
            </a:r>
            <a:endParaRPr lang="en-US" sz="8800" dirty="0"/>
          </a:p>
        </p:txBody>
      </p:sp>
      <p:sp>
        <p:nvSpPr>
          <p:cNvPr id="3" name="Text 1"/>
          <p:cNvSpPr txBox="1"/>
          <p:nvPr/>
        </p:nvSpPr>
        <p:spPr>
          <a:xfrm>
            <a:off x="548640" y="2240280"/>
            <a:ext cx="45720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Chilukuri Charith Reddy</a:t>
            </a:r>
            <a:endParaRPr lang="en-US" sz="2800" dirty="0"/>
          </a:p>
        </p:txBody>
      </p:sp>
      <p:sp>
        <p:nvSpPr>
          <p:cNvPr id="4" name="Text 2"/>
          <p:cNvSpPr txBox="1"/>
          <p:nvPr/>
        </p:nvSpPr>
        <p:spPr>
          <a:xfrm>
            <a:off x="548640" y="2788920"/>
            <a:ext cx="4572000" cy="365760"/>
          </a:xfrm>
          <a:prstGeom prst="rect">
            <a:avLst/>
          </a:prstGeom>
          <a:noFill/>
          <a:ln/>
        </p:spPr>
        <p:txBody>
          <a:bodyPr wrap="square" lIns="0" tIns="0" rIns="0" bIns="0" rtlCol="0" anchor="ctr"/>
          <a:lstStyle/>
          <a:p>
            <a:pPr indent="0" marL="0">
              <a:buNone/>
            </a:pPr>
            <a:r>
              <a:rPr lang="en-US" sz="1600" dirty="0">
                <a:solidFill>
                  <a:srgbClr val="E5BE9E"/>
                </a:solidFill>
                <a:latin typeface="Calibri" pitchFamily="34" charset="0"/>
                <a:ea typeface="Calibri" pitchFamily="34" charset="-122"/>
                <a:cs typeface="Calibri" pitchFamily="34" charset="-120"/>
              </a:rPr>
              <a:t>VM &amp; Hot-Path Integration</a:t>
            </a:r>
            <a:endParaRPr lang="en-US" sz="1600" dirty="0"/>
          </a:p>
        </p:txBody>
      </p:sp>
      <p:sp>
        <p:nvSpPr>
          <p:cNvPr id="5" name="Shape 3"/>
          <p:cNvSpPr/>
          <p:nvPr/>
        </p:nvSpPr>
        <p:spPr>
          <a:xfrm>
            <a:off x="5394960" y="1097280"/>
            <a:ext cx="3291840" cy="2926080"/>
          </a:xfrm>
          <a:prstGeom prst="roundRect">
            <a:avLst>
              <a:gd name="adj" fmla="val 2500"/>
            </a:avLst>
          </a:prstGeom>
          <a:solidFill>
            <a:srgbClr val="5E4748"/>
          </a:solidFill>
          <a:ln w="12700">
            <a:solidFill>
              <a:srgbClr val="5E4748"/>
            </a:solidFill>
            <a:prstDash val="solid"/>
          </a:ln>
        </p:spPr>
      </p:sp>
      <p:sp>
        <p:nvSpPr>
          <p:cNvPr id="6" name="Text 4"/>
          <p:cNvSpPr txBox="1"/>
          <p:nvPr/>
        </p:nvSpPr>
        <p:spPr>
          <a:xfrm>
            <a:off x="5669280" y="1325880"/>
            <a:ext cx="2743200" cy="274320"/>
          </a:xfrm>
          <a:prstGeom prst="rect">
            <a:avLst/>
          </a:prstGeom>
          <a:noFill/>
          <a:ln/>
        </p:spPr>
        <p:txBody>
          <a:bodyPr wrap="square" lIns="0" tIns="0" rIns="0" bIns="0" rtlCol="0" anchor="ctr"/>
          <a:lstStyle/>
          <a:p>
            <a:pPr indent="0" marL="0">
              <a:buNone/>
            </a:pPr>
            <a:r>
              <a:rPr lang="en-US" sz="1100" b="1" spc="200" kern="0" dirty="0">
                <a:solidFill>
                  <a:srgbClr val="E1B07E"/>
                </a:solidFill>
                <a:latin typeface="Calibri" pitchFamily="34" charset="0"/>
                <a:ea typeface="Calibri" pitchFamily="34" charset="-122"/>
                <a:cs typeface="Calibri" pitchFamily="34" charset="-120"/>
              </a:rPr>
              <a:t>IN THIS SECTION</a:t>
            </a:r>
            <a:endParaRPr lang="en-US" sz="1100" dirty="0"/>
          </a:p>
        </p:txBody>
      </p:sp>
      <p:sp>
        <p:nvSpPr>
          <p:cNvPr id="7" name="Text 5"/>
          <p:cNvSpPr txBox="1"/>
          <p:nvPr/>
        </p:nvSpPr>
        <p:spPr>
          <a:xfrm>
            <a:off x="5669280" y="1737360"/>
            <a:ext cx="28346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Objective status since Review 1</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The stack-based bytecode VM</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Baseline interpreter: TC1–TC12</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4</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Objective status since Review 1</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1 · CHARITH</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834640"/>
                <a:gridCol w="1188720"/>
                <a:gridCol w="4206240"/>
              </a:tblGrid>
              <a:tr h="42976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Objective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Evidence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Stack-based VM &amp; bytecode format</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Full instruction set frozen and implemented</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Baseline interpreter</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TC1–TC12 passing (extended from TC1–TC6)</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Hot-code detection / profiling</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Loop back-edge counters live (TC11)</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Inline caching (mono / poly / mega)</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513B3C"/>
                          </a:solidFill>
                          <a:latin typeface="Calibri" pitchFamily="34" charset="0"/>
                          <a:ea typeface="Calibri" pitchFamily="34" charset="-122"/>
                          <a:cs typeface="Calibri" pitchFamily="34" charset="-120"/>
                        </a:rPr>
                        <a:t>In progress</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E1B07E"/>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All states + invalidation tested (IC1–IC4); mega capacity being tuned</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JIT / native codegen (tier-2)</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513B3C"/>
                          </a:solidFill>
                          <a:latin typeface="Calibri" pitchFamily="34" charset="0"/>
                          <a:ea typeface="Calibri" pitchFamily="34" charset="-122"/>
                          <a:cs typeface="Calibri" pitchFamily="34" charset="-120"/>
                        </a:rPr>
                        <a:t>In progress</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E1B07E"/>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Arithmetic codegen; guard + deopt logic modelled (IC5)</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Benchmark &amp; differential testing</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513B3C"/>
                          </a:solidFill>
                          <a:latin typeface="Calibri" pitchFamily="34" charset="0"/>
                          <a:ea typeface="Calibri" pitchFamily="34" charset="-122"/>
                          <a:cs typeface="Calibri" pitchFamily="34" charset="-120"/>
                        </a:rPr>
                        <a:t>In progress</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E1B07E"/>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0 mismatches; 6 JS programs match Node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200" i="1" dirty="0">
                <a:solidFill>
                  <a:srgbClr val="7D6A6B"/>
                </a:solidFill>
                <a:latin typeface="Calibri" pitchFamily="34" charset="0"/>
                <a:ea typeface="Calibri" pitchFamily="34" charset="-122"/>
                <a:cs typeface="Calibri" pitchFamily="34" charset="-120"/>
              </a:rPr>
              <a:t>3 of 6 objectives complete; the remaining 3 are on track for Review 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5</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A stack-based bytecode VM</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1 · CHARITH</a:t>
            </a:r>
            <a:endParaRPr lang="en-US" sz="1000" dirty="0"/>
          </a:p>
        </p:txBody>
      </p:sp>
      <p:sp>
        <p:nvSpPr>
          <p:cNvPr id="6" name="Shape 4"/>
          <p:cNvSpPr/>
          <p:nvPr/>
        </p:nvSpPr>
        <p:spPr>
          <a:xfrm>
            <a:off x="822960" y="1188720"/>
            <a:ext cx="2926080" cy="658368"/>
          </a:xfrm>
          <a:prstGeom prst="roundRect">
            <a:avLst>
              <a:gd name="adj" fmla="val 11111"/>
            </a:avLst>
          </a:prstGeom>
          <a:solidFill>
            <a:srgbClr val="E6F8FF"/>
          </a:solidFill>
          <a:ln w="12700">
            <a:solidFill>
              <a:srgbClr val="E6F8FF"/>
            </a:solidFill>
            <a:prstDash val="solid"/>
          </a:ln>
        </p:spPr>
      </p:sp>
      <p:sp>
        <p:nvSpPr>
          <p:cNvPr id="7" name="Text 5"/>
          <p:cNvSpPr txBox="1"/>
          <p:nvPr/>
        </p:nvSpPr>
        <p:spPr>
          <a:xfrm>
            <a:off x="1005840" y="1261872"/>
            <a:ext cx="2560320" cy="27432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FETCH</a:t>
            </a:r>
            <a:endParaRPr lang="en-US" sz="1300" dirty="0"/>
          </a:p>
        </p:txBody>
      </p:sp>
      <p:sp>
        <p:nvSpPr>
          <p:cNvPr id="8" name="Text 6"/>
          <p:cNvSpPr txBox="1"/>
          <p:nvPr/>
        </p:nvSpPr>
        <p:spPr>
          <a:xfrm>
            <a:off x="1005840" y="1536192"/>
            <a:ext cx="2560320" cy="256032"/>
          </a:xfrm>
          <a:prstGeom prst="rect">
            <a:avLst/>
          </a:prstGeom>
          <a:noFill/>
          <a:ln/>
        </p:spPr>
        <p:txBody>
          <a:bodyPr wrap="square" lIns="0" tIns="0" rIns="0" bIns="0" rtlCol="0" anchor="ctr"/>
          <a:lstStyle/>
          <a:p>
            <a:pPr indent="0" marL="0">
              <a:buNone/>
            </a:pPr>
            <a:r>
              <a:rPr lang="en-US" sz="1100" dirty="0">
                <a:solidFill>
                  <a:srgbClr val="513B3C"/>
                </a:solidFill>
                <a:latin typeface="Courier New" pitchFamily="34" charset="0"/>
                <a:ea typeface="Courier New" pitchFamily="34" charset="-122"/>
                <a:cs typeface="Courier New" pitchFamily="34" charset="-120"/>
              </a:rPr>
              <a:t>op, arg = program[pc]</a:t>
            </a:r>
            <a:endParaRPr lang="en-US" sz="1100" dirty="0"/>
          </a:p>
        </p:txBody>
      </p:sp>
      <p:sp>
        <p:nvSpPr>
          <p:cNvPr id="9" name="Shape 7"/>
          <p:cNvSpPr/>
          <p:nvPr/>
        </p:nvSpPr>
        <p:spPr>
          <a:xfrm>
            <a:off x="2286000" y="1865376"/>
            <a:ext cx="0" cy="274320"/>
          </a:xfrm>
          <a:prstGeom prst="line">
            <a:avLst/>
          </a:prstGeom>
          <a:noFill/>
          <a:ln w="22225">
            <a:solidFill>
              <a:srgbClr val="7D6A6B"/>
            </a:solidFill>
            <a:prstDash val="solid"/>
            <a:tailEnd type="triangle"/>
          </a:ln>
        </p:spPr>
      </p:sp>
      <p:sp>
        <p:nvSpPr>
          <p:cNvPr id="10" name="Shape 8"/>
          <p:cNvSpPr/>
          <p:nvPr/>
        </p:nvSpPr>
        <p:spPr>
          <a:xfrm>
            <a:off x="822960" y="2148840"/>
            <a:ext cx="2926080" cy="658368"/>
          </a:xfrm>
          <a:prstGeom prst="roundRect">
            <a:avLst>
              <a:gd name="adj" fmla="val 11111"/>
            </a:avLst>
          </a:prstGeom>
          <a:solidFill>
            <a:srgbClr val="E6F8FF"/>
          </a:solidFill>
          <a:ln w="12700">
            <a:solidFill>
              <a:srgbClr val="E6F8FF"/>
            </a:solidFill>
            <a:prstDash val="solid"/>
          </a:ln>
        </p:spPr>
      </p:sp>
      <p:sp>
        <p:nvSpPr>
          <p:cNvPr id="11" name="Text 9"/>
          <p:cNvSpPr txBox="1"/>
          <p:nvPr/>
        </p:nvSpPr>
        <p:spPr>
          <a:xfrm>
            <a:off x="1005840" y="2221992"/>
            <a:ext cx="2560320" cy="27432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DECODE</a:t>
            </a:r>
            <a:endParaRPr lang="en-US" sz="1300" dirty="0"/>
          </a:p>
        </p:txBody>
      </p:sp>
      <p:sp>
        <p:nvSpPr>
          <p:cNvPr id="12" name="Text 10"/>
          <p:cNvSpPr txBox="1"/>
          <p:nvPr/>
        </p:nvSpPr>
        <p:spPr>
          <a:xfrm>
            <a:off x="1005840" y="2496312"/>
            <a:ext cx="2560320" cy="256032"/>
          </a:xfrm>
          <a:prstGeom prst="rect">
            <a:avLst/>
          </a:prstGeom>
          <a:noFill/>
          <a:ln/>
        </p:spPr>
        <p:txBody>
          <a:bodyPr wrap="square" lIns="0" tIns="0" rIns="0" bIns="0" rtlCol="0" anchor="ctr"/>
          <a:lstStyle/>
          <a:p>
            <a:pPr indent="0" marL="0">
              <a:buNone/>
            </a:pPr>
            <a:r>
              <a:rPr lang="en-US" sz="1100" dirty="0">
                <a:solidFill>
                  <a:srgbClr val="513B3C"/>
                </a:solidFill>
                <a:latin typeface="Calibri" pitchFamily="34" charset="0"/>
                <a:ea typeface="Calibri" pitchFamily="34" charset="-122"/>
                <a:cs typeface="Calibri" pitchFamily="34" charset="-120"/>
              </a:rPr>
              <a:t>which opcode is it?</a:t>
            </a:r>
            <a:endParaRPr lang="en-US" sz="1100" dirty="0"/>
          </a:p>
        </p:txBody>
      </p:sp>
      <p:sp>
        <p:nvSpPr>
          <p:cNvPr id="13" name="Shape 11"/>
          <p:cNvSpPr/>
          <p:nvPr/>
        </p:nvSpPr>
        <p:spPr>
          <a:xfrm>
            <a:off x="2286000" y="2825496"/>
            <a:ext cx="0" cy="274320"/>
          </a:xfrm>
          <a:prstGeom prst="line">
            <a:avLst/>
          </a:prstGeom>
          <a:noFill/>
          <a:ln w="22225">
            <a:solidFill>
              <a:srgbClr val="7D6A6B"/>
            </a:solidFill>
            <a:prstDash val="solid"/>
            <a:tailEnd type="triangle"/>
          </a:ln>
        </p:spPr>
      </p:sp>
      <p:sp>
        <p:nvSpPr>
          <p:cNvPr id="14" name="Shape 12"/>
          <p:cNvSpPr/>
          <p:nvPr/>
        </p:nvSpPr>
        <p:spPr>
          <a:xfrm>
            <a:off x="822960" y="3108960"/>
            <a:ext cx="2926080" cy="658368"/>
          </a:xfrm>
          <a:prstGeom prst="roundRect">
            <a:avLst>
              <a:gd name="adj" fmla="val 11111"/>
            </a:avLst>
          </a:prstGeom>
          <a:solidFill>
            <a:srgbClr val="548687"/>
          </a:solidFill>
          <a:ln w="12700">
            <a:solidFill>
              <a:srgbClr val="548687"/>
            </a:solidFill>
            <a:prstDash val="solid"/>
          </a:ln>
        </p:spPr>
      </p:sp>
      <p:sp>
        <p:nvSpPr>
          <p:cNvPr id="15" name="Text 13"/>
          <p:cNvSpPr txBox="1"/>
          <p:nvPr/>
        </p:nvSpPr>
        <p:spPr>
          <a:xfrm>
            <a:off x="1005840" y="3182112"/>
            <a:ext cx="25603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EXECUTE</a:t>
            </a:r>
            <a:endParaRPr lang="en-US" sz="1300" dirty="0"/>
          </a:p>
        </p:txBody>
      </p:sp>
      <p:sp>
        <p:nvSpPr>
          <p:cNvPr id="16" name="Text 14"/>
          <p:cNvSpPr txBox="1"/>
          <p:nvPr/>
        </p:nvSpPr>
        <p:spPr>
          <a:xfrm>
            <a:off x="1005840" y="3456432"/>
            <a:ext cx="2560320" cy="25603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update stack, locals, pc</a:t>
            </a:r>
            <a:endParaRPr lang="en-US" sz="1100" dirty="0"/>
          </a:p>
        </p:txBody>
      </p:sp>
      <p:sp>
        <p:nvSpPr>
          <p:cNvPr id="17" name="Shape 15"/>
          <p:cNvSpPr/>
          <p:nvPr/>
        </p:nvSpPr>
        <p:spPr>
          <a:xfrm>
            <a:off x="548640" y="1517904"/>
            <a:ext cx="0" cy="1920240"/>
          </a:xfrm>
          <a:prstGeom prst="line">
            <a:avLst/>
          </a:prstGeom>
          <a:noFill/>
          <a:ln w="22225">
            <a:solidFill>
              <a:srgbClr val="E1B07E"/>
            </a:solidFill>
            <a:prstDash val="solid"/>
          </a:ln>
        </p:spPr>
      </p:sp>
      <p:sp>
        <p:nvSpPr>
          <p:cNvPr id="18" name="Shape 16"/>
          <p:cNvSpPr/>
          <p:nvPr/>
        </p:nvSpPr>
        <p:spPr>
          <a:xfrm>
            <a:off x="548640" y="3438144"/>
            <a:ext cx="274320" cy="0"/>
          </a:xfrm>
          <a:prstGeom prst="line">
            <a:avLst/>
          </a:prstGeom>
          <a:noFill/>
          <a:ln w="22225">
            <a:solidFill>
              <a:srgbClr val="E1B07E"/>
            </a:solidFill>
            <a:prstDash val="solid"/>
          </a:ln>
        </p:spPr>
      </p:sp>
      <p:sp>
        <p:nvSpPr>
          <p:cNvPr id="19" name="Shape 17"/>
          <p:cNvSpPr/>
          <p:nvPr/>
        </p:nvSpPr>
        <p:spPr>
          <a:xfrm>
            <a:off x="548640" y="1517904"/>
            <a:ext cx="274320" cy="0"/>
          </a:xfrm>
          <a:prstGeom prst="line">
            <a:avLst/>
          </a:prstGeom>
          <a:noFill/>
          <a:ln w="22225">
            <a:solidFill>
              <a:srgbClr val="E1B07E"/>
            </a:solidFill>
            <a:prstDash val="solid"/>
            <a:tailEnd type="triangle"/>
          </a:ln>
        </p:spPr>
      </p:sp>
      <p:sp>
        <p:nvSpPr>
          <p:cNvPr id="20" name="Text 18"/>
          <p:cNvSpPr txBox="1"/>
          <p:nvPr/>
        </p:nvSpPr>
        <p:spPr>
          <a:xfrm>
            <a:off x="822960" y="4114800"/>
            <a:ext cx="2926080" cy="274320"/>
          </a:xfrm>
          <a:prstGeom prst="rect">
            <a:avLst/>
          </a:prstGeom>
          <a:noFill/>
          <a:ln/>
        </p:spPr>
        <p:txBody>
          <a:bodyPr wrap="square" lIns="0" tIns="0" rIns="0" bIns="0" rtlCol="0" anchor="ctr"/>
          <a:lstStyle/>
          <a:p>
            <a:pPr indent="0" marL="0">
              <a:buNone/>
            </a:pPr>
            <a:r>
              <a:rPr lang="en-US" sz="1100" i="1" dirty="0">
                <a:solidFill>
                  <a:srgbClr val="7D6A6B"/>
                </a:solidFill>
                <a:latin typeface="Calibri" pitchFamily="34" charset="0"/>
                <a:ea typeface="Calibri" pitchFamily="34" charset="-122"/>
                <a:cs typeface="Calibri" pitchFamily="34" charset="-120"/>
              </a:rPr>
              <a:t>repeat until HALT</a:t>
            </a:r>
            <a:endParaRPr lang="en-US" sz="1100" dirty="0"/>
          </a:p>
        </p:txBody>
      </p:sp>
      <p:sp>
        <p:nvSpPr>
          <p:cNvPr id="21" name="Text 19"/>
          <p:cNvSpPr txBox="1"/>
          <p:nvPr/>
        </p:nvSpPr>
        <p:spPr>
          <a:xfrm>
            <a:off x="4389120" y="1188720"/>
            <a:ext cx="1097280" cy="365760"/>
          </a:xfrm>
          <a:prstGeom prst="rect">
            <a:avLst/>
          </a:prstGeom>
          <a:noFill/>
          <a:ln/>
        </p:spPr>
        <p:txBody>
          <a:bodyPr wrap="square" lIns="0" tIns="0" rIns="0" bIns="0" rtlCol="0" anchor="ctr"/>
          <a:lstStyle/>
          <a:p>
            <a:pPr indent="0" marL="0">
              <a:buNone/>
            </a:pPr>
            <a:r>
              <a:rPr lang="en-US" sz="1200" b="1" dirty="0">
                <a:solidFill>
                  <a:srgbClr val="548687"/>
                </a:solidFill>
                <a:latin typeface="Calibri" pitchFamily="34" charset="0"/>
                <a:ea typeface="Calibri" pitchFamily="34" charset="-122"/>
                <a:cs typeface="Calibri" pitchFamily="34" charset="-120"/>
              </a:rPr>
              <a:t>Stack</a:t>
            </a:r>
            <a:endParaRPr lang="en-US" sz="1200" dirty="0"/>
          </a:p>
        </p:txBody>
      </p:sp>
      <p:sp>
        <p:nvSpPr>
          <p:cNvPr id="22" name="Shape 20"/>
          <p:cNvSpPr/>
          <p:nvPr/>
        </p:nvSpPr>
        <p:spPr>
          <a:xfrm>
            <a:off x="5486400" y="1225296"/>
            <a:ext cx="548640" cy="292608"/>
          </a:xfrm>
          <a:prstGeom prst="roundRect">
            <a:avLst>
              <a:gd name="adj" fmla="val 25000"/>
            </a:avLst>
          </a:prstGeom>
          <a:solidFill>
            <a:srgbClr val="F6E7DB"/>
          </a:solidFill>
          <a:ln w="12700">
            <a:solidFill>
              <a:srgbClr val="F6E7DB"/>
            </a:solidFill>
            <a:prstDash val="solid"/>
          </a:ln>
        </p:spPr>
      </p:sp>
      <p:sp>
        <p:nvSpPr>
          <p:cNvPr id="23" name="Text 21"/>
          <p:cNvSpPr txBox="1"/>
          <p:nvPr/>
        </p:nvSpPr>
        <p:spPr>
          <a:xfrm>
            <a:off x="5486400" y="1225296"/>
            <a:ext cx="54864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PUSH</a:t>
            </a:r>
            <a:endParaRPr lang="en-US" sz="1050" dirty="0"/>
          </a:p>
        </p:txBody>
      </p:sp>
      <p:sp>
        <p:nvSpPr>
          <p:cNvPr id="24" name="Shape 22"/>
          <p:cNvSpPr/>
          <p:nvPr/>
        </p:nvSpPr>
        <p:spPr>
          <a:xfrm>
            <a:off x="6126480" y="1225296"/>
            <a:ext cx="457200" cy="292608"/>
          </a:xfrm>
          <a:prstGeom prst="roundRect">
            <a:avLst>
              <a:gd name="adj" fmla="val 25000"/>
            </a:avLst>
          </a:prstGeom>
          <a:solidFill>
            <a:srgbClr val="F6E7DB"/>
          </a:solidFill>
          <a:ln w="12700">
            <a:solidFill>
              <a:srgbClr val="F6E7DB"/>
            </a:solidFill>
            <a:prstDash val="solid"/>
          </a:ln>
        </p:spPr>
      </p:sp>
      <p:sp>
        <p:nvSpPr>
          <p:cNvPr id="25" name="Text 23"/>
          <p:cNvSpPr txBox="1"/>
          <p:nvPr/>
        </p:nvSpPr>
        <p:spPr>
          <a:xfrm>
            <a:off x="6126480" y="1225296"/>
            <a:ext cx="45720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POP</a:t>
            </a:r>
            <a:endParaRPr lang="en-US" sz="1050" dirty="0"/>
          </a:p>
        </p:txBody>
      </p:sp>
      <p:sp>
        <p:nvSpPr>
          <p:cNvPr id="26" name="Text 24"/>
          <p:cNvSpPr txBox="1"/>
          <p:nvPr/>
        </p:nvSpPr>
        <p:spPr>
          <a:xfrm>
            <a:off x="4389120" y="1664208"/>
            <a:ext cx="1097280" cy="365760"/>
          </a:xfrm>
          <a:prstGeom prst="rect">
            <a:avLst/>
          </a:prstGeom>
          <a:noFill/>
          <a:ln/>
        </p:spPr>
        <p:txBody>
          <a:bodyPr wrap="square" lIns="0" tIns="0" rIns="0" bIns="0" rtlCol="0" anchor="ctr"/>
          <a:lstStyle/>
          <a:p>
            <a:pPr indent="0" marL="0">
              <a:buNone/>
            </a:pPr>
            <a:r>
              <a:rPr lang="en-US" sz="1200" b="1" dirty="0">
                <a:solidFill>
                  <a:srgbClr val="548687"/>
                </a:solidFill>
                <a:latin typeface="Calibri" pitchFamily="34" charset="0"/>
                <a:ea typeface="Calibri" pitchFamily="34" charset="-122"/>
                <a:cs typeface="Calibri" pitchFamily="34" charset="-120"/>
              </a:rPr>
              <a:t>Arithmetic</a:t>
            </a:r>
            <a:endParaRPr lang="en-US" sz="1200" dirty="0"/>
          </a:p>
        </p:txBody>
      </p:sp>
      <p:sp>
        <p:nvSpPr>
          <p:cNvPr id="27" name="Shape 25"/>
          <p:cNvSpPr/>
          <p:nvPr/>
        </p:nvSpPr>
        <p:spPr>
          <a:xfrm>
            <a:off x="5486400" y="1700784"/>
            <a:ext cx="457200" cy="292608"/>
          </a:xfrm>
          <a:prstGeom prst="roundRect">
            <a:avLst>
              <a:gd name="adj" fmla="val 25000"/>
            </a:avLst>
          </a:prstGeom>
          <a:solidFill>
            <a:srgbClr val="F6E7DB"/>
          </a:solidFill>
          <a:ln w="12700">
            <a:solidFill>
              <a:srgbClr val="F6E7DB"/>
            </a:solidFill>
            <a:prstDash val="solid"/>
          </a:ln>
        </p:spPr>
      </p:sp>
      <p:sp>
        <p:nvSpPr>
          <p:cNvPr id="28" name="Text 26"/>
          <p:cNvSpPr txBox="1"/>
          <p:nvPr/>
        </p:nvSpPr>
        <p:spPr>
          <a:xfrm>
            <a:off x="5486400" y="1700784"/>
            <a:ext cx="45720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ADD</a:t>
            </a:r>
            <a:endParaRPr lang="en-US" sz="1050" dirty="0"/>
          </a:p>
        </p:txBody>
      </p:sp>
      <p:sp>
        <p:nvSpPr>
          <p:cNvPr id="29" name="Shape 27"/>
          <p:cNvSpPr/>
          <p:nvPr/>
        </p:nvSpPr>
        <p:spPr>
          <a:xfrm>
            <a:off x="6035040" y="1700784"/>
            <a:ext cx="457200" cy="292608"/>
          </a:xfrm>
          <a:prstGeom prst="roundRect">
            <a:avLst>
              <a:gd name="adj" fmla="val 25000"/>
            </a:avLst>
          </a:prstGeom>
          <a:solidFill>
            <a:srgbClr val="F6E7DB"/>
          </a:solidFill>
          <a:ln w="12700">
            <a:solidFill>
              <a:srgbClr val="F6E7DB"/>
            </a:solidFill>
            <a:prstDash val="solid"/>
          </a:ln>
        </p:spPr>
      </p:sp>
      <p:sp>
        <p:nvSpPr>
          <p:cNvPr id="30" name="Text 28"/>
          <p:cNvSpPr txBox="1"/>
          <p:nvPr/>
        </p:nvSpPr>
        <p:spPr>
          <a:xfrm>
            <a:off x="6035040" y="1700784"/>
            <a:ext cx="45720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SUB</a:t>
            </a:r>
            <a:endParaRPr lang="en-US" sz="1050" dirty="0"/>
          </a:p>
        </p:txBody>
      </p:sp>
      <p:sp>
        <p:nvSpPr>
          <p:cNvPr id="31" name="Shape 29"/>
          <p:cNvSpPr/>
          <p:nvPr/>
        </p:nvSpPr>
        <p:spPr>
          <a:xfrm>
            <a:off x="6583680" y="1700784"/>
            <a:ext cx="457200" cy="292608"/>
          </a:xfrm>
          <a:prstGeom prst="roundRect">
            <a:avLst>
              <a:gd name="adj" fmla="val 25000"/>
            </a:avLst>
          </a:prstGeom>
          <a:solidFill>
            <a:srgbClr val="F6E7DB"/>
          </a:solidFill>
          <a:ln w="12700">
            <a:solidFill>
              <a:srgbClr val="F6E7DB"/>
            </a:solidFill>
            <a:prstDash val="solid"/>
          </a:ln>
        </p:spPr>
      </p:sp>
      <p:sp>
        <p:nvSpPr>
          <p:cNvPr id="32" name="Text 30"/>
          <p:cNvSpPr txBox="1"/>
          <p:nvPr/>
        </p:nvSpPr>
        <p:spPr>
          <a:xfrm>
            <a:off x="6583680" y="1700784"/>
            <a:ext cx="45720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MUL</a:t>
            </a:r>
            <a:endParaRPr lang="en-US" sz="1050" dirty="0"/>
          </a:p>
        </p:txBody>
      </p:sp>
      <p:sp>
        <p:nvSpPr>
          <p:cNvPr id="33" name="Shape 31"/>
          <p:cNvSpPr/>
          <p:nvPr/>
        </p:nvSpPr>
        <p:spPr>
          <a:xfrm>
            <a:off x="7132320" y="1700784"/>
            <a:ext cx="457200" cy="292608"/>
          </a:xfrm>
          <a:prstGeom prst="roundRect">
            <a:avLst>
              <a:gd name="adj" fmla="val 25000"/>
            </a:avLst>
          </a:prstGeom>
          <a:solidFill>
            <a:srgbClr val="F6E7DB"/>
          </a:solidFill>
          <a:ln w="12700">
            <a:solidFill>
              <a:srgbClr val="F6E7DB"/>
            </a:solidFill>
            <a:prstDash val="solid"/>
          </a:ln>
        </p:spPr>
      </p:sp>
      <p:sp>
        <p:nvSpPr>
          <p:cNvPr id="34" name="Text 32"/>
          <p:cNvSpPr txBox="1"/>
          <p:nvPr/>
        </p:nvSpPr>
        <p:spPr>
          <a:xfrm>
            <a:off x="7132320" y="1700784"/>
            <a:ext cx="45720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DIV</a:t>
            </a:r>
            <a:endParaRPr lang="en-US" sz="1050" dirty="0"/>
          </a:p>
        </p:txBody>
      </p:sp>
      <p:sp>
        <p:nvSpPr>
          <p:cNvPr id="35" name="Text 33"/>
          <p:cNvSpPr txBox="1"/>
          <p:nvPr/>
        </p:nvSpPr>
        <p:spPr>
          <a:xfrm>
            <a:off x="4389120" y="2139696"/>
            <a:ext cx="1097280" cy="365760"/>
          </a:xfrm>
          <a:prstGeom prst="rect">
            <a:avLst/>
          </a:prstGeom>
          <a:noFill/>
          <a:ln/>
        </p:spPr>
        <p:txBody>
          <a:bodyPr wrap="square" lIns="0" tIns="0" rIns="0" bIns="0" rtlCol="0" anchor="ctr"/>
          <a:lstStyle/>
          <a:p>
            <a:pPr indent="0" marL="0">
              <a:buNone/>
            </a:pPr>
            <a:r>
              <a:rPr lang="en-US" sz="1200" b="1" dirty="0">
                <a:solidFill>
                  <a:srgbClr val="548687"/>
                </a:solidFill>
                <a:latin typeface="Calibri" pitchFamily="34" charset="0"/>
                <a:ea typeface="Calibri" pitchFamily="34" charset="-122"/>
                <a:cs typeface="Calibri" pitchFamily="34" charset="-120"/>
              </a:rPr>
              <a:t>Locals</a:t>
            </a:r>
            <a:endParaRPr lang="en-US" sz="1200" dirty="0"/>
          </a:p>
        </p:txBody>
      </p:sp>
      <p:sp>
        <p:nvSpPr>
          <p:cNvPr id="36" name="Shape 34"/>
          <p:cNvSpPr/>
          <p:nvPr/>
        </p:nvSpPr>
        <p:spPr>
          <a:xfrm>
            <a:off x="5486400" y="2176272"/>
            <a:ext cx="548640" cy="292608"/>
          </a:xfrm>
          <a:prstGeom prst="roundRect">
            <a:avLst>
              <a:gd name="adj" fmla="val 25000"/>
            </a:avLst>
          </a:prstGeom>
          <a:solidFill>
            <a:srgbClr val="F6E7DB"/>
          </a:solidFill>
          <a:ln w="12700">
            <a:solidFill>
              <a:srgbClr val="F6E7DB"/>
            </a:solidFill>
            <a:prstDash val="solid"/>
          </a:ln>
        </p:spPr>
      </p:sp>
      <p:sp>
        <p:nvSpPr>
          <p:cNvPr id="37" name="Text 35"/>
          <p:cNvSpPr txBox="1"/>
          <p:nvPr/>
        </p:nvSpPr>
        <p:spPr>
          <a:xfrm>
            <a:off x="5486400" y="2176272"/>
            <a:ext cx="54864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LOAD</a:t>
            </a:r>
            <a:endParaRPr lang="en-US" sz="1050" dirty="0"/>
          </a:p>
        </p:txBody>
      </p:sp>
      <p:sp>
        <p:nvSpPr>
          <p:cNvPr id="38" name="Shape 36"/>
          <p:cNvSpPr/>
          <p:nvPr/>
        </p:nvSpPr>
        <p:spPr>
          <a:xfrm>
            <a:off x="6126480" y="2176272"/>
            <a:ext cx="640080" cy="292608"/>
          </a:xfrm>
          <a:prstGeom prst="roundRect">
            <a:avLst>
              <a:gd name="adj" fmla="val 25000"/>
            </a:avLst>
          </a:prstGeom>
          <a:solidFill>
            <a:srgbClr val="F6E7DB"/>
          </a:solidFill>
          <a:ln w="12700">
            <a:solidFill>
              <a:srgbClr val="F6E7DB"/>
            </a:solidFill>
            <a:prstDash val="solid"/>
          </a:ln>
        </p:spPr>
      </p:sp>
      <p:sp>
        <p:nvSpPr>
          <p:cNvPr id="39" name="Text 37"/>
          <p:cNvSpPr txBox="1"/>
          <p:nvPr/>
        </p:nvSpPr>
        <p:spPr>
          <a:xfrm>
            <a:off x="6126480" y="2176272"/>
            <a:ext cx="64008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STORE</a:t>
            </a:r>
            <a:endParaRPr lang="en-US" sz="1050" dirty="0"/>
          </a:p>
        </p:txBody>
      </p:sp>
      <p:sp>
        <p:nvSpPr>
          <p:cNvPr id="40" name="Text 38"/>
          <p:cNvSpPr txBox="1"/>
          <p:nvPr/>
        </p:nvSpPr>
        <p:spPr>
          <a:xfrm>
            <a:off x="4389120" y="2615184"/>
            <a:ext cx="1097280" cy="365760"/>
          </a:xfrm>
          <a:prstGeom prst="rect">
            <a:avLst/>
          </a:prstGeom>
          <a:noFill/>
          <a:ln/>
        </p:spPr>
        <p:txBody>
          <a:bodyPr wrap="square" lIns="0" tIns="0" rIns="0" bIns="0" rtlCol="0" anchor="ctr"/>
          <a:lstStyle/>
          <a:p>
            <a:pPr indent="0" marL="0">
              <a:buNone/>
            </a:pPr>
            <a:r>
              <a:rPr lang="en-US" sz="1200" b="1" dirty="0">
                <a:solidFill>
                  <a:srgbClr val="548687"/>
                </a:solidFill>
                <a:latin typeface="Calibri" pitchFamily="34" charset="0"/>
                <a:ea typeface="Calibri" pitchFamily="34" charset="-122"/>
                <a:cs typeface="Calibri" pitchFamily="34" charset="-120"/>
              </a:rPr>
              <a:t>Control</a:t>
            </a:r>
            <a:endParaRPr lang="en-US" sz="1200" dirty="0"/>
          </a:p>
        </p:txBody>
      </p:sp>
      <p:sp>
        <p:nvSpPr>
          <p:cNvPr id="41" name="Shape 39"/>
          <p:cNvSpPr/>
          <p:nvPr/>
        </p:nvSpPr>
        <p:spPr>
          <a:xfrm>
            <a:off x="5486400" y="2651760"/>
            <a:ext cx="457200" cy="292608"/>
          </a:xfrm>
          <a:prstGeom prst="roundRect">
            <a:avLst>
              <a:gd name="adj" fmla="val 25000"/>
            </a:avLst>
          </a:prstGeom>
          <a:solidFill>
            <a:srgbClr val="F6E7DB"/>
          </a:solidFill>
          <a:ln w="12700">
            <a:solidFill>
              <a:srgbClr val="F6E7DB"/>
            </a:solidFill>
            <a:prstDash val="solid"/>
          </a:ln>
        </p:spPr>
      </p:sp>
      <p:sp>
        <p:nvSpPr>
          <p:cNvPr id="42" name="Text 40"/>
          <p:cNvSpPr txBox="1"/>
          <p:nvPr/>
        </p:nvSpPr>
        <p:spPr>
          <a:xfrm>
            <a:off x="5486400" y="2651760"/>
            <a:ext cx="45720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JMP</a:t>
            </a:r>
            <a:endParaRPr lang="en-US" sz="1050" dirty="0"/>
          </a:p>
        </p:txBody>
      </p:sp>
      <p:sp>
        <p:nvSpPr>
          <p:cNvPr id="43" name="Shape 41"/>
          <p:cNvSpPr/>
          <p:nvPr/>
        </p:nvSpPr>
        <p:spPr>
          <a:xfrm>
            <a:off x="6035040" y="2651760"/>
            <a:ext cx="365760" cy="292608"/>
          </a:xfrm>
          <a:prstGeom prst="roundRect">
            <a:avLst>
              <a:gd name="adj" fmla="val 25000"/>
            </a:avLst>
          </a:prstGeom>
          <a:solidFill>
            <a:srgbClr val="F6E7DB"/>
          </a:solidFill>
          <a:ln w="12700">
            <a:solidFill>
              <a:srgbClr val="F6E7DB"/>
            </a:solidFill>
            <a:prstDash val="solid"/>
          </a:ln>
        </p:spPr>
      </p:sp>
      <p:sp>
        <p:nvSpPr>
          <p:cNvPr id="44" name="Text 42"/>
          <p:cNvSpPr txBox="1"/>
          <p:nvPr/>
        </p:nvSpPr>
        <p:spPr>
          <a:xfrm>
            <a:off x="6035040" y="2651760"/>
            <a:ext cx="36576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JZ</a:t>
            </a:r>
            <a:endParaRPr lang="en-US" sz="1050" dirty="0"/>
          </a:p>
        </p:txBody>
      </p:sp>
      <p:sp>
        <p:nvSpPr>
          <p:cNvPr id="45" name="Shape 43"/>
          <p:cNvSpPr/>
          <p:nvPr/>
        </p:nvSpPr>
        <p:spPr>
          <a:xfrm>
            <a:off x="6492240" y="2651760"/>
            <a:ext cx="365760" cy="292608"/>
          </a:xfrm>
          <a:prstGeom prst="roundRect">
            <a:avLst>
              <a:gd name="adj" fmla="val 25000"/>
            </a:avLst>
          </a:prstGeom>
          <a:solidFill>
            <a:srgbClr val="F6E7DB"/>
          </a:solidFill>
          <a:ln w="12700">
            <a:solidFill>
              <a:srgbClr val="F6E7DB"/>
            </a:solidFill>
            <a:prstDash val="solid"/>
          </a:ln>
        </p:spPr>
      </p:sp>
      <p:sp>
        <p:nvSpPr>
          <p:cNvPr id="46" name="Text 44"/>
          <p:cNvSpPr txBox="1"/>
          <p:nvPr/>
        </p:nvSpPr>
        <p:spPr>
          <a:xfrm>
            <a:off x="6492240" y="2651760"/>
            <a:ext cx="36576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LT</a:t>
            </a:r>
            <a:endParaRPr lang="en-US" sz="1050" dirty="0"/>
          </a:p>
        </p:txBody>
      </p:sp>
      <p:sp>
        <p:nvSpPr>
          <p:cNvPr id="47" name="Text 45"/>
          <p:cNvSpPr txBox="1"/>
          <p:nvPr/>
        </p:nvSpPr>
        <p:spPr>
          <a:xfrm>
            <a:off x="4389120" y="3090672"/>
            <a:ext cx="1097280" cy="365760"/>
          </a:xfrm>
          <a:prstGeom prst="rect">
            <a:avLst/>
          </a:prstGeom>
          <a:noFill/>
          <a:ln/>
        </p:spPr>
        <p:txBody>
          <a:bodyPr wrap="square" lIns="0" tIns="0" rIns="0" bIns="0" rtlCol="0" anchor="ctr"/>
          <a:lstStyle/>
          <a:p>
            <a:pPr indent="0" marL="0">
              <a:buNone/>
            </a:pPr>
            <a:r>
              <a:rPr lang="en-US" sz="1200" b="1" dirty="0">
                <a:solidFill>
                  <a:srgbClr val="548687"/>
                </a:solidFill>
                <a:latin typeface="Calibri" pitchFamily="34" charset="0"/>
                <a:ea typeface="Calibri" pitchFamily="34" charset="-122"/>
                <a:cs typeface="Calibri" pitchFamily="34" charset="-120"/>
              </a:rPr>
              <a:t>I/O</a:t>
            </a:r>
            <a:endParaRPr lang="en-US" sz="1200" dirty="0"/>
          </a:p>
        </p:txBody>
      </p:sp>
      <p:sp>
        <p:nvSpPr>
          <p:cNvPr id="48" name="Shape 46"/>
          <p:cNvSpPr/>
          <p:nvPr/>
        </p:nvSpPr>
        <p:spPr>
          <a:xfrm>
            <a:off x="5486400" y="3127248"/>
            <a:ext cx="640080" cy="292608"/>
          </a:xfrm>
          <a:prstGeom prst="roundRect">
            <a:avLst>
              <a:gd name="adj" fmla="val 25000"/>
            </a:avLst>
          </a:prstGeom>
          <a:solidFill>
            <a:srgbClr val="F6E7DB"/>
          </a:solidFill>
          <a:ln w="12700">
            <a:solidFill>
              <a:srgbClr val="F6E7DB"/>
            </a:solidFill>
            <a:prstDash val="solid"/>
          </a:ln>
        </p:spPr>
      </p:sp>
      <p:sp>
        <p:nvSpPr>
          <p:cNvPr id="49" name="Text 47"/>
          <p:cNvSpPr txBox="1"/>
          <p:nvPr/>
        </p:nvSpPr>
        <p:spPr>
          <a:xfrm>
            <a:off x="5486400" y="3127248"/>
            <a:ext cx="64008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PRINT</a:t>
            </a:r>
            <a:endParaRPr lang="en-US" sz="1050" dirty="0"/>
          </a:p>
        </p:txBody>
      </p:sp>
      <p:sp>
        <p:nvSpPr>
          <p:cNvPr id="50" name="Shape 48"/>
          <p:cNvSpPr/>
          <p:nvPr/>
        </p:nvSpPr>
        <p:spPr>
          <a:xfrm>
            <a:off x="6217920" y="3127248"/>
            <a:ext cx="548640" cy="292608"/>
          </a:xfrm>
          <a:prstGeom prst="roundRect">
            <a:avLst>
              <a:gd name="adj" fmla="val 25000"/>
            </a:avLst>
          </a:prstGeom>
          <a:solidFill>
            <a:srgbClr val="F6E7DB"/>
          </a:solidFill>
          <a:ln w="12700">
            <a:solidFill>
              <a:srgbClr val="F6E7DB"/>
            </a:solidFill>
            <a:prstDash val="solid"/>
          </a:ln>
        </p:spPr>
      </p:sp>
      <p:sp>
        <p:nvSpPr>
          <p:cNvPr id="51" name="Text 49"/>
          <p:cNvSpPr txBox="1"/>
          <p:nvPr/>
        </p:nvSpPr>
        <p:spPr>
          <a:xfrm>
            <a:off x="6217920" y="3127248"/>
            <a:ext cx="54864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HALT</a:t>
            </a:r>
            <a:endParaRPr lang="en-US" sz="1050" dirty="0"/>
          </a:p>
        </p:txBody>
      </p:sp>
      <p:sp>
        <p:nvSpPr>
          <p:cNvPr id="52" name="Text 50"/>
          <p:cNvSpPr txBox="1"/>
          <p:nvPr/>
        </p:nvSpPr>
        <p:spPr>
          <a:xfrm>
            <a:off x="4389120" y="3566160"/>
            <a:ext cx="1097280" cy="365760"/>
          </a:xfrm>
          <a:prstGeom prst="rect">
            <a:avLst/>
          </a:prstGeom>
          <a:noFill/>
          <a:ln/>
        </p:spPr>
        <p:txBody>
          <a:bodyPr wrap="square" lIns="0" tIns="0" rIns="0" bIns="0" rtlCol="0" anchor="ctr"/>
          <a:lstStyle/>
          <a:p>
            <a:pPr indent="0" marL="0">
              <a:buNone/>
            </a:pPr>
            <a:r>
              <a:rPr lang="en-US" sz="1200" b="1" dirty="0">
                <a:solidFill>
                  <a:srgbClr val="548687"/>
                </a:solidFill>
                <a:latin typeface="Calibri" pitchFamily="34" charset="0"/>
                <a:ea typeface="Calibri" pitchFamily="34" charset="-122"/>
                <a:cs typeface="Calibri" pitchFamily="34" charset="-120"/>
              </a:rPr>
              <a:t>Objects</a:t>
            </a:r>
            <a:endParaRPr lang="en-US" sz="1200" dirty="0"/>
          </a:p>
        </p:txBody>
      </p:sp>
      <p:sp>
        <p:nvSpPr>
          <p:cNvPr id="53" name="Shape 51"/>
          <p:cNvSpPr/>
          <p:nvPr/>
        </p:nvSpPr>
        <p:spPr>
          <a:xfrm>
            <a:off x="5486400" y="3602736"/>
            <a:ext cx="822960" cy="292608"/>
          </a:xfrm>
          <a:prstGeom prst="roundRect">
            <a:avLst>
              <a:gd name="adj" fmla="val 25000"/>
            </a:avLst>
          </a:prstGeom>
          <a:solidFill>
            <a:srgbClr val="E1B07E"/>
          </a:solidFill>
          <a:ln w="12700">
            <a:solidFill>
              <a:srgbClr val="E1B07E"/>
            </a:solidFill>
            <a:prstDash val="solid"/>
          </a:ln>
        </p:spPr>
      </p:sp>
      <p:sp>
        <p:nvSpPr>
          <p:cNvPr id="54" name="Text 52"/>
          <p:cNvSpPr txBox="1"/>
          <p:nvPr/>
        </p:nvSpPr>
        <p:spPr>
          <a:xfrm>
            <a:off x="5486400" y="3602736"/>
            <a:ext cx="82296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LOADOBJ</a:t>
            </a:r>
            <a:endParaRPr lang="en-US" sz="1050" dirty="0"/>
          </a:p>
        </p:txBody>
      </p:sp>
      <p:sp>
        <p:nvSpPr>
          <p:cNvPr id="55" name="Shape 53"/>
          <p:cNvSpPr/>
          <p:nvPr/>
        </p:nvSpPr>
        <p:spPr>
          <a:xfrm>
            <a:off x="6400800" y="3602736"/>
            <a:ext cx="914400" cy="292608"/>
          </a:xfrm>
          <a:prstGeom prst="roundRect">
            <a:avLst>
              <a:gd name="adj" fmla="val 25000"/>
            </a:avLst>
          </a:prstGeom>
          <a:solidFill>
            <a:srgbClr val="E1B07E"/>
          </a:solidFill>
          <a:ln w="12700">
            <a:solidFill>
              <a:srgbClr val="E1B07E"/>
            </a:solidFill>
            <a:prstDash val="solid"/>
          </a:ln>
        </p:spPr>
      </p:sp>
      <p:sp>
        <p:nvSpPr>
          <p:cNvPr id="56" name="Text 54"/>
          <p:cNvSpPr txBox="1"/>
          <p:nvPr/>
        </p:nvSpPr>
        <p:spPr>
          <a:xfrm>
            <a:off x="6400800" y="3602736"/>
            <a:ext cx="914400" cy="292608"/>
          </a:xfrm>
          <a:prstGeom prst="rect">
            <a:avLst/>
          </a:prstGeom>
          <a:noFill/>
          <a:ln/>
        </p:spPr>
        <p:txBody>
          <a:bodyPr wrap="square" lIns="0" tIns="0" rIns="0" bIns="0" rtlCol="0" anchor="ctr"/>
          <a:lstStyle/>
          <a:p>
            <a:pPr algn="ctr" indent="0" marL="0">
              <a:buNone/>
            </a:pPr>
            <a:r>
              <a:rPr lang="en-US" sz="1050" b="1" dirty="0">
                <a:solidFill>
                  <a:srgbClr val="513B3C"/>
                </a:solidFill>
                <a:latin typeface="Courier New" pitchFamily="34" charset="0"/>
                <a:ea typeface="Courier New" pitchFamily="34" charset="-122"/>
                <a:cs typeface="Courier New" pitchFamily="34" charset="-120"/>
              </a:rPr>
              <a:t>GETFIELD</a:t>
            </a:r>
            <a:endParaRPr lang="en-US" sz="1050" dirty="0"/>
          </a:p>
        </p:txBody>
      </p:sp>
      <p:sp>
        <p:nvSpPr>
          <p:cNvPr id="57" name="Text 55"/>
          <p:cNvSpPr txBox="1"/>
          <p:nvPr/>
        </p:nvSpPr>
        <p:spPr>
          <a:xfrm>
            <a:off x="4389120" y="4114800"/>
            <a:ext cx="4297680" cy="457200"/>
          </a:xfrm>
          <a:prstGeom prst="rect">
            <a:avLst/>
          </a:prstGeom>
          <a:noFill/>
          <a:ln/>
        </p:spPr>
        <p:txBody>
          <a:bodyPr wrap="square" lIns="0" tIns="0" rIns="0" bIns="0" rtlCol="0" anchor="t"/>
          <a:lstStyle/>
          <a:p>
            <a:pPr indent="0" marL="0">
              <a:buNone/>
            </a:pPr>
            <a:r>
              <a:rPr lang="en-US" sz="1100" i="1" dirty="0">
                <a:solidFill>
                  <a:srgbClr val="7D6A6B"/>
                </a:solidFill>
                <a:latin typeface="Calibri" pitchFamily="34" charset="0"/>
                <a:ea typeface="Calibri" pitchFamily="34" charset="-122"/>
                <a:cs typeface="Calibri" pitchFamily="34" charset="-120"/>
              </a:rPr>
              <a:t>13 core opcodes from Review 1, plus LOADOBJ / GETFIELD for property access (used by the inline cache).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6</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Baseline interpreter: correctness first</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1 · CHARITH</a:t>
            </a:r>
            <a:endParaRPr lang="en-US" sz="1000" dirty="0"/>
          </a:p>
        </p:txBody>
      </p:sp>
      <p:sp>
        <p:nvSpPr>
          <p:cNvPr id="6" name="Text 4"/>
          <p:cNvSpPr txBox="1"/>
          <p:nvPr/>
        </p:nvSpPr>
        <p:spPr>
          <a:xfrm>
            <a:off x="457200" y="1371600"/>
            <a:ext cx="2743200" cy="1005840"/>
          </a:xfrm>
          <a:prstGeom prst="rect">
            <a:avLst/>
          </a:prstGeom>
          <a:noFill/>
          <a:ln/>
        </p:spPr>
        <p:txBody>
          <a:bodyPr wrap="square" lIns="0" tIns="0" rIns="0" bIns="0" rtlCol="0" anchor="ctr"/>
          <a:lstStyle/>
          <a:p>
            <a:pPr indent="0" marL="0">
              <a:buNone/>
            </a:pPr>
            <a:r>
              <a:rPr lang="en-US" sz="6000" b="1" dirty="0">
                <a:solidFill>
                  <a:srgbClr val="548687"/>
                </a:solidFill>
                <a:latin typeface="Cambria" pitchFamily="34" charset="0"/>
                <a:ea typeface="Cambria" pitchFamily="34" charset="-122"/>
                <a:cs typeface="Cambria" pitchFamily="34" charset="-120"/>
              </a:rPr>
              <a:t>12 / 12</a:t>
            </a:r>
            <a:endParaRPr lang="en-US" sz="6000" dirty="0"/>
          </a:p>
        </p:txBody>
      </p:sp>
      <p:sp>
        <p:nvSpPr>
          <p:cNvPr id="7" name="Text 5"/>
          <p:cNvSpPr txBox="1"/>
          <p:nvPr/>
        </p:nvSpPr>
        <p:spPr>
          <a:xfrm>
            <a:off x="457200" y="2377440"/>
            <a:ext cx="2743200" cy="32004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baseline test cases passing</a:t>
            </a:r>
            <a:endParaRPr lang="en-US" sz="1400" dirty="0"/>
          </a:p>
        </p:txBody>
      </p:sp>
      <p:sp>
        <p:nvSpPr>
          <p:cNvPr id="8" name="Text 6"/>
          <p:cNvSpPr txBox="1"/>
          <p:nvPr/>
        </p:nvSpPr>
        <p:spPr>
          <a:xfrm>
            <a:off x="457200" y="2880360"/>
            <a:ext cx="2651760" cy="1005840"/>
          </a:xfrm>
          <a:prstGeom prst="rect">
            <a:avLst/>
          </a:prstGeom>
          <a:noFill/>
          <a:ln/>
        </p:spPr>
        <p:txBody>
          <a:bodyPr wrap="square" lIns="0" tIns="0" rIns="0" bIns="0" rtlCol="0" anchor="t"/>
          <a:lstStyle/>
          <a:p>
            <a:pPr indent="0" marL="0">
              <a:buNone/>
            </a:pPr>
            <a:r>
              <a:rPr lang="en-US" sz="1200" dirty="0">
                <a:solidFill>
                  <a:srgbClr val="7D6A6B"/>
                </a:solidFill>
                <a:latin typeface="Calibri" pitchFamily="34" charset="0"/>
                <a:ea typeface="Calibri" pitchFamily="34" charset="-122"/>
                <a:cs typeface="Calibri" pitchFamily="34" charset="-120"/>
              </a:rPr>
              <a:t>The baseline interpreter is our correctness oracle: every cached or compiled result is diffed against it.</a:t>
            </a:r>
            <a:endParaRPr lang="en-US" sz="1200" dirty="0"/>
          </a:p>
        </p:txBody>
      </p:sp>
      <p:sp>
        <p:nvSpPr>
          <p:cNvPr id="9" name="Shape 7"/>
          <p:cNvSpPr/>
          <p:nvPr/>
        </p:nvSpPr>
        <p:spPr>
          <a:xfrm>
            <a:off x="3474720" y="1234440"/>
            <a:ext cx="1645920" cy="640080"/>
          </a:xfrm>
          <a:prstGeom prst="roundRect">
            <a:avLst>
              <a:gd name="adj" fmla="val 11429"/>
            </a:avLst>
          </a:prstGeom>
          <a:solidFill>
            <a:srgbClr val="E6F8FF"/>
          </a:solidFill>
          <a:ln w="12700">
            <a:solidFill>
              <a:srgbClr val="E6F8FF"/>
            </a:solidFill>
            <a:prstDash val="solid"/>
          </a:ln>
        </p:spPr>
      </p:sp>
      <p:sp>
        <p:nvSpPr>
          <p:cNvPr id="10" name="Text 8"/>
          <p:cNvSpPr txBox="1"/>
          <p:nvPr/>
        </p:nvSpPr>
        <p:spPr>
          <a:xfrm>
            <a:off x="3584448" y="130759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TC1</a:t>
            </a:r>
            <a:endParaRPr lang="en-US" sz="1100" dirty="0"/>
          </a:p>
        </p:txBody>
      </p:sp>
      <p:sp>
        <p:nvSpPr>
          <p:cNvPr id="11" name="Text 9"/>
          <p:cNvSpPr txBox="1"/>
          <p:nvPr/>
        </p:nvSpPr>
        <p:spPr>
          <a:xfrm>
            <a:off x="4709160" y="128930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12" name="Text 10"/>
          <p:cNvSpPr txBox="1"/>
          <p:nvPr/>
        </p:nvSpPr>
        <p:spPr>
          <a:xfrm>
            <a:off x="3584448" y="156362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10 + 20 = 30</a:t>
            </a:r>
            <a:endParaRPr lang="en-US" sz="1050" dirty="0"/>
          </a:p>
        </p:txBody>
      </p:sp>
      <p:sp>
        <p:nvSpPr>
          <p:cNvPr id="13" name="Shape 11"/>
          <p:cNvSpPr/>
          <p:nvPr/>
        </p:nvSpPr>
        <p:spPr>
          <a:xfrm>
            <a:off x="5230368" y="1234440"/>
            <a:ext cx="1645920" cy="640080"/>
          </a:xfrm>
          <a:prstGeom prst="roundRect">
            <a:avLst>
              <a:gd name="adj" fmla="val 11429"/>
            </a:avLst>
          </a:prstGeom>
          <a:solidFill>
            <a:srgbClr val="E6F8FF"/>
          </a:solidFill>
          <a:ln w="12700">
            <a:solidFill>
              <a:srgbClr val="E6F8FF"/>
            </a:solidFill>
            <a:prstDash val="solid"/>
          </a:ln>
        </p:spPr>
      </p:sp>
      <p:sp>
        <p:nvSpPr>
          <p:cNvPr id="14" name="Text 12"/>
          <p:cNvSpPr txBox="1"/>
          <p:nvPr/>
        </p:nvSpPr>
        <p:spPr>
          <a:xfrm>
            <a:off x="5340096" y="130759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TC2</a:t>
            </a:r>
            <a:endParaRPr lang="en-US" sz="1100" dirty="0"/>
          </a:p>
        </p:txBody>
      </p:sp>
      <p:sp>
        <p:nvSpPr>
          <p:cNvPr id="15" name="Text 13"/>
          <p:cNvSpPr txBox="1"/>
          <p:nvPr/>
        </p:nvSpPr>
        <p:spPr>
          <a:xfrm>
            <a:off x="6464808" y="128930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16" name="Text 14"/>
          <p:cNvSpPr txBox="1"/>
          <p:nvPr/>
        </p:nvSpPr>
        <p:spPr>
          <a:xfrm>
            <a:off x="5340096" y="156362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20 − 5 = 15</a:t>
            </a:r>
            <a:endParaRPr lang="en-US" sz="1050" dirty="0"/>
          </a:p>
        </p:txBody>
      </p:sp>
      <p:sp>
        <p:nvSpPr>
          <p:cNvPr id="17" name="Shape 15"/>
          <p:cNvSpPr/>
          <p:nvPr/>
        </p:nvSpPr>
        <p:spPr>
          <a:xfrm>
            <a:off x="6986016" y="1234440"/>
            <a:ext cx="1645920" cy="640080"/>
          </a:xfrm>
          <a:prstGeom prst="roundRect">
            <a:avLst>
              <a:gd name="adj" fmla="val 11429"/>
            </a:avLst>
          </a:prstGeom>
          <a:solidFill>
            <a:srgbClr val="E6F8FF"/>
          </a:solidFill>
          <a:ln w="12700">
            <a:solidFill>
              <a:srgbClr val="E6F8FF"/>
            </a:solidFill>
            <a:prstDash val="solid"/>
          </a:ln>
        </p:spPr>
      </p:sp>
      <p:sp>
        <p:nvSpPr>
          <p:cNvPr id="18" name="Text 16"/>
          <p:cNvSpPr txBox="1"/>
          <p:nvPr/>
        </p:nvSpPr>
        <p:spPr>
          <a:xfrm>
            <a:off x="7095744" y="130759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TC3</a:t>
            </a:r>
            <a:endParaRPr lang="en-US" sz="1100" dirty="0"/>
          </a:p>
        </p:txBody>
      </p:sp>
      <p:sp>
        <p:nvSpPr>
          <p:cNvPr id="19" name="Text 17"/>
          <p:cNvSpPr txBox="1"/>
          <p:nvPr/>
        </p:nvSpPr>
        <p:spPr>
          <a:xfrm>
            <a:off x="8220456" y="128930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20" name="Text 18"/>
          <p:cNvSpPr txBox="1"/>
          <p:nvPr/>
        </p:nvSpPr>
        <p:spPr>
          <a:xfrm>
            <a:off x="7095744" y="156362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10 × 5 = 50</a:t>
            </a:r>
            <a:endParaRPr lang="en-US" sz="1050" dirty="0"/>
          </a:p>
        </p:txBody>
      </p:sp>
      <p:sp>
        <p:nvSpPr>
          <p:cNvPr id="21" name="Shape 19"/>
          <p:cNvSpPr/>
          <p:nvPr/>
        </p:nvSpPr>
        <p:spPr>
          <a:xfrm>
            <a:off x="3474720" y="2011680"/>
            <a:ext cx="1645920" cy="640080"/>
          </a:xfrm>
          <a:prstGeom prst="roundRect">
            <a:avLst>
              <a:gd name="adj" fmla="val 11429"/>
            </a:avLst>
          </a:prstGeom>
          <a:solidFill>
            <a:srgbClr val="E6F8FF"/>
          </a:solidFill>
          <a:ln w="12700">
            <a:solidFill>
              <a:srgbClr val="E6F8FF"/>
            </a:solidFill>
            <a:prstDash val="solid"/>
          </a:ln>
        </p:spPr>
      </p:sp>
      <p:sp>
        <p:nvSpPr>
          <p:cNvPr id="22" name="Text 20"/>
          <p:cNvSpPr txBox="1"/>
          <p:nvPr/>
        </p:nvSpPr>
        <p:spPr>
          <a:xfrm>
            <a:off x="3584448" y="208483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TC4</a:t>
            </a:r>
            <a:endParaRPr lang="en-US" sz="1100" dirty="0"/>
          </a:p>
        </p:txBody>
      </p:sp>
      <p:sp>
        <p:nvSpPr>
          <p:cNvPr id="23" name="Text 21"/>
          <p:cNvSpPr txBox="1"/>
          <p:nvPr/>
        </p:nvSpPr>
        <p:spPr>
          <a:xfrm>
            <a:off x="4709160" y="206654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24" name="Text 22"/>
          <p:cNvSpPr txBox="1"/>
          <p:nvPr/>
        </p:nvSpPr>
        <p:spPr>
          <a:xfrm>
            <a:off x="3584448" y="234086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20 ÷ 4 = 5</a:t>
            </a:r>
            <a:endParaRPr lang="en-US" sz="1050" dirty="0"/>
          </a:p>
        </p:txBody>
      </p:sp>
      <p:sp>
        <p:nvSpPr>
          <p:cNvPr id="25" name="Shape 23"/>
          <p:cNvSpPr/>
          <p:nvPr/>
        </p:nvSpPr>
        <p:spPr>
          <a:xfrm>
            <a:off x="5230368" y="2011680"/>
            <a:ext cx="1645920" cy="640080"/>
          </a:xfrm>
          <a:prstGeom prst="roundRect">
            <a:avLst>
              <a:gd name="adj" fmla="val 11429"/>
            </a:avLst>
          </a:prstGeom>
          <a:solidFill>
            <a:srgbClr val="E6F8FF"/>
          </a:solidFill>
          <a:ln w="12700">
            <a:solidFill>
              <a:srgbClr val="E6F8FF"/>
            </a:solidFill>
            <a:prstDash val="solid"/>
          </a:ln>
        </p:spPr>
      </p:sp>
      <p:sp>
        <p:nvSpPr>
          <p:cNvPr id="26" name="Text 24"/>
          <p:cNvSpPr txBox="1"/>
          <p:nvPr/>
        </p:nvSpPr>
        <p:spPr>
          <a:xfrm>
            <a:off x="5340096" y="208483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TC5</a:t>
            </a:r>
            <a:endParaRPr lang="en-US" sz="1100" dirty="0"/>
          </a:p>
        </p:txBody>
      </p:sp>
      <p:sp>
        <p:nvSpPr>
          <p:cNvPr id="27" name="Text 25"/>
          <p:cNvSpPr txBox="1"/>
          <p:nvPr/>
        </p:nvSpPr>
        <p:spPr>
          <a:xfrm>
            <a:off x="6464808" y="206654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28" name="Text 26"/>
          <p:cNvSpPr txBox="1"/>
          <p:nvPr/>
        </p:nvSpPr>
        <p:spPr>
          <a:xfrm>
            <a:off x="5340096" y="234086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(10+20) × 5 = 150</a:t>
            </a:r>
            <a:endParaRPr lang="en-US" sz="1050" dirty="0"/>
          </a:p>
        </p:txBody>
      </p:sp>
      <p:sp>
        <p:nvSpPr>
          <p:cNvPr id="29" name="Shape 27"/>
          <p:cNvSpPr/>
          <p:nvPr/>
        </p:nvSpPr>
        <p:spPr>
          <a:xfrm>
            <a:off x="6986016" y="2011680"/>
            <a:ext cx="1645920" cy="640080"/>
          </a:xfrm>
          <a:prstGeom prst="roundRect">
            <a:avLst>
              <a:gd name="adj" fmla="val 11429"/>
            </a:avLst>
          </a:prstGeom>
          <a:solidFill>
            <a:srgbClr val="E6F8FF"/>
          </a:solidFill>
          <a:ln w="12700">
            <a:solidFill>
              <a:srgbClr val="E6F8FF"/>
            </a:solidFill>
            <a:prstDash val="solid"/>
          </a:ln>
        </p:spPr>
      </p:sp>
      <p:sp>
        <p:nvSpPr>
          <p:cNvPr id="30" name="Text 28"/>
          <p:cNvSpPr txBox="1"/>
          <p:nvPr/>
        </p:nvSpPr>
        <p:spPr>
          <a:xfrm>
            <a:off x="7095744" y="208483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TC6</a:t>
            </a:r>
            <a:endParaRPr lang="en-US" sz="1100" dirty="0"/>
          </a:p>
        </p:txBody>
      </p:sp>
      <p:sp>
        <p:nvSpPr>
          <p:cNvPr id="31" name="Text 29"/>
          <p:cNvSpPr txBox="1"/>
          <p:nvPr/>
        </p:nvSpPr>
        <p:spPr>
          <a:xfrm>
            <a:off x="8220456" y="206654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32" name="Text 30"/>
          <p:cNvSpPr txBox="1"/>
          <p:nvPr/>
        </p:nvSpPr>
        <p:spPr>
          <a:xfrm>
            <a:off x="7095744" y="234086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 0 raises error</a:t>
            </a:r>
            <a:endParaRPr lang="en-US" sz="1050" dirty="0"/>
          </a:p>
        </p:txBody>
      </p:sp>
      <p:sp>
        <p:nvSpPr>
          <p:cNvPr id="33" name="Shape 31"/>
          <p:cNvSpPr/>
          <p:nvPr/>
        </p:nvSpPr>
        <p:spPr>
          <a:xfrm>
            <a:off x="3474720" y="2788920"/>
            <a:ext cx="1645920" cy="640080"/>
          </a:xfrm>
          <a:prstGeom prst="roundRect">
            <a:avLst>
              <a:gd name="adj" fmla="val 11429"/>
            </a:avLst>
          </a:prstGeom>
          <a:solidFill>
            <a:srgbClr val="C1EEFF"/>
          </a:solidFill>
          <a:ln w="12700">
            <a:solidFill>
              <a:srgbClr val="C1EEFF"/>
            </a:solidFill>
            <a:prstDash val="solid"/>
          </a:ln>
        </p:spPr>
      </p:sp>
      <p:sp>
        <p:nvSpPr>
          <p:cNvPr id="34" name="Text 32"/>
          <p:cNvSpPr txBox="1"/>
          <p:nvPr/>
        </p:nvSpPr>
        <p:spPr>
          <a:xfrm>
            <a:off x="3584448" y="286207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TC7</a:t>
            </a:r>
            <a:endParaRPr lang="en-US" sz="1100" dirty="0"/>
          </a:p>
        </p:txBody>
      </p:sp>
      <p:sp>
        <p:nvSpPr>
          <p:cNvPr id="35" name="Text 33"/>
          <p:cNvSpPr txBox="1"/>
          <p:nvPr/>
        </p:nvSpPr>
        <p:spPr>
          <a:xfrm>
            <a:off x="4709160" y="284378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36" name="Text 34"/>
          <p:cNvSpPr txBox="1"/>
          <p:nvPr/>
        </p:nvSpPr>
        <p:spPr>
          <a:xfrm>
            <a:off x="3584448" y="311810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LOAD/STORE ×4 slots</a:t>
            </a:r>
            <a:endParaRPr lang="en-US" sz="1050" dirty="0"/>
          </a:p>
        </p:txBody>
      </p:sp>
      <p:sp>
        <p:nvSpPr>
          <p:cNvPr id="37" name="Shape 35"/>
          <p:cNvSpPr/>
          <p:nvPr/>
        </p:nvSpPr>
        <p:spPr>
          <a:xfrm>
            <a:off x="5230368" y="2788920"/>
            <a:ext cx="1645920" cy="640080"/>
          </a:xfrm>
          <a:prstGeom prst="roundRect">
            <a:avLst>
              <a:gd name="adj" fmla="val 11429"/>
            </a:avLst>
          </a:prstGeom>
          <a:solidFill>
            <a:srgbClr val="C1EEFF"/>
          </a:solidFill>
          <a:ln w="12700">
            <a:solidFill>
              <a:srgbClr val="C1EEFF"/>
            </a:solidFill>
            <a:prstDash val="solid"/>
          </a:ln>
        </p:spPr>
      </p:sp>
      <p:sp>
        <p:nvSpPr>
          <p:cNvPr id="38" name="Text 36"/>
          <p:cNvSpPr txBox="1"/>
          <p:nvPr/>
        </p:nvSpPr>
        <p:spPr>
          <a:xfrm>
            <a:off x="5340096" y="286207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TC8</a:t>
            </a:r>
            <a:endParaRPr lang="en-US" sz="1100" dirty="0"/>
          </a:p>
        </p:txBody>
      </p:sp>
      <p:sp>
        <p:nvSpPr>
          <p:cNvPr id="39" name="Text 37"/>
          <p:cNvSpPr txBox="1"/>
          <p:nvPr/>
        </p:nvSpPr>
        <p:spPr>
          <a:xfrm>
            <a:off x="6464808" y="284378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40" name="Text 38"/>
          <p:cNvSpPr txBox="1"/>
          <p:nvPr/>
        </p:nvSpPr>
        <p:spPr>
          <a:xfrm>
            <a:off x="5340096" y="311810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JMP skips PRINT</a:t>
            </a:r>
            <a:endParaRPr lang="en-US" sz="1050" dirty="0"/>
          </a:p>
        </p:txBody>
      </p:sp>
      <p:sp>
        <p:nvSpPr>
          <p:cNvPr id="41" name="Shape 39"/>
          <p:cNvSpPr/>
          <p:nvPr/>
        </p:nvSpPr>
        <p:spPr>
          <a:xfrm>
            <a:off x="6986016" y="2788920"/>
            <a:ext cx="1645920" cy="640080"/>
          </a:xfrm>
          <a:prstGeom prst="roundRect">
            <a:avLst>
              <a:gd name="adj" fmla="val 11429"/>
            </a:avLst>
          </a:prstGeom>
          <a:solidFill>
            <a:srgbClr val="C1EEFF"/>
          </a:solidFill>
          <a:ln w="12700">
            <a:solidFill>
              <a:srgbClr val="C1EEFF"/>
            </a:solidFill>
            <a:prstDash val="solid"/>
          </a:ln>
        </p:spPr>
      </p:sp>
      <p:sp>
        <p:nvSpPr>
          <p:cNvPr id="42" name="Text 40"/>
          <p:cNvSpPr txBox="1"/>
          <p:nvPr/>
        </p:nvSpPr>
        <p:spPr>
          <a:xfrm>
            <a:off x="7095744" y="286207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TC9</a:t>
            </a:r>
            <a:endParaRPr lang="en-US" sz="1100" dirty="0"/>
          </a:p>
        </p:txBody>
      </p:sp>
      <p:sp>
        <p:nvSpPr>
          <p:cNvPr id="43" name="Text 41"/>
          <p:cNvSpPr txBox="1"/>
          <p:nvPr/>
        </p:nvSpPr>
        <p:spPr>
          <a:xfrm>
            <a:off x="8220456" y="284378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44" name="Text 42"/>
          <p:cNvSpPr txBox="1"/>
          <p:nvPr/>
        </p:nvSpPr>
        <p:spPr>
          <a:xfrm>
            <a:off x="7095744" y="311810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JZ taken / not taken</a:t>
            </a:r>
            <a:endParaRPr lang="en-US" sz="1050" dirty="0"/>
          </a:p>
        </p:txBody>
      </p:sp>
      <p:sp>
        <p:nvSpPr>
          <p:cNvPr id="45" name="Shape 43"/>
          <p:cNvSpPr/>
          <p:nvPr/>
        </p:nvSpPr>
        <p:spPr>
          <a:xfrm>
            <a:off x="3474720" y="3566160"/>
            <a:ext cx="1645920" cy="640080"/>
          </a:xfrm>
          <a:prstGeom prst="roundRect">
            <a:avLst>
              <a:gd name="adj" fmla="val 11429"/>
            </a:avLst>
          </a:prstGeom>
          <a:solidFill>
            <a:srgbClr val="C1EEFF"/>
          </a:solidFill>
          <a:ln w="12700">
            <a:solidFill>
              <a:srgbClr val="C1EEFF"/>
            </a:solidFill>
            <a:prstDash val="solid"/>
          </a:ln>
        </p:spPr>
      </p:sp>
      <p:sp>
        <p:nvSpPr>
          <p:cNvPr id="46" name="Text 44"/>
          <p:cNvSpPr txBox="1"/>
          <p:nvPr/>
        </p:nvSpPr>
        <p:spPr>
          <a:xfrm>
            <a:off x="3584448" y="363931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TC10</a:t>
            </a:r>
            <a:endParaRPr lang="en-US" sz="1100" dirty="0"/>
          </a:p>
        </p:txBody>
      </p:sp>
      <p:sp>
        <p:nvSpPr>
          <p:cNvPr id="47" name="Text 45"/>
          <p:cNvSpPr txBox="1"/>
          <p:nvPr/>
        </p:nvSpPr>
        <p:spPr>
          <a:xfrm>
            <a:off x="4709160" y="362102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48" name="Text 46"/>
          <p:cNvSpPr txBox="1"/>
          <p:nvPr/>
        </p:nvSpPr>
        <p:spPr>
          <a:xfrm>
            <a:off x="3584448" y="389534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LT: &lt;, &gt;, =</a:t>
            </a:r>
            <a:endParaRPr lang="en-US" sz="1050" dirty="0"/>
          </a:p>
        </p:txBody>
      </p:sp>
      <p:sp>
        <p:nvSpPr>
          <p:cNvPr id="49" name="Shape 47"/>
          <p:cNvSpPr/>
          <p:nvPr/>
        </p:nvSpPr>
        <p:spPr>
          <a:xfrm>
            <a:off x="5230368" y="3566160"/>
            <a:ext cx="1645920" cy="640080"/>
          </a:xfrm>
          <a:prstGeom prst="roundRect">
            <a:avLst>
              <a:gd name="adj" fmla="val 11429"/>
            </a:avLst>
          </a:prstGeom>
          <a:solidFill>
            <a:srgbClr val="C1EEFF"/>
          </a:solidFill>
          <a:ln w="12700">
            <a:solidFill>
              <a:srgbClr val="C1EEFF"/>
            </a:solidFill>
            <a:prstDash val="solid"/>
          </a:ln>
        </p:spPr>
      </p:sp>
      <p:sp>
        <p:nvSpPr>
          <p:cNvPr id="50" name="Text 48"/>
          <p:cNvSpPr txBox="1"/>
          <p:nvPr/>
        </p:nvSpPr>
        <p:spPr>
          <a:xfrm>
            <a:off x="5340096" y="363931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TC11</a:t>
            </a:r>
            <a:endParaRPr lang="en-US" sz="1100" dirty="0"/>
          </a:p>
        </p:txBody>
      </p:sp>
      <p:sp>
        <p:nvSpPr>
          <p:cNvPr id="51" name="Text 49"/>
          <p:cNvSpPr txBox="1"/>
          <p:nvPr/>
        </p:nvSpPr>
        <p:spPr>
          <a:xfrm>
            <a:off x="6464808" y="362102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52" name="Text 50"/>
          <p:cNvSpPr txBox="1"/>
          <p:nvPr/>
        </p:nvSpPr>
        <p:spPr>
          <a:xfrm>
            <a:off x="5340096" y="389534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Loop flagged hot</a:t>
            </a:r>
            <a:endParaRPr lang="en-US" sz="1050" dirty="0"/>
          </a:p>
        </p:txBody>
      </p:sp>
      <p:sp>
        <p:nvSpPr>
          <p:cNvPr id="53" name="Shape 51"/>
          <p:cNvSpPr/>
          <p:nvPr/>
        </p:nvSpPr>
        <p:spPr>
          <a:xfrm>
            <a:off x="6986016" y="3566160"/>
            <a:ext cx="1645920" cy="640080"/>
          </a:xfrm>
          <a:prstGeom prst="roundRect">
            <a:avLst>
              <a:gd name="adj" fmla="val 11429"/>
            </a:avLst>
          </a:prstGeom>
          <a:solidFill>
            <a:srgbClr val="C1EEFF"/>
          </a:solidFill>
          <a:ln w="12700">
            <a:solidFill>
              <a:srgbClr val="C1EEFF"/>
            </a:solidFill>
            <a:prstDash val="solid"/>
          </a:ln>
        </p:spPr>
      </p:sp>
      <p:sp>
        <p:nvSpPr>
          <p:cNvPr id="54" name="Text 52"/>
          <p:cNvSpPr txBox="1"/>
          <p:nvPr/>
        </p:nvSpPr>
        <p:spPr>
          <a:xfrm>
            <a:off x="7095744" y="3639312"/>
            <a:ext cx="914400" cy="237744"/>
          </a:xfrm>
          <a:prstGeom prst="rect">
            <a:avLst/>
          </a:prstGeom>
          <a:noFill/>
          <a:ln/>
        </p:spPr>
        <p:txBody>
          <a:bodyPr wrap="square" lIns="0" tIns="0" rIns="0" bIns="0" rtlCol="0" anchor="ctr"/>
          <a:lstStyle/>
          <a:p>
            <a:pPr indent="0" marL="0">
              <a:buNone/>
            </a:pPr>
            <a:r>
              <a:rPr lang="en-US" sz="1100" b="1" dirty="0">
                <a:solidFill>
                  <a:srgbClr val="548687"/>
                </a:solidFill>
                <a:latin typeface="Calibri" pitchFamily="34" charset="0"/>
                <a:ea typeface="Calibri" pitchFamily="34" charset="-122"/>
                <a:cs typeface="Calibri" pitchFamily="34" charset="-120"/>
              </a:rPr>
              <a:t>TC12</a:t>
            </a:r>
            <a:endParaRPr lang="en-US" sz="1100" dirty="0"/>
          </a:p>
        </p:txBody>
      </p:sp>
      <p:sp>
        <p:nvSpPr>
          <p:cNvPr id="55" name="Text 53"/>
          <p:cNvSpPr txBox="1"/>
          <p:nvPr/>
        </p:nvSpPr>
        <p:spPr>
          <a:xfrm>
            <a:off x="8220456" y="3621024"/>
            <a:ext cx="274320" cy="256032"/>
          </a:xfrm>
          <a:prstGeom prst="rect">
            <a:avLst/>
          </a:prstGeom>
          <a:noFill/>
          <a:ln/>
        </p:spPr>
        <p:txBody>
          <a:bodyPr wrap="square" lIns="0" tIns="0" rIns="0" bIns="0" rtlCol="0" anchor="ctr"/>
          <a:lstStyle/>
          <a:p>
            <a:pPr algn="r" indent="0" marL="0">
              <a:buNone/>
            </a:pPr>
            <a:r>
              <a:rPr lang="en-US" sz="1300" b="1" dirty="0">
                <a:solidFill>
                  <a:srgbClr val="548687"/>
                </a:solidFill>
                <a:latin typeface="Calibri" pitchFamily="34" charset="0"/>
                <a:ea typeface="Calibri" pitchFamily="34" charset="-122"/>
                <a:cs typeface="Calibri" pitchFamily="34" charset="-120"/>
              </a:rPr>
              <a:t>✓</a:t>
            </a:r>
            <a:endParaRPr lang="en-US" sz="1300" dirty="0"/>
          </a:p>
        </p:txBody>
      </p:sp>
      <p:sp>
        <p:nvSpPr>
          <p:cNvPr id="56" name="Text 54"/>
          <p:cNvSpPr txBox="1"/>
          <p:nvPr/>
        </p:nvSpPr>
        <p:spPr>
          <a:xfrm>
            <a:off x="7095744" y="3895344"/>
            <a:ext cx="1463040" cy="256032"/>
          </a:xfrm>
          <a:prstGeom prst="rect">
            <a:avLst/>
          </a:prstGeom>
          <a:noFill/>
          <a:ln/>
        </p:spPr>
        <p:txBody>
          <a:bodyPr wrap="square" lIns="0" tIns="0" rIns="0" bIns="0" rtlCol="0" anchor="ctr"/>
          <a:lstStyle/>
          <a:p>
            <a:pPr indent="0" marL="0">
              <a:buNone/>
            </a:pPr>
            <a:r>
              <a:rPr lang="en-US" sz="1050" dirty="0">
                <a:solidFill>
                  <a:srgbClr val="513B3C"/>
                </a:solidFill>
                <a:latin typeface="Calibri" pitchFamily="34" charset="0"/>
                <a:ea typeface="Calibri" pitchFamily="34" charset="-122"/>
                <a:cs typeface="Calibri" pitchFamily="34" charset="-120"/>
              </a:rPr>
              <a:t>1000-deep push/pop</a:t>
            </a:r>
            <a:endParaRPr lang="en-US" sz="1050" dirty="0"/>
          </a:p>
        </p:txBody>
      </p:sp>
      <p:sp>
        <p:nvSpPr>
          <p:cNvPr id="57" name="Text 55"/>
          <p:cNvSpPr txBox="1"/>
          <p:nvPr/>
        </p:nvSpPr>
        <p:spPr>
          <a:xfrm>
            <a:off x="3474720" y="4389120"/>
            <a:ext cx="5212080" cy="274320"/>
          </a:xfrm>
          <a:prstGeom prst="rect">
            <a:avLst/>
          </a:prstGeom>
          <a:noFill/>
          <a:ln/>
        </p:spPr>
        <p:txBody>
          <a:bodyPr wrap="square" lIns="0" tIns="0" rIns="0" bIns="0" rtlCol="0" anchor="ctr"/>
          <a:lstStyle/>
          <a:p>
            <a:pPr indent="0" marL="0">
              <a:buNone/>
            </a:pPr>
            <a:r>
              <a:rPr lang="en-US" sz="1050" i="1" dirty="0">
                <a:solidFill>
                  <a:srgbClr val="7D6A6B"/>
                </a:solidFill>
                <a:latin typeface="Calibri" pitchFamily="34" charset="0"/>
                <a:ea typeface="Calibri" pitchFamily="34" charset="-122"/>
                <a:cs typeface="Calibri" pitchFamily="34" charset="-120"/>
              </a:rPr>
              <a:t>Darker tiles: TC7–TC12, new since Review 1 (control flow, hot-loop detection, stack stress).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513B3C"/>
        </a:solidFill>
      </p:bgPr>
    </p:bg>
    <p:spTree>
      <p:nvGrpSpPr>
        <p:cNvPr id="1" name=""/>
        <p:cNvGrpSpPr/>
        <p:nvPr/>
      </p:nvGrpSpPr>
      <p:grpSpPr>
        <a:xfrm>
          <a:off x="0" y="0"/>
          <a:ext cx="0" cy="0"/>
          <a:chOff x="0" y="0"/>
          <a:chExt cx="0" cy="0"/>
        </a:xfrm>
      </p:grpSpPr>
      <p:sp>
        <p:nvSpPr>
          <p:cNvPr id="2" name="Text 0"/>
          <p:cNvSpPr txBox="1"/>
          <p:nvPr/>
        </p:nvSpPr>
        <p:spPr>
          <a:xfrm>
            <a:off x="548640" y="822960"/>
            <a:ext cx="2286000" cy="1371600"/>
          </a:xfrm>
          <a:prstGeom prst="rect">
            <a:avLst/>
          </a:prstGeom>
          <a:noFill/>
          <a:ln/>
        </p:spPr>
        <p:txBody>
          <a:bodyPr wrap="square" lIns="0" tIns="0" rIns="0" bIns="0" rtlCol="0" anchor="ctr"/>
          <a:lstStyle/>
          <a:p>
            <a:pPr indent="0" marL="0">
              <a:buNone/>
            </a:pPr>
            <a:r>
              <a:rPr lang="en-US" sz="8800" b="1" dirty="0">
                <a:solidFill>
                  <a:srgbClr val="E1B07E"/>
                </a:solidFill>
                <a:latin typeface="Cambria" pitchFamily="34" charset="0"/>
                <a:ea typeface="Cambria" pitchFamily="34" charset="-122"/>
                <a:cs typeface="Cambria" pitchFamily="34" charset="-120"/>
              </a:rPr>
              <a:t>02</a:t>
            </a:r>
            <a:endParaRPr lang="en-US" sz="8800" dirty="0"/>
          </a:p>
        </p:txBody>
      </p:sp>
      <p:sp>
        <p:nvSpPr>
          <p:cNvPr id="3" name="Text 1"/>
          <p:cNvSpPr txBox="1"/>
          <p:nvPr/>
        </p:nvSpPr>
        <p:spPr>
          <a:xfrm>
            <a:off x="548640" y="2240280"/>
            <a:ext cx="45720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Vatsal Sharma</a:t>
            </a:r>
            <a:endParaRPr lang="en-US" sz="2800" dirty="0"/>
          </a:p>
        </p:txBody>
      </p:sp>
      <p:sp>
        <p:nvSpPr>
          <p:cNvPr id="4" name="Text 2"/>
          <p:cNvSpPr txBox="1"/>
          <p:nvPr/>
        </p:nvSpPr>
        <p:spPr>
          <a:xfrm>
            <a:off x="548640" y="2788920"/>
            <a:ext cx="4572000" cy="365760"/>
          </a:xfrm>
          <a:prstGeom prst="rect">
            <a:avLst/>
          </a:prstGeom>
          <a:noFill/>
          <a:ln/>
        </p:spPr>
        <p:txBody>
          <a:bodyPr wrap="square" lIns="0" tIns="0" rIns="0" bIns="0" rtlCol="0" anchor="ctr"/>
          <a:lstStyle/>
          <a:p>
            <a:pPr indent="0" marL="0">
              <a:buNone/>
            </a:pPr>
            <a:r>
              <a:rPr lang="en-US" sz="1600" dirty="0">
                <a:solidFill>
                  <a:srgbClr val="E5BE9E"/>
                </a:solidFill>
                <a:latin typeface="Calibri" pitchFamily="34" charset="0"/>
                <a:ea typeface="Calibri" pitchFamily="34" charset="-122"/>
                <a:cs typeface="Calibri" pitchFamily="34" charset="-120"/>
              </a:rPr>
              <a:t>Profiler &amp; Hot-Code Detection</a:t>
            </a:r>
            <a:endParaRPr lang="en-US" sz="1600" dirty="0"/>
          </a:p>
        </p:txBody>
      </p:sp>
      <p:sp>
        <p:nvSpPr>
          <p:cNvPr id="5" name="Shape 3"/>
          <p:cNvSpPr/>
          <p:nvPr/>
        </p:nvSpPr>
        <p:spPr>
          <a:xfrm>
            <a:off x="5394960" y="1097280"/>
            <a:ext cx="3291840" cy="2926080"/>
          </a:xfrm>
          <a:prstGeom prst="roundRect">
            <a:avLst>
              <a:gd name="adj" fmla="val 2500"/>
            </a:avLst>
          </a:prstGeom>
          <a:solidFill>
            <a:srgbClr val="5E4748"/>
          </a:solidFill>
          <a:ln w="12700">
            <a:solidFill>
              <a:srgbClr val="5E4748"/>
            </a:solidFill>
            <a:prstDash val="solid"/>
          </a:ln>
        </p:spPr>
      </p:sp>
      <p:sp>
        <p:nvSpPr>
          <p:cNvPr id="6" name="Text 4"/>
          <p:cNvSpPr txBox="1"/>
          <p:nvPr/>
        </p:nvSpPr>
        <p:spPr>
          <a:xfrm>
            <a:off x="5669280" y="1325880"/>
            <a:ext cx="2743200" cy="274320"/>
          </a:xfrm>
          <a:prstGeom prst="rect">
            <a:avLst/>
          </a:prstGeom>
          <a:noFill/>
          <a:ln/>
        </p:spPr>
        <p:txBody>
          <a:bodyPr wrap="square" lIns="0" tIns="0" rIns="0" bIns="0" rtlCol="0" anchor="ctr"/>
          <a:lstStyle/>
          <a:p>
            <a:pPr indent="0" marL="0">
              <a:buNone/>
            </a:pPr>
            <a:r>
              <a:rPr lang="en-US" sz="1100" b="1" spc="200" kern="0" dirty="0">
                <a:solidFill>
                  <a:srgbClr val="E1B07E"/>
                </a:solidFill>
                <a:latin typeface="Calibri" pitchFamily="34" charset="0"/>
                <a:ea typeface="Calibri" pitchFamily="34" charset="-122"/>
                <a:cs typeface="Calibri" pitchFamily="34" charset="-120"/>
              </a:rPr>
              <a:t>IN THIS SECTION</a:t>
            </a:r>
            <a:endParaRPr lang="en-US" sz="1100" dirty="0"/>
          </a:p>
        </p:txBody>
      </p:sp>
      <p:sp>
        <p:nvSpPr>
          <p:cNvPr id="7" name="Text 5"/>
          <p:cNvSpPr txBox="1"/>
          <p:nvPr/>
        </p:nvSpPr>
        <p:spPr>
          <a:xfrm>
            <a:off x="5669280" y="1737360"/>
            <a:ext cx="28346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How hot loops are detected</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Differential testing</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Timeline &amp; milestones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8</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Hot code via back-edge counters</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2 · VATSAL</a:t>
            </a:r>
            <a:endParaRPr lang="en-US" sz="1000" dirty="0"/>
          </a:p>
        </p:txBody>
      </p:sp>
      <p:sp>
        <p:nvSpPr>
          <p:cNvPr id="6" name="Shape 4"/>
          <p:cNvSpPr/>
          <p:nvPr/>
        </p:nvSpPr>
        <p:spPr>
          <a:xfrm>
            <a:off x="457200" y="1143000"/>
            <a:ext cx="3657600" cy="3429000"/>
          </a:xfrm>
          <a:prstGeom prst="roundRect">
            <a:avLst>
              <a:gd name="adj" fmla="val 2133"/>
            </a:avLst>
          </a:prstGeom>
          <a:solidFill>
            <a:srgbClr val="513B3C"/>
          </a:solidFill>
          <a:ln w="12700">
            <a:solidFill>
              <a:srgbClr val="513B3C"/>
            </a:solidFill>
            <a:prstDash val="solid"/>
          </a:ln>
        </p:spPr>
      </p:sp>
      <p:sp>
        <p:nvSpPr>
          <p:cNvPr id="7" name="Text 5"/>
          <p:cNvSpPr txBox="1"/>
          <p:nvPr/>
        </p:nvSpPr>
        <p:spPr>
          <a:xfrm>
            <a:off x="640080" y="1280160"/>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0</a:t>
            </a:r>
            <a:endParaRPr lang="en-US" sz="1050" dirty="0"/>
          </a:p>
        </p:txBody>
      </p:sp>
      <p:sp>
        <p:nvSpPr>
          <p:cNvPr id="8" name="Text 6"/>
          <p:cNvSpPr txBox="1"/>
          <p:nvPr/>
        </p:nvSpPr>
        <p:spPr>
          <a:xfrm>
            <a:off x="1097280" y="1280160"/>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PUSH 0</a:t>
            </a:r>
            <a:endParaRPr lang="en-US" sz="1100" dirty="0"/>
          </a:p>
        </p:txBody>
      </p:sp>
      <p:sp>
        <p:nvSpPr>
          <p:cNvPr id="9" name="Text 7"/>
          <p:cNvSpPr txBox="1"/>
          <p:nvPr/>
        </p:nvSpPr>
        <p:spPr>
          <a:xfrm>
            <a:off x="2514600" y="1280160"/>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i = 0</a:t>
            </a:r>
            <a:endParaRPr lang="en-US" sz="1000" dirty="0"/>
          </a:p>
        </p:txBody>
      </p:sp>
      <p:sp>
        <p:nvSpPr>
          <p:cNvPr id="10" name="Text 8"/>
          <p:cNvSpPr txBox="1"/>
          <p:nvPr/>
        </p:nvSpPr>
        <p:spPr>
          <a:xfrm>
            <a:off x="640080" y="1545336"/>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1</a:t>
            </a:r>
            <a:endParaRPr lang="en-US" sz="1050" dirty="0"/>
          </a:p>
        </p:txBody>
      </p:sp>
      <p:sp>
        <p:nvSpPr>
          <p:cNvPr id="11" name="Text 9"/>
          <p:cNvSpPr txBox="1"/>
          <p:nvPr/>
        </p:nvSpPr>
        <p:spPr>
          <a:xfrm>
            <a:off x="1097280" y="1545336"/>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STORE 0</a:t>
            </a:r>
            <a:endParaRPr lang="en-US" sz="1100" dirty="0"/>
          </a:p>
        </p:txBody>
      </p:sp>
      <p:sp>
        <p:nvSpPr>
          <p:cNvPr id="12" name="Text 10"/>
          <p:cNvSpPr txBox="1"/>
          <p:nvPr/>
        </p:nvSpPr>
        <p:spPr>
          <a:xfrm>
            <a:off x="2514600" y="1545336"/>
            <a:ext cx="1463040" cy="246888"/>
          </a:xfrm>
          <a:prstGeom prst="rect">
            <a:avLst/>
          </a:prstGeom>
          <a:noFill/>
          <a:ln/>
        </p:spPr>
        <p:txBody>
          <a:bodyPr wrap="square" lIns="0" tIns="0" rIns="0" bIns="0" rtlCol="0" anchor="ctr"/>
          <a:lstStyle/>
          <a:p>
            <a:pPr indent="0" marL="0">
              <a:buNone/>
            </a:pPr>
            <a:endParaRPr lang="en-US" sz="1000" dirty="0"/>
          </a:p>
        </p:txBody>
      </p:sp>
      <p:sp>
        <p:nvSpPr>
          <p:cNvPr id="13" name="Text 11"/>
          <p:cNvSpPr txBox="1"/>
          <p:nvPr/>
        </p:nvSpPr>
        <p:spPr>
          <a:xfrm>
            <a:off x="640080" y="1810512"/>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2</a:t>
            </a:r>
            <a:endParaRPr lang="en-US" sz="1050" dirty="0"/>
          </a:p>
        </p:txBody>
      </p:sp>
      <p:sp>
        <p:nvSpPr>
          <p:cNvPr id="14" name="Text 12"/>
          <p:cNvSpPr txBox="1"/>
          <p:nvPr/>
        </p:nvSpPr>
        <p:spPr>
          <a:xfrm>
            <a:off x="1097280" y="1810512"/>
            <a:ext cx="1371600" cy="246888"/>
          </a:xfrm>
          <a:prstGeom prst="rect">
            <a:avLst/>
          </a:prstGeom>
          <a:noFill/>
          <a:ln/>
        </p:spPr>
        <p:txBody>
          <a:bodyPr wrap="square" lIns="0" tIns="0" rIns="0" bIns="0" rtlCol="0" anchor="ctr"/>
          <a:lstStyle/>
          <a:p>
            <a:pPr indent="0" marL="0">
              <a:buNone/>
            </a:pPr>
            <a:r>
              <a:rPr lang="en-US" sz="1100" b="1" dirty="0">
                <a:solidFill>
                  <a:srgbClr val="E1B07E"/>
                </a:solidFill>
                <a:latin typeface="Courier New" pitchFamily="34" charset="0"/>
                <a:ea typeface="Courier New" pitchFamily="34" charset="-122"/>
                <a:cs typeface="Courier New" pitchFamily="34" charset="-120"/>
              </a:rPr>
              <a:t>LOAD 0</a:t>
            </a:r>
            <a:endParaRPr lang="en-US" sz="1100" dirty="0"/>
          </a:p>
        </p:txBody>
      </p:sp>
      <p:sp>
        <p:nvSpPr>
          <p:cNvPr id="15" name="Text 13"/>
          <p:cNvSpPr txBox="1"/>
          <p:nvPr/>
        </p:nvSpPr>
        <p:spPr>
          <a:xfrm>
            <a:off x="2514600" y="1810512"/>
            <a:ext cx="1463040" cy="246888"/>
          </a:xfrm>
          <a:prstGeom prst="rect">
            <a:avLst/>
          </a:prstGeom>
          <a:noFill/>
          <a:ln/>
        </p:spPr>
        <p:txBody>
          <a:bodyPr wrap="square" lIns="0" tIns="0" rIns="0" bIns="0" rtlCol="0" anchor="ctr"/>
          <a:lstStyle/>
          <a:p>
            <a:pPr indent="0" marL="0">
              <a:buNone/>
            </a:pPr>
            <a:r>
              <a:rPr lang="en-US" sz="1000" i="1" dirty="0">
                <a:solidFill>
                  <a:srgbClr val="E1B07E"/>
                </a:solidFill>
                <a:latin typeface="Calibri" pitchFamily="34" charset="0"/>
                <a:ea typeface="Calibri" pitchFamily="34" charset="-122"/>
                <a:cs typeface="Calibri" pitchFamily="34" charset="-120"/>
              </a:rPr>
              <a:t>← loop head</a:t>
            </a:r>
            <a:endParaRPr lang="en-US" sz="1000" dirty="0"/>
          </a:p>
        </p:txBody>
      </p:sp>
      <p:sp>
        <p:nvSpPr>
          <p:cNvPr id="16" name="Text 14"/>
          <p:cNvSpPr txBox="1"/>
          <p:nvPr/>
        </p:nvSpPr>
        <p:spPr>
          <a:xfrm>
            <a:off x="640080" y="2075688"/>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3</a:t>
            </a:r>
            <a:endParaRPr lang="en-US" sz="1050" dirty="0"/>
          </a:p>
        </p:txBody>
      </p:sp>
      <p:sp>
        <p:nvSpPr>
          <p:cNvPr id="17" name="Text 15"/>
          <p:cNvSpPr txBox="1"/>
          <p:nvPr/>
        </p:nvSpPr>
        <p:spPr>
          <a:xfrm>
            <a:off x="1097280" y="2075688"/>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PUSH 10</a:t>
            </a:r>
            <a:endParaRPr lang="en-US" sz="1100" dirty="0"/>
          </a:p>
        </p:txBody>
      </p:sp>
      <p:sp>
        <p:nvSpPr>
          <p:cNvPr id="18" name="Text 16"/>
          <p:cNvSpPr txBox="1"/>
          <p:nvPr/>
        </p:nvSpPr>
        <p:spPr>
          <a:xfrm>
            <a:off x="2514600" y="2075688"/>
            <a:ext cx="1463040" cy="246888"/>
          </a:xfrm>
          <a:prstGeom prst="rect">
            <a:avLst/>
          </a:prstGeom>
          <a:noFill/>
          <a:ln/>
        </p:spPr>
        <p:txBody>
          <a:bodyPr wrap="square" lIns="0" tIns="0" rIns="0" bIns="0" rtlCol="0" anchor="ctr"/>
          <a:lstStyle/>
          <a:p>
            <a:pPr indent="0" marL="0">
              <a:buNone/>
            </a:pPr>
            <a:endParaRPr lang="en-US" sz="1000" dirty="0"/>
          </a:p>
        </p:txBody>
      </p:sp>
      <p:sp>
        <p:nvSpPr>
          <p:cNvPr id="19" name="Text 17"/>
          <p:cNvSpPr txBox="1"/>
          <p:nvPr/>
        </p:nvSpPr>
        <p:spPr>
          <a:xfrm>
            <a:off x="640080" y="2340864"/>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4</a:t>
            </a:r>
            <a:endParaRPr lang="en-US" sz="1050" dirty="0"/>
          </a:p>
        </p:txBody>
      </p:sp>
      <p:sp>
        <p:nvSpPr>
          <p:cNvPr id="20" name="Text 18"/>
          <p:cNvSpPr txBox="1"/>
          <p:nvPr/>
        </p:nvSpPr>
        <p:spPr>
          <a:xfrm>
            <a:off x="1097280" y="2340864"/>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LT</a:t>
            </a:r>
            <a:endParaRPr lang="en-US" sz="1100" dirty="0"/>
          </a:p>
        </p:txBody>
      </p:sp>
      <p:sp>
        <p:nvSpPr>
          <p:cNvPr id="21" name="Text 19"/>
          <p:cNvSpPr txBox="1"/>
          <p:nvPr/>
        </p:nvSpPr>
        <p:spPr>
          <a:xfrm>
            <a:off x="2514600" y="2340864"/>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i &lt; 10 ?</a:t>
            </a:r>
            <a:endParaRPr lang="en-US" sz="1000" dirty="0"/>
          </a:p>
        </p:txBody>
      </p:sp>
      <p:sp>
        <p:nvSpPr>
          <p:cNvPr id="22" name="Text 20"/>
          <p:cNvSpPr txBox="1"/>
          <p:nvPr/>
        </p:nvSpPr>
        <p:spPr>
          <a:xfrm>
            <a:off x="640080" y="2606040"/>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5</a:t>
            </a:r>
            <a:endParaRPr lang="en-US" sz="1050" dirty="0"/>
          </a:p>
        </p:txBody>
      </p:sp>
      <p:sp>
        <p:nvSpPr>
          <p:cNvPr id="23" name="Text 21"/>
          <p:cNvSpPr txBox="1"/>
          <p:nvPr/>
        </p:nvSpPr>
        <p:spPr>
          <a:xfrm>
            <a:off x="1097280" y="2606040"/>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JZ 11</a:t>
            </a:r>
            <a:endParaRPr lang="en-US" sz="1100" dirty="0"/>
          </a:p>
        </p:txBody>
      </p:sp>
      <p:sp>
        <p:nvSpPr>
          <p:cNvPr id="24" name="Text 22"/>
          <p:cNvSpPr txBox="1"/>
          <p:nvPr/>
        </p:nvSpPr>
        <p:spPr>
          <a:xfrm>
            <a:off x="2514600" y="2606040"/>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exit</a:t>
            </a:r>
            <a:endParaRPr lang="en-US" sz="1000" dirty="0"/>
          </a:p>
        </p:txBody>
      </p:sp>
      <p:sp>
        <p:nvSpPr>
          <p:cNvPr id="25" name="Text 23"/>
          <p:cNvSpPr txBox="1"/>
          <p:nvPr/>
        </p:nvSpPr>
        <p:spPr>
          <a:xfrm>
            <a:off x="640080" y="2871216"/>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6</a:t>
            </a:r>
            <a:endParaRPr lang="en-US" sz="1050" dirty="0"/>
          </a:p>
        </p:txBody>
      </p:sp>
      <p:sp>
        <p:nvSpPr>
          <p:cNvPr id="26" name="Text 24"/>
          <p:cNvSpPr txBox="1"/>
          <p:nvPr/>
        </p:nvSpPr>
        <p:spPr>
          <a:xfrm>
            <a:off x="1097280" y="2871216"/>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LOAD 0</a:t>
            </a:r>
            <a:endParaRPr lang="en-US" sz="1100" dirty="0"/>
          </a:p>
        </p:txBody>
      </p:sp>
      <p:sp>
        <p:nvSpPr>
          <p:cNvPr id="27" name="Text 25"/>
          <p:cNvSpPr txBox="1"/>
          <p:nvPr/>
        </p:nvSpPr>
        <p:spPr>
          <a:xfrm>
            <a:off x="2514600" y="2871216"/>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i = i + 1</a:t>
            </a:r>
            <a:endParaRPr lang="en-US" sz="1000" dirty="0"/>
          </a:p>
        </p:txBody>
      </p:sp>
      <p:sp>
        <p:nvSpPr>
          <p:cNvPr id="28" name="Text 26"/>
          <p:cNvSpPr txBox="1"/>
          <p:nvPr/>
        </p:nvSpPr>
        <p:spPr>
          <a:xfrm>
            <a:off x="640080" y="3136392"/>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7</a:t>
            </a:r>
            <a:endParaRPr lang="en-US" sz="1050" dirty="0"/>
          </a:p>
        </p:txBody>
      </p:sp>
      <p:sp>
        <p:nvSpPr>
          <p:cNvPr id="29" name="Text 27"/>
          <p:cNvSpPr txBox="1"/>
          <p:nvPr/>
        </p:nvSpPr>
        <p:spPr>
          <a:xfrm>
            <a:off x="1097280" y="3136392"/>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PUSH 1</a:t>
            </a:r>
            <a:endParaRPr lang="en-US" sz="1100" dirty="0"/>
          </a:p>
        </p:txBody>
      </p:sp>
      <p:sp>
        <p:nvSpPr>
          <p:cNvPr id="30" name="Text 28"/>
          <p:cNvSpPr txBox="1"/>
          <p:nvPr/>
        </p:nvSpPr>
        <p:spPr>
          <a:xfrm>
            <a:off x="2514600" y="3136392"/>
            <a:ext cx="1463040" cy="246888"/>
          </a:xfrm>
          <a:prstGeom prst="rect">
            <a:avLst/>
          </a:prstGeom>
          <a:noFill/>
          <a:ln/>
        </p:spPr>
        <p:txBody>
          <a:bodyPr wrap="square" lIns="0" tIns="0" rIns="0" bIns="0" rtlCol="0" anchor="ctr"/>
          <a:lstStyle/>
          <a:p>
            <a:pPr indent="0" marL="0">
              <a:buNone/>
            </a:pPr>
            <a:endParaRPr lang="en-US" sz="1000" dirty="0"/>
          </a:p>
        </p:txBody>
      </p:sp>
      <p:sp>
        <p:nvSpPr>
          <p:cNvPr id="31" name="Text 29"/>
          <p:cNvSpPr txBox="1"/>
          <p:nvPr/>
        </p:nvSpPr>
        <p:spPr>
          <a:xfrm>
            <a:off x="640080" y="3401568"/>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8</a:t>
            </a:r>
            <a:endParaRPr lang="en-US" sz="1050" dirty="0"/>
          </a:p>
        </p:txBody>
      </p:sp>
      <p:sp>
        <p:nvSpPr>
          <p:cNvPr id="32" name="Text 30"/>
          <p:cNvSpPr txBox="1"/>
          <p:nvPr/>
        </p:nvSpPr>
        <p:spPr>
          <a:xfrm>
            <a:off x="1097280" y="3401568"/>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ADD</a:t>
            </a:r>
            <a:endParaRPr lang="en-US" sz="1100" dirty="0"/>
          </a:p>
        </p:txBody>
      </p:sp>
      <p:sp>
        <p:nvSpPr>
          <p:cNvPr id="33" name="Text 31"/>
          <p:cNvSpPr txBox="1"/>
          <p:nvPr/>
        </p:nvSpPr>
        <p:spPr>
          <a:xfrm>
            <a:off x="2514600" y="3401568"/>
            <a:ext cx="1463040" cy="246888"/>
          </a:xfrm>
          <a:prstGeom prst="rect">
            <a:avLst/>
          </a:prstGeom>
          <a:noFill/>
          <a:ln/>
        </p:spPr>
        <p:txBody>
          <a:bodyPr wrap="square" lIns="0" tIns="0" rIns="0" bIns="0" rtlCol="0" anchor="ctr"/>
          <a:lstStyle/>
          <a:p>
            <a:pPr indent="0" marL="0">
              <a:buNone/>
            </a:pPr>
            <a:endParaRPr lang="en-US" sz="1000" dirty="0"/>
          </a:p>
        </p:txBody>
      </p:sp>
      <p:sp>
        <p:nvSpPr>
          <p:cNvPr id="34" name="Text 32"/>
          <p:cNvSpPr txBox="1"/>
          <p:nvPr/>
        </p:nvSpPr>
        <p:spPr>
          <a:xfrm>
            <a:off x="640080" y="3666744"/>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9</a:t>
            </a:r>
            <a:endParaRPr lang="en-US" sz="1050" dirty="0"/>
          </a:p>
        </p:txBody>
      </p:sp>
      <p:sp>
        <p:nvSpPr>
          <p:cNvPr id="35" name="Text 33"/>
          <p:cNvSpPr txBox="1"/>
          <p:nvPr/>
        </p:nvSpPr>
        <p:spPr>
          <a:xfrm>
            <a:off x="1097280" y="3666744"/>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STORE 0</a:t>
            </a:r>
            <a:endParaRPr lang="en-US" sz="1100" dirty="0"/>
          </a:p>
        </p:txBody>
      </p:sp>
      <p:sp>
        <p:nvSpPr>
          <p:cNvPr id="36" name="Text 34"/>
          <p:cNvSpPr txBox="1"/>
          <p:nvPr/>
        </p:nvSpPr>
        <p:spPr>
          <a:xfrm>
            <a:off x="2514600" y="3666744"/>
            <a:ext cx="1463040" cy="246888"/>
          </a:xfrm>
          <a:prstGeom prst="rect">
            <a:avLst/>
          </a:prstGeom>
          <a:noFill/>
          <a:ln/>
        </p:spPr>
        <p:txBody>
          <a:bodyPr wrap="square" lIns="0" tIns="0" rIns="0" bIns="0" rtlCol="0" anchor="ctr"/>
          <a:lstStyle/>
          <a:p>
            <a:pPr indent="0" marL="0">
              <a:buNone/>
            </a:pPr>
            <a:endParaRPr lang="en-US" sz="1000" dirty="0"/>
          </a:p>
        </p:txBody>
      </p:sp>
      <p:sp>
        <p:nvSpPr>
          <p:cNvPr id="37" name="Text 35"/>
          <p:cNvSpPr txBox="1"/>
          <p:nvPr/>
        </p:nvSpPr>
        <p:spPr>
          <a:xfrm>
            <a:off x="640080" y="3931920"/>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10</a:t>
            </a:r>
            <a:endParaRPr lang="en-US" sz="1050" dirty="0"/>
          </a:p>
        </p:txBody>
      </p:sp>
      <p:sp>
        <p:nvSpPr>
          <p:cNvPr id="38" name="Text 36"/>
          <p:cNvSpPr txBox="1"/>
          <p:nvPr/>
        </p:nvSpPr>
        <p:spPr>
          <a:xfrm>
            <a:off x="1097280" y="3931920"/>
            <a:ext cx="1371600" cy="246888"/>
          </a:xfrm>
          <a:prstGeom prst="rect">
            <a:avLst/>
          </a:prstGeom>
          <a:noFill/>
          <a:ln/>
        </p:spPr>
        <p:txBody>
          <a:bodyPr wrap="square" lIns="0" tIns="0" rIns="0" bIns="0" rtlCol="0" anchor="ctr"/>
          <a:lstStyle/>
          <a:p>
            <a:pPr indent="0" marL="0">
              <a:buNone/>
            </a:pPr>
            <a:r>
              <a:rPr lang="en-US" sz="1100" b="1" dirty="0">
                <a:solidFill>
                  <a:srgbClr val="E1B07E"/>
                </a:solidFill>
                <a:latin typeface="Courier New" pitchFamily="34" charset="0"/>
                <a:ea typeface="Courier New" pitchFamily="34" charset="-122"/>
                <a:cs typeface="Courier New" pitchFamily="34" charset="-120"/>
              </a:rPr>
              <a:t>JMP 2</a:t>
            </a:r>
            <a:endParaRPr lang="en-US" sz="1100" dirty="0"/>
          </a:p>
        </p:txBody>
      </p:sp>
      <p:sp>
        <p:nvSpPr>
          <p:cNvPr id="39" name="Text 37"/>
          <p:cNvSpPr txBox="1"/>
          <p:nvPr/>
        </p:nvSpPr>
        <p:spPr>
          <a:xfrm>
            <a:off x="2514600" y="3931920"/>
            <a:ext cx="1463040" cy="246888"/>
          </a:xfrm>
          <a:prstGeom prst="rect">
            <a:avLst/>
          </a:prstGeom>
          <a:noFill/>
          <a:ln/>
        </p:spPr>
        <p:txBody>
          <a:bodyPr wrap="square" lIns="0" tIns="0" rIns="0" bIns="0" rtlCol="0" anchor="ctr"/>
          <a:lstStyle/>
          <a:p>
            <a:pPr indent="0" marL="0">
              <a:buNone/>
            </a:pPr>
            <a:r>
              <a:rPr lang="en-US" sz="1000" i="1" dirty="0">
                <a:solidFill>
                  <a:srgbClr val="E1B07E"/>
                </a:solidFill>
                <a:latin typeface="Calibri" pitchFamily="34" charset="0"/>
                <a:ea typeface="Calibri" pitchFamily="34" charset="-122"/>
                <a:cs typeface="Calibri" pitchFamily="34" charset="-120"/>
              </a:rPr>
              <a:t>back-edge</a:t>
            </a:r>
            <a:endParaRPr lang="en-US" sz="1000" dirty="0"/>
          </a:p>
        </p:txBody>
      </p:sp>
      <p:sp>
        <p:nvSpPr>
          <p:cNvPr id="40" name="Text 38"/>
          <p:cNvSpPr txBox="1"/>
          <p:nvPr/>
        </p:nvSpPr>
        <p:spPr>
          <a:xfrm>
            <a:off x="640080" y="4197096"/>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11</a:t>
            </a:r>
            <a:endParaRPr lang="en-US" sz="1050" dirty="0"/>
          </a:p>
        </p:txBody>
      </p:sp>
      <p:sp>
        <p:nvSpPr>
          <p:cNvPr id="41" name="Text 39"/>
          <p:cNvSpPr txBox="1"/>
          <p:nvPr/>
        </p:nvSpPr>
        <p:spPr>
          <a:xfrm>
            <a:off x="1097280" y="4197096"/>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HALT</a:t>
            </a:r>
            <a:endParaRPr lang="en-US" sz="1100" dirty="0"/>
          </a:p>
        </p:txBody>
      </p:sp>
      <p:sp>
        <p:nvSpPr>
          <p:cNvPr id="42" name="Text 40"/>
          <p:cNvSpPr txBox="1"/>
          <p:nvPr/>
        </p:nvSpPr>
        <p:spPr>
          <a:xfrm>
            <a:off x="2514600" y="4197096"/>
            <a:ext cx="1463040" cy="246888"/>
          </a:xfrm>
          <a:prstGeom prst="rect">
            <a:avLst/>
          </a:prstGeom>
          <a:noFill/>
          <a:ln/>
        </p:spPr>
        <p:txBody>
          <a:bodyPr wrap="square" lIns="0" tIns="0" rIns="0" bIns="0" rtlCol="0" anchor="ctr"/>
          <a:lstStyle/>
          <a:p>
            <a:pPr indent="0" marL="0">
              <a:buNone/>
            </a:pPr>
            <a:endParaRPr lang="en-US" sz="1000" dirty="0"/>
          </a:p>
        </p:txBody>
      </p:sp>
      <p:sp>
        <p:nvSpPr>
          <p:cNvPr id="43" name="Shape 41"/>
          <p:cNvSpPr/>
          <p:nvPr/>
        </p:nvSpPr>
        <p:spPr>
          <a:xfrm>
            <a:off x="4480560" y="1188720"/>
            <a:ext cx="457200" cy="457200"/>
          </a:xfrm>
          <a:prstGeom prst="ellipse">
            <a:avLst/>
          </a:prstGeom>
          <a:solidFill>
            <a:srgbClr val="548687"/>
          </a:solidFill>
          <a:ln w="12700">
            <a:solidFill>
              <a:srgbClr val="548687"/>
            </a:solidFill>
            <a:prstDash val="solid"/>
          </a:ln>
        </p:spPr>
      </p:sp>
      <p:sp>
        <p:nvSpPr>
          <p:cNvPr id="44" name="Text 42"/>
          <p:cNvSpPr txBox="1"/>
          <p:nvPr/>
        </p:nvSpPr>
        <p:spPr>
          <a:xfrm>
            <a:off x="4480560" y="11887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45" name="Text 43"/>
          <p:cNvSpPr txBox="1"/>
          <p:nvPr/>
        </p:nvSpPr>
        <p:spPr>
          <a:xfrm>
            <a:off x="5120640" y="1170432"/>
            <a:ext cx="3566160" cy="27432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Count</a:t>
            </a:r>
            <a:endParaRPr lang="en-US" sz="1400" dirty="0"/>
          </a:p>
        </p:txBody>
      </p:sp>
      <p:sp>
        <p:nvSpPr>
          <p:cNvPr id="46" name="Text 44"/>
          <p:cNvSpPr txBox="1"/>
          <p:nvPr/>
        </p:nvSpPr>
        <p:spPr>
          <a:xfrm>
            <a:off x="5120640" y="1444752"/>
            <a:ext cx="3566160" cy="548640"/>
          </a:xfrm>
          <a:prstGeom prst="rect">
            <a:avLst/>
          </a:prstGeom>
          <a:noFill/>
          <a:ln/>
        </p:spPr>
        <p:txBody>
          <a:bodyPr wrap="square" lIns="0" tIns="0" rIns="0" bIns="0" rtlCol="0" anchor="t"/>
          <a:lstStyle/>
          <a:p>
            <a:pPr indent="0" marL="0">
              <a:buNone/>
            </a:pPr>
            <a:r>
              <a:rPr lang="en-US" sz="1150" dirty="0">
                <a:solidFill>
                  <a:srgbClr val="513B3C"/>
                </a:solidFill>
                <a:latin typeface="Calibri" pitchFamily="34" charset="0"/>
                <a:ea typeface="Calibri" pitchFamily="34" charset="-122"/>
                <a:cs typeface="Calibri" pitchFamily="34" charset="-120"/>
              </a:rPr>
              <a:t>Every backward jump (JMP to an earlier address) adds 1 to a counter for its target.</a:t>
            </a:r>
            <a:endParaRPr lang="en-US" sz="1150" dirty="0"/>
          </a:p>
        </p:txBody>
      </p:sp>
      <p:sp>
        <p:nvSpPr>
          <p:cNvPr id="47" name="Shape 45"/>
          <p:cNvSpPr/>
          <p:nvPr/>
        </p:nvSpPr>
        <p:spPr>
          <a:xfrm>
            <a:off x="4480560" y="2057400"/>
            <a:ext cx="457200" cy="457200"/>
          </a:xfrm>
          <a:prstGeom prst="ellipse">
            <a:avLst/>
          </a:prstGeom>
          <a:solidFill>
            <a:srgbClr val="548687"/>
          </a:solidFill>
          <a:ln w="12700">
            <a:solidFill>
              <a:srgbClr val="548687"/>
            </a:solidFill>
            <a:prstDash val="solid"/>
          </a:ln>
        </p:spPr>
      </p:sp>
      <p:sp>
        <p:nvSpPr>
          <p:cNvPr id="48" name="Text 46"/>
          <p:cNvSpPr txBox="1"/>
          <p:nvPr/>
        </p:nvSpPr>
        <p:spPr>
          <a:xfrm>
            <a:off x="4480560" y="2057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49" name="Text 47"/>
          <p:cNvSpPr txBox="1"/>
          <p:nvPr/>
        </p:nvSpPr>
        <p:spPr>
          <a:xfrm>
            <a:off x="5120640" y="2039112"/>
            <a:ext cx="3566160" cy="27432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Flag</a:t>
            </a:r>
            <a:endParaRPr lang="en-US" sz="1400" dirty="0"/>
          </a:p>
        </p:txBody>
      </p:sp>
      <p:sp>
        <p:nvSpPr>
          <p:cNvPr id="50" name="Text 48"/>
          <p:cNvSpPr txBox="1"/>
          <p:nvPr/>
        </p:nvSpPr>
        <p:spPr>
          <a:xfrm>
            <a:off x="5120640" y="2313432"/>
            <a:ext cx="3566160" cy="548640"/>
          </a:xfrm>
          <a:prstGeom prst="rect">
            <a:avLst/>
          </a:prstGeom>
          <a:noFill/>
          <a:ln/>
        </p:spPr>
        <p:txBody>
          <a:bodyPr wrap="square" lIns="0" tIns="0" rIns="0" bIns="0" rtlCol="0" anchor="t"/>
          <a:lstStyle/>
          <a:p>
            <a:pPr indent="0" marL="0">
              <a:buNone/>
            </a:pPr>
            <a:r>
              <a:rPr lang="en-US" sz="1150" dirty="0">
                <a:solidFill>
                  <a:srgbClr val="513B3C"/>
                </a:solidFill>
                <a:latin typeface="Calibri" pitchFamily="34" charset="0"/>
                <a:ea typeface="Calibri" pitchFamily="34" charset="-122"/>
                <a:cs typeface="Calibri" pitchFamily="34" charset="-120"/>
              </a:rPr>
              <a:t>When a counter reaches the threshold, that loop head is marked hot.</a:t>
            </a:r>
            <a:endParaRPr lang="en-US" sz="1150" dirty="0"/>
          </a:p>
        </p:txBody>
      </p:sp>
      <p:sp>
        <p:nvSpPr>
          <p:cNvPr id="51" name="Shape 49"/>
          <p:cNvSpPr/>
          <p:nvPr/>
        </p:nvSpPr>
        <p:spPr>
          <a:xfrm>
            <a:off x="4480560" y="2926080"/>
            <a:ext cx="457200" cy="457200"/>
          </a:xfrm>
          <a:prstGeom prst="ellipse">
            <a:avLst/>
          </a:prstGeom>
          <a:solidFill>
            <a:srgbClr val="548687"/>
          </a:solidFill>
          <a:ln w="12700">
            <a:solidFill>
              <a:srgbClr val="548687"/>
            </a:solidFill>
            <a:prstDash val="solid"/>
          </a:ln>
        </p:spPr>
      </p:sp>
      <p:sp>
        <p:nvSpPr>
          <p:cNvPr id="52" name="Text 50"/>
          <p:cNvSpPr txBox="1"/>
          <p:nvPr/>
        </p:nvSpPr>
        <p:spPr>
          <a:xfrm>
            <a:off x="4480560" y="2926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53" name="Text 51"/>
          <p:cNvSpPr txBox="1"/>
          <p:nvPr/>
        </p:nvSpPr>
        <p:spPr>
          <a:xfrm>
            <a:off x="5120640" y="2907792"/>
            <a:ext cx="3566160" cy="27432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Hand off</a:t>
            </a:r>
            <a:endParaRPr lang="en-US" sz="1400" dirty="0"/>
          </a:p>
        </p:txBody>
      </p:sp>
      <p:sp>
        <p:nvSpPr>
          <p:cNvPr id="54" name="Text 52"/>
          <p:cNvSpPr txBox="1"/>
          <p:nvPr/>
        </p:nvSpPr>
        <p:spPr>
          <a:xfrm>
            <a:off x="5120640" y="3182112"/>
            <a:ext cx="3566160" cy="548640"/>
          </a:xfrm>
          <a:prstGeom prst="rect">
            <a:avLst/>
          </a:prstGeom>
          <a:noFill/>
          <a:ln/>
        </p:spPr>
        <p:txBody>
          <a:bodyPr wrap="square" lIns="0" tIns="0" rIns="0" bIns="0" rtlCol="0" anchor="t"/>
          <a:lstStyle/>
          <a:p>
            <a:pPr indent="0" marL="0">
              <a:buNone/>
            </a:pPr>
            <a:r>
              <a:rPr lang="en-US" sz="1150" dirty="0">
                <a:solidFill>
                  <a:srgbClr val="513B3C"/>
                </a:solidFill>
                <a:latin typeface="Calibri" pitchFamily="34" charset="0"/>
                <a:ea typeface="Calibri" pitchFamily="34" charset="-122"/>
                <a:cs typeface="Calibri" pitchFamily="34" charset="-120"/>
              </a:rPr>
              <a:t>Hot loops are tier-2 candidates — their field-access sites get compiled.</a:t>
            </a:r>
            <a:endParaRPr lang="en-US" sz="1150" dirty="0"/>
          </a:p>
        </p:txBody>
      </p:sp>
      <p:sp>
        <p:nvSpPr>
          <p:cNvPr id="55" name="Shape 53"/>
          <p:cNvSpPr/>
          <p:nvPr/>
        </p:nvSpPr>
        <p:spPr>
          <a:xfrm>
            <a:off x="4480560" y="3840480"/>
            <a:ext cx="4206240" cy="685800"/>
          </a:xfrm>
          <a:prstGeom prst="roundRect">
            <a:avLst>
              <a:gd name="adj" fmla="val 10667"/>
            </a:avLst>
          </a:prstGeom>
          <a:solidFill>
            <a:srgbClr val="C1EEFF"/>
          </a:solidFill>
          <a:ln w="12700">
            <a:solidFill>
              <a:srgbClr val="C1EEFF"/>
            </a:solidFill>
            <a:prstDash val="solid"/>
          </a:ln>
        </p:spPr>
      </p:sp>
      <p:sp>
        <p:nvSpPr>
          <p:cNvPr id="56" name="Text 54"/>
          <p:cNvSpPr txBox="1"/>
          <p:nvPr/>
        </p:nvSpPr>
        <p:spPr>
          <a:xfrm>
            <a:off x="4663440" y="3840480"/>
            <a:ext cx="3931920" cy="685800"/>
          </a:xfrm>
          <a:prstGeom prst="rect">
            <a:avLst/>
          </a:prstGeom>
          <a:noFill/>
          <a:ln/>
        </p:spPr>
        <p:txBody>
          <a:bodyPr wrap="square" lIns="0" tIns="0" rIns="0" bIns="0" rtlCol="0" anchor="ctr"/>
          <a:lstStyle/>
          <a:p>
            <a:pPr indent="0" marL="0">
              <a:buNone/>
            </a:pPr>
            <a:r>
              <a:rPr lang="en-US" sz="1150" b="1" dirty="0">
                <a:solidFill>
                  <a:srgbClr val="513B3C"/>
                </a:solidFill>
                <a:latin typeface="Calibri" pitchFamily="34" charset="0"/>
                <a:ea typeface="Calibri" pitchFamily="34" charset="-122"/>
                <a:cs typeface="Calibri" pitchFamily="34" charset="-120"/>
              </a:rPr>
              <a:t>TC11: </a:t>
            </a:r>
            <a:pPr indent="0" marL="0">
              <a:buNone/>
            </a:pPr>
            <a:r>
              <a:rPr lang="en-US" sz="1150" dirty="0">
                <a:solidFill>
                  <a:srgbClr val="513B3C"/>
                </a:solidFill>
                <a:latin typeface="Calibri" pitchFamily="34" charset="0"/>
                <a:ea typeface="Calibri" pitchFamily="34" charset="-122"/>
                <a:cs typeface="Calibri" pitchFamily="34" charset="-120"/>
              </a:rPr>
              <a:t>10 back-edges to address 2 → flagged hot (threshold 5 in the model; to become configurable).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9</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Differential testing</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2 · VATSAL</a:t>
            </a:r>
            <a:endParaRPr lang="en-US" sz="1000" dirty="0"/>
          </a:p>
        </p:txBody>
      </p:sp>
      <p:sp>
        <p:nvSpPr>
          <p:cNvPr id="6" name="Shape 4"/>
          <p:cNvSpPr/>
          <p:nvPr/>
        </p:nvSpPr>
        <p:spPr>
          <a:xfrm>
            <a:off x="457200" y="1737360"/>
            <a:ext cx="1828800" cy="914400"/>
          </a:xfrm>
          <a:prstGeom prst="roundRect">
            <a:avLst>
              <a:gd name="adj" fmla="val 8000"/>
            </a:avLst>
          </a:prstGeom>
          <a:solidFill>
            <a:srgbClr val="F6E7DB"/>
          </a:solidFill>
          <a:ln w="12700">
            <a:solidFill>
              <a:srgbClr val="F6E7DB"/>
            </a:solidFill>
            <a:prstDash val="solid"/>
          </a:ln>
        </p:spPr>
      </p:sp>
      <p:sp>
        <p:nvSpPr>
          <p:cNvPr id="7" name="Text 5"/>
          <p:cNvSpPr txBox="1"/>
          <p:nvPr/>
        </p:nvSpPr>
        <p:spPr>
          <a:xfrm>
            <a:off x="548640" y="1737360"/>
            <a:ext cx="1645920" cy="91440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Workload generator</a:t>
            </a:r>
            <a:endParaRPr lang="en-US" sz="1200" dirty="0"/>
          </a:p>
          <a:p>
            <a:pPr algn="ctr" indent="0" marL="0">
              <a:buNone/>
            </a:pPr>
            <a:r>
              <a:rPr lang="en-US" sz="1050" dirty="0">
                <a:solidFill>
                  <a:srgbClr val="513B3C"/>
                </a:solidFill>
                <a:latin typeface="Calibri" pitchFamily="34" charset="0"/>
                <a:ea typeface="Calibri" pitchFamily="34" charset="-122"/>
                <a:cs typeface="Calibri" pitchFamily="34" charset="-120"/>
              </a:rPr>
              <a:t>mono / poly / mega, fixed seed</a:t>
            </a:r>
            <a:endParaRPr lang="en-US" sz="1200" dirty="0"/>
          </a:p>
        </p:txBody>
      </p:sp>
      <p:sp>
        <p:nvSpPr>
          <p:cNvPr id="8" name="Shape 6"/>
          <p:cNvSpPr/>
          <p:nvPr/>
        </p:nvSpPr>
        <p:spPr>
          <a:xfrm>
            <a:off x="2926080" y="1188720"/>
            <a:ext cx="2011680" cy="731520"/>
          </a:xfrm>
          <a:prstGeom prst="roundRect">
            <a:avLst>
              <a:gd name="adj" fmla="val 10000"/>
            </a:avLst>
          </a:prstGeom>
          <a:solidFill>
            <a:srgbClr val="E6F8FF"/>
          </a:solidFill>
          <a:ln w="12700">
            <a:solidFill>
              <a:srgbClr val="E6F8FF"/>
            </a:solidFill>
            <a:prstDash val="solid"/>
          </a:ln>
        </p:spPr>
      </p:sp>
      <p:sp>
        <p:nvSpPr>
          <p:cNvPr id="9" name="Text 7"/>
          <p:cNvSpPr txBox="1"/>
          <p:nvPr/>
        </p:nvSpPr>
        <p:spPr>
          <a:xfrm>
            <a:off x="2926080" y="1188720"/>
            <a:ext cx="2011680" cy="73152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Baseline interpreter</a:t>
            </a:r>
            <a:endParaRPr lang="en-US" sz="1200" dirty="0"/>
          </a:p>
        </p:txBody>
      </p:sp>
      <p:sp>
        <p:nvSpPr>
          <p:cNvPr id="10" name="Shape 8"/>
          <p:cNvSpPr/>
          <p:nvPr/>
        </p:nvSpPr>
        <p:spPr>
          <a:xfrm>
            <a:off x="2926080" y="2468880"/>
            <a:ext cx="2011680" cy="731520"/>
          </a:xfrm>
          <a:prstGeom prst="roundRect">
            <a:avLst>
              <a:gd name="adj" fmla="val 10000"/>
            </a:avLst>
          </a:prstGeom>
          <a:solidFill>
            <a:srgbClr val="548687"/>
          </a:solidFill>
          <a:ln w="12700">
            <a:solidFill>
              <a:srgbClr val="548687"/>
            </a:solidFill>
            <a:prstDash val="solid"/>
          </a:ln>
        </p:spPr>
      </p:sp>
      <p:sp>
        <p:nvSpPr>
          <p:cNvPr id="11" name="Text 9"/>
          <p:cNvSpPr txBox="1"/>
          <p:nvPr/>
        </p:nvSpPr>
        <p:spPr>
          <a:xfrm>
            <a:off x="2926080" y="2468880"/>
            <a:ext cx="201168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Interpreter + inline cache</a:t>
            </a:r>
            <a:endParaRPr lang="en-US" sz="1200" dirty="0"/>
          </a:p>
        </p:txBody>
      </p:sp>
      <p:sp>
        <p:nvSpPr>
          <p:cNvPr id="12" name="Shape 10"/>
          <p:cNvSpPr/>
          <p:nvPr/>
        </p:nvSpPr>
        <p:spPr>
          <a:xfrm flipV="1">
            <a:off x="2286000" y="1554480"/>
            <a:ext cx="640080" cy="502920"/>
          </a:xfrm>
          <a:prstGeom prst="line">
            <a:avLst/>
          </a:prstGeom>
          <a:noFill/>
          <a:ln w="22225">
            <a:solidFill>
              <a:srgbClr val="7D6A6B"/>
            </a:solidFill>
            <a:prstDash val="solid"/>
            <a:tailEnd type="triangle"/>
          </a:ln>
        </p:spPr>
      </p:sp>
      <p:sp>
        <p:nvSpPr>
          <p:cNvPr id="13" name="Shape 11"/>
          <p:cNvSpPr/>
          <p:nvPr/>
        </p:nvSpPr>
        <p:spPr>
          <a:xfrm>
            <a:off x="2286000" y="2240280"/>
            <a:ext cx="640080" cy="594360"/>
          </a:xfrm>
          <a:prstGeom prst="line">
            <a:avLst/>
          </a:prstGeom>
          <a:noFill/>
          <a:ln w="22225">
            <a:solidFill>
              <a:srgbClr val="7D6A6B"/>
            </a:solidFill>
            <a:prstDash val="solid"/>
            <a:tailEnd type="triangle"/>
          </a:ln>
        </p:spPr>
      </p:sp>
      <p:sp>
        <p:nvSpPr>
          <p:cNvPr id="14" name="Shape 12"/>
          <p:cNvSpPr/>
          <p:nvPr/>
        </p:nvSpPr>
        <p:spPr>
          <a:xfrm>
            <a:off x="5577840" y="1737360"/>
            <a:ext cx="1371600" cy="914400"/>
          </a:xfrm>
          <a:prstGeom prst="roundRect">
            <a:avLst>
              <a:gd name="adj" fmla="val 8000"/>
            </a:avLst>
          </a:prstGeom>
          <a:solidFill>
            <a:srgbClr val="F6E7DB"/>
          </a:solidFill>
          <a:ln w="12700">
            <a:solidFill>
              <a:srgbClr val="F6E7DB"/>
            </a:solidFill>
            <a:prstDash val="solid"/>
          </a:ln>
        </p:spPr>
      </p:sp>
      <p:sp>
        <p:nvSpPr>
          <p:cNvPr id="15" name="Text 13"/>
          <p:cNvSpPr txBox="1"/>
          <p:nvPr/>
        </p:nvSpPr>
        <p:spPr>
          <a:xfrm>
            <a:off x="5577840" y="1737360"/>
            <a:ext cx="1371600" cy="91440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Compare</a:t>
            </a:r>
            <a:endParaRPr lang="en-US" sz="1200" dirty="0"/>
          </a:p>
          <a:p>
            <a:pPr algn="ctr" indent="0" marL="0">
              <a:buNone/>
            </a:pPr>
            <a:r>
              <a:rPr lang="en-US" sz="1050" dirty="0">
                <a:solidFill>
                  <a:srgbClr val="513B3C"/>
                </a:solidFill>
                <a:latin typeface="Calibri" pitchFamily="34" charset="0"/>
                <a:ea typeface="Calibri" pitchFamily="34" charset="-122"/>
                <a:cs typeface="Calibri" pitchFamily="34" charset="-120"/>
              </a:rPr>
              <a:t>every output value</a:t>
            </a:r>
            <a:endParaRPr lang="en-US" sz="1200" dirty="0"/>
          </a:p>
        </p:txBody>
      </p:sp>
      <p:sp>
        <p:nvSpPr>
          <p:cNvPr id="16" name="Shape 14"/>
          <p:cNvSpPr/>
          <p:nvPr/>
        </p:nvSpPr>
        <p:spPr>
          <a:xfrm>
            <a:off x="4937760" y="1554480"/>
            <a:ext cx="640080" cy="502920"/>
          </a:xfrm>
          <a:prstGeom prst="line">
            <a:avLst/>
          </a:prstGeom>
          <a:noFill/>
          <a:ln w="22225">
            <a:solidFill>
              <a:srgbClr val="7D6A6B"/>
            </a:solidFill>
            <a:prstDash val="solid"/>
            <a:tailEnd type="triangle"/>
          </a:ln>
        </p:spPr>
      </p:sp>
      <p:sp>
        <p:nvSpPr>
          <p:cNvPr id="17" name="Shape 15"/>
          <p:cNvSpPr/>
          <p:nvPr/>
        </p:nvSpPr>
        <p:spPr>
          <a:xfrm flipV="1">
            <a:off x="4937760" y="2240280"/>
            <a:ext cx="640080" cy="594360"/>
          </a:xfrm>
          <a:prstGeom prst="line">
            <a:avLst/>
          </a:prstGeom>
          <a:noFill/>
          <a:ln w="22225">
            <a:solidFill>
              <a:srgbClr val="7D6A6B"/>
            </a:solidFill>
            <a:prstDash val="solid"/>
            <a:tailEnd type="triangle"/>
          </a:ln>
        </p:spPr>
      </p:sp>
      <p:sp>
        <p:nvSpPr>
          <p:cNvPr id="18" name="Shape 16"/>
          <p:cNvSpPr/>
          <p:nvPr/>
        </p:nvSpPr>
        <p:spPr>
          <a:xfrm>
            <a:off x="7406640" y="1600200"/>
            <a:ext cx="1188720" cy="1188720"/>
          </a:xfrm>
          <a:prstGeom prst="ellipse">
            <a:avLst/>
          </a:prstGeom>
          <a:solidFill>
            <a:srgbClr val="548687"/>
          </a:solidFill>
          <a:ln w="12700">
            <a:solidFill>
              <a:srgbClr val="548687"/>
            </a:solidFill>
            <a:prstDash val="solid"/>
          </a:ln>
        </p:spPr>
      </p:sp>
      <p:sp>
        <p:nvSpPr>
          <p:cNvPr id="19" name="Text 17"/>
          <p:cNvSpPr txBox="1"/>
          <p:nvPr/>
        </p:nvSpPr>
        <p:spPr>
          <a:xfrm>
            <a:off x="7406640" y="16002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0</a:t>
            </a:r>
            <a:endParaRPr lang="en-US" sz="4000" dirty="0"/>
          </a:p>
        </p:txBody>
      </p:sp>
      <p:sp>
        <p:nvSpPr>
          <p:cNvPr id="20" name="Shape 18"/>
          <p:cNvSpPr/>
          <p:nvPr/>
        </p:nvSpPr>
        <p:spPr>
          <a:xfrm>
            <a:off x="6949440" y="2194560"/>
            <a:ext cx="457200" cy="0"/>
          </a:xfrm>
          <a:prstGeom prst="line">
            <a:avLst/>
          </a:prstGeom>
          <a:noFill/>
          <a:ln w="22225">
            <a:solidFill>
              <a:srgbClr val="7D6A6B"/>
            </a:solidFill>
            <a:prstDash val="solid"/>
            <a:tailEnd type="triangle"/>
          </a:ln>
        </p:spPr>
      </p:sp>
      <p:sp>
        <p:nvSpPr>
          <p:cNvPr id="21" name="Text 19"/>
          <p:cNvSpPr txBox="1"/>
          <p:nvPr/>
        </p:nvSpPr>
        <p:spPr>
          <a:xfrm>
            <a:off x="7178040" y="2834640"/>
            <a:ext cx="1645920" cy="27432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mismatches</a:t>
            </a:r>
            <a:endParaRPr lang="en-US" sz="1200" dirty="0"/>
          </a:p>
        </p:txBody>
      </p:sp>
      <p:sp>
        <p:nvSpPr>
          <p:cNvPr id="22" name="Shape 20"/>
          <p:cNvSpPr/>
          <p:nvPr/>
        </p:nvSpPr>
        <p:spPr>
          <a:xfrm>
            <a:off x="457200" y="3520440"/>
            <a:ext cx="2606040" cy="1005840"/>
          </a:xfrm>
          <a:prstGeom prst="roundRect">
            <a:avLst>
              <a:gd name="adj" fmla="val 7273"/>
            </a:avLst>
          </a:prstGeom>
          <a:solidFill>
            <a:srgbClr val="E6F8FF"/>
          </a:solidFill>
          <a:ln w="12700">
            <a:solidFill>
              <a:srgbClr val="E6F8FF"/>
            </a:solidFill>
            <a:prstDash val="solid"/>
          </a:ln>
        </p:spPr>
      </p:sp>
      <p:sp>
        <p:nvSpPr>
          <p:cNvPr id="23" name="Text 21"/>
          <p:cNvSpPr txBox="1"/>
          <p:nvPr/>
        </p:nvSpPr>
        <p:spPr>
          <a:xfrm>
            <a:off x="640080" y="3584448"/>
            <a:ext cx="2286000" cy="548640"/>
          </a:xfrm>
          <a:prstGeom prst="rect">
            <a:avLst/>
          </a:prstGeom>
          <a:noFill/>
          <a:ln/>
        </p:spPr>
        <p:txBody>
          <a:bodyPr wrap="square" lIns="0" tIns="0" rIns="0" bIns="0" rtlCol="0" anchor="ctr"/>
          <a:lstStyle/>
          <a:p>
            <a:pPr indent="0" marL="0">
              <a:buNone/>
            </a:pPr>
            <a:r>
              <a:rPr lang="en-US" sz="2600" b="1" dirty="0">
                <a:solidFill>
                  <a:srgbClr val="548687"/>
                </a:solidFill>
                <a:latin typeface="Cambria" pitchFamily="34" charset="0"/>
                <a:ea typeface="Cambria" pitchFamily="34" charset="-122"/>
                <a:cs typeface="Cambria" pitchFamily="34" charset="-120"/>
              </a:rPr>
              <a:t>300,000</a:t>
            </a:r>
            <a:endParaRPr lang="en-US" sz="2600" dirty="0"/>
          </a:p>
        </p:txBody>
      </p:sp>
      <p:sp>
        <p:nvSpPr>
          <p:cNvPr id="24" name="Text 22"/>
          <p:cNvSpPr txBox="1"/>
          <p:nvPr/>
        </p:nvSpPr>
        <p:spPr>
          <a:xfrm>
            <a:off x="640080" y="4114800"/>
            <a:ext cx="2286000" cy="320040"/>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field accesses compared</a:t>
            </a:r>
            <a:endParaRPr lang="en-US" sz="1200" dirty="0"/>
          </a:p>
        </p:txBody>
      </p:sp>
      <p:sp>
        <p:nvSpPr>
          <p:cNvPr id="25" name="Shape 23"/>
          <p:cNvSpPr/>
          <p:nvPr/>
        </p:nvSpPr>
        <p:spPr>
          <a:xfrm>
            <a:off x="3246120" y="3520440"/>
            <a:ext cx="2606040" cy="1005840"/>
          </a:xfrm>
          <a:prstGeom prst="roundRect">
            <a:avLst>
              <a:gd name="adj" fmla="val 7273"/>
            </a:avLst>
          </a:prstGeom>
          <a:solidFill>
            <a:srgbClr val="E6F8FF"/>
          </a:solidFill>
          <a:ln w="12700">
            <a:solidFill>
              <a:srgbClr val="E6F8FF"/>
            </a:solidFill>
            <a:prstDash val="solid"/>
          </a:ln>
        </p:spPr>
      </p:sp>
      <p:sp>
        <p:nvSpPr>
          <p:cNvPr id="26" name="Text 24"/>
          <p:cNvSpPr txBox="1"/>
          <p:nvPr/>
        </p:nvSpPr>
        <p:spPr>
          <a:xfrm>
            <a:off x="3429000" y="3584448"/>
            <a:ext cx="2286000" cy="548640"/>
          </a:xfrm>
          <a:prstGeom prst="rect">
            <a:avLst/>
          </a:prstGeom>
          <a:noFill/>
          <a:ln/>
        </p:spPr>
        <p:txBody>
          <a:bodyPr wrap="square" lIns="0" tIns="0" rIns="0" bIns="0" rtlCol="0" anchor="ctr"/>
          <a:lstStyle/>
          <a:p>
            <a:pPr indent="0" marL="0">
              <a:buNone/>
            </a:pPr>
            <a:r>
              <a:rPr lang="en-US" sz="2600" b="1" dirty="0">
                <a:solidFill>
                  <a:srgbClr val="548687"/>
                </a:solidFill>
                <a:latin typeface="Cambria" pitchFamily="34" charset="0"/>
                <a:ea typeface="Cambria" pitchFamily="34" charset="-122"/>
                <a:cs typeface="Cambria" pitchFamily="34" charset="-120"/>
              </a:rPr>
              <a:t>3</a:t>
            </a:r>
            <a:endParaRPr lang="en-US" sz="2600" dirty="0"/>
          </a:p>
        </p:txBody>
      </p:sp>
      <p:sp>
        <p:nvSpPr>
          <p:cNvPr id="27" name="Text 25"/>
          <p:cNvSpPr txBox="1"/>
          <p:nvPr/>
        </p:nvSpPr>
        <p:spPr>
          <a:xfrm>
            <a:off x="3429000" y="4114800"/>
            <a:ext cx="2286000" cy="320040"/>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workload types</a:t>
            </a:r>
            <a:endParaRPr lang="en-US" sz="1200" dirty="0"/>
          </a:p>
        </p:txBody>
      </p:sp>
      <p:sp>
        <p:nvSpPr>
          <p:cNvPr id="28" name="Shape 26"/>
          <p:cNvSpPr/>
          <p:nvPr/>
        </p:nvSpPr>
        <p:spPr>
          <a:xfrm>
            <a:off x="6035040" y="3520440"/>
            <a:ext cx="2606040" cy="1005840"/>
          </a:xfrm>
          <a:prstGeom prst="roundRect">
            <a:avLst>
              <a:gd name="adj" fmla="val 7273"/>
            </a:avLst>
          </a:prstGeom>
          <a:solidFill>
            <a:srgbClr val="E6F8FF"/>
          </a:solidFill>
          <a:ln w="12700">
            <a:solidFill>
              <a:srgbClr val="E6F8FF"/>
            </a:solidFill>
            <a:prstDash val="solid"/>
          </a:ln>
        </p:spPr>
      </p:sp>
      <p:sp>
        <p:nvSpPr>
          <p:cNvPr id="29" name="Text 27"/>
          <p:cNvSpPr txBox="1"/>
          <p:nvPr/>
        </p:nvSpPr>
        <p:spPr>
          <a:xfrm>
            <a:off x="6217920" y="3584448"/>
            <a:ext cx="2286000" cy="548640"/>
          </a:xfrm>
          <a:prstGeom prst="rect">
            <a:avLst/>
          </a:prstGeom>
          <a:noFill/>
          <a:ln/>
        </p:spPr>
        <p:txBody>
          <a:bodyPr wrap="square" lIns="0" tIns="0" rIns="0" bIns="0" rtlCol="0" anchor="ctr"/>
          <a:lstStyle/>
          <a:p>
            <a:pPr indent="0" marL="0">
              <a:buNone/>
            </a:pPr>
            <a:r>
              <a:rPr lang="en-US" sz="2600" b="1" dirty="0">
                <a:solidFill>
                  <a:srgbClr val="548687"/>
                </a:solidFill>
                <a:latin typeface="Cambria" pitchFamily="34" charset="0"/>
                <a:ea typeface="Cambria" pitchFamily="34" charset="-122"/>
                <a:cs typeface="Cambria" pitchFamily="34" charset="-120"/>
              </a:rPr>
              <a:t>17 / 17</a:t>
            </a:r>
            <a:endParaRPr lang="en-US" sz="2600" dirty="0"/>
          </a:p>
        </p:txBody>
      </p:sp>
      <p:sp>
        <p:nvSpPr>
          <p:cNvPr id="30" name="Text 28"/>
          <p:cNvSpPr txBox="1"/>
          <p:nvPr/>
        </p:nvSpPr>
        <p:spPr>
          <a:xfrm>
            <a:off x="6217920" y="4114800"/>
            <a:ext cx="2286000" cy="320040"/>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TC + IC tests passing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10</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Timeline and milestone status</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2 · VATSAL</a:t>
            </a:r>
            <a:endParaRPr lang="en-US" sz="1000" dirty="0"/>
          </a:p>
        </p:txBody>
      </p:sp>
      <p:sp>
        <p:nvSpPr>
          <p:cNvPr id="6" name="Shape 4"/>
          <p:cNvSpPr/>
          <p:nvPr/>
        </p:nvSpPr>
        <p:spPr>
          <a:xfrm>
            <a:off x="971550" y="2331720"/>
            <a:ext cx="7200900" cy="0"/>
          </a:xfrm>
          <a:prstGeom prst="line">
            <a:avLst/>
          </a:prstGeom>
          <a:noFill/>
          <a:ln w="25400">
            <a:solidFill>
              <a:srgbClr val="CFC4C4"/>
            </a:solidFill>
            <a:prstDash val="solid"/>
          </a:ln>
        </p:spPr>
      </p:sp>
      <p:sp>
        <p:nvSpPr>
          <p:cNvPr id="7" name="Shape 5"/>
          <p:cNvSpPr/>
          <p:nvPr/>
        </p:nvSpPr>
        <p:spPr>
          <a:xfrm>
            <a:off x="788670" y="2148840"/>
            <a:ext cx="365760" cy="365760"/>
          </a:xfrm>
          <a:prstGeom prst="ellipse">
            <a:avLst/>
          </a:prstGeom>
          <a:solidFill>
            <a:srgbClr val="548687"/>
          </a:solidFill>
          <a:ln w="19050">
            <a:solidFill>
              <a:srgbClr val="548687"/>
            </a:solidFill>
            <a:prstDash val="solid"/>
          </a:ln>
        </p:spPr>
      </p:sp>
      <p:sp>
        <p:nvSpPr>
          <p:cNvPr id="8" name="Text 6"/>
          <p:cNvSpPr txBox="1"/>
          <p:nvPr/>
        </p:nvSpPr>
        <p:spPr>
          <a:xfrm>
            <a:off x="4686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1–2</a:t>
            </a:r>
            <a:endParaRPr lang="en-US" sz="1100" dirty="0"/>
          </a:p>
        </p:txBody>
      </p:sp>
      <p:sp>
        <p:nvSpPr>
          <p:cNvPr id="9" name="Text 7"/>
          <p:cNvSpPr txBox="1"/>
          <p:nvPr/>
        </p:nvSpPr>
        <p:spPr>
          <a:xfrm>
            <a:off x="4594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Bytecode format, VM, CI</a:t>
            </a:r>
            <a:endParaRPr lang="en-US" sz="1000" dirty="0"/>
          </a:p>
        </p:txBody>
      </p:sp>
      <p:sp>
        <p:nvSpPr>
          <p:cNvPr id="10" name="Shape 8"/>
          <p:cNvSpPr/>
          <p:nvPr/>
        </p:nvSpPr>
        <p:spPr>
          <a:xfrm>
            <a:off x="1817370" y="2148840"/>
            <a:ext cx="365760" cy="365760"/>
          </a:xfrm>
          <a:prstGeom prst="ellipse">
            <a:avLst/>
          </a:prstGeom>
          <a:solidFill>
            <a:srgbClr val="548687"/>
          </a:solidFill>
          <a:ln w="19050">
            <a:solidFill>
              <a:srgbClr val="548687"/>
            </a:solidFill>
            <a:prstDash val="solid"/>
          </a:ln>
        </p:spPr>
      </p:sp>
      <p:sp>
        <p:nvSpPr>
          <p:cNvPr id="11" name="Text 9"/>
          <p:cNvSpPr txBox="1"/>
          <p:nvPr/>
        </p:nvSpPr>
        <p:spPr>
          <a:xfrm>
            <a:off x="14973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3</a:t>
            </a:r>
            <a:endParaRPr lang="en-US" sz="1100" dirty="0"/>
          </a:p>
        </p:txBody>
      </p:sp>
      <p:sp>
        <p:nvSpPr>
          <p:cNvPr id="12" name="Text 10"/>
          <p:cNvSpPr txBox="1"/>
          <p:nvPr/>
        </p:nvSpPr>
        <p:spPr>
          <a:xfrm>
            <a:off x="14881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Baseline interpreter · Review 1</a:t>
            </a:r>
            <a:endParaRPr lang="en-US" sz="1000" dirty="0"/>
          </a:p>
        </p:txBody>
      </p:sp>
      <p:sp>
        <p:nvSpPr>
          <p:cNvPr id="13" name="Shape 11"/>
          <p:cNvSpPr/>
          <p:nvPr/>
        </p:nvSpPr>
        <p:spPr>
          <a:xfrm>
            <a:off x="2846070" y="2148840"/>
            <a:ext cx="365760" cy="365760"/>
          </a:xfrm>
          <a:prstGeom prst="ellipse">
            <a:avLst/>
          </a:prstGeom>
          <a:solidFill>
            <a:srgbClr val="548687"/>
          </a:solidFill>
          <a:ln w="19050">
            <a:solidFill>
              <a:srgbClr val="548687"/>
            </a:solidFill>
            <a:prstDash val="solid"/>
          </a:ln>
        </p:spPr>
      </p:sp>
      <p:sp>
        <p:nvSpPr>
          <p:cNvPr id="14" name="Text 12"/>
          <p:cNvSpPr txBox="1"/>
          <p:nvPr/>
        </p:nvSpPr>
        <p:spPr>
          <a:xfrm>
            <a:off x="25260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4–5</a:t>
            </a:r>
            <a:endParaRPr lang="en-US" sz="1100" dirty="0"/>
          </a:p>
        </p:txBody>
      </p:sp>
      <p:sp>
        <p:nvSpPr>
          <p:cNvPr id="15" name="Text 13"/>
          <p:cNvSpPr txBox="1"/>
          <p:nvPr/>
        </p:nvSpPr>
        <p:spPr>
          <a:xfrm>
            <a:off x="25168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IC state machine design (M1)</a:t>
            </a:r>
            <a:endParaRPr lang="en-US" sz="1000" dirty="0"/>
          </a:p>
        </p:txBody>
      </p:sp>
      <p:sp>
        <p:nvSpPr>
          <p:cNvPr id="16" name="Shape 14"/>
          <p:cNvSpPr/>
          <p:nvPr/>
        </p:nvSpPr>
        <p:spPr>
          <a:xfrm>
            <a:off x="3874770" y="2148840"/>
            <a:ext cx="365760" cy="365760"/>
          </a:xfrm>
          <a:prstGeom prst="ellipse">
            <a:avLst/>
          </a:prstGeom>
          <a:solidFill>
            <a:srgbClr val="548687"/>
          </a:solidFill>
          <a:ln w="19050">
            <a:solidFill>
              <a:srgbClr val="548687"/>
            </a:solidFill>
            <a:prstDash val="solid"/>
          </a:ln>
        </p:spPr>
      </p:sp>
      <p:sp>
        <p:nvSpPr>
          <p:cNvPr id="17" name="Text 15"/>
          <p:cNvSpPr txBox="1"/>
          <p:nvPr/>
        </p:nvSpPr>
        <p:spPr>
          <a:xfrm>
            <a:off x="35547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6–7</a:t>
            </a:r>
            <a:endParaRPr lang="en-US" sz="1100" dirty="0"/>
          </a:p>
        </p:txBody>
      </p:sp>
      <p:sp>
        <p:nvSpPr>
          <p:cNvPr id="18" name="Text 16"/>
          <p:cNvSpPr txBox="1"/>
          <p:nvPr/>
        </p:nvSpPr>
        <p:spPr>
          <a:xfrm>
            <a:off x="35455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Profiling + IC integrated (M2)</a:t>
            </a:r>
            <a:endParaRPr lang="en-US" sz="1000" dirty="0"/>
          </a:p>
        </p:txBody>
      </p:sp>
      <p:sp>
        <p:nvSpPr>
          <p:cNvPr id="19" name="Shape 17"/>
          <p:cNvSpPr/>
          <p:nvPr/>
        </p:nvSpPr>
        <p:spPr>
          <a:xfrm>
            <a:off x="4903470" y="2148840"/>
            <a:ext cx="365760" cy="365760"/>
          </a:xfrm>
          <a:prstGeom prst="ellipse">
            <a:avLst/>
          </a:prstGeom>
          <a:solidFill>
            <a:srgbClr val="E1B07E"/>
          </a:solidFill>
          <a:ln w="19050">
            <a:solidFill>
              <a:srgbClr val="E1B07E"/>
            </a:solidFill>
            <a:prstDash val="solid"/>
          </a:ln>
        </p:spPr>
      </p:sp>
      <p:sp>
        <p:nvSpPr>
          <p:cNvPr id="20" name="Text 18"/>
          <p:cNvSpPr txBox="1"/>
          <p:nvPr/>
        </p:nvSpPr>
        <p:spPr>
          <a:xfrm>
            <a:off x="45834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8–9</a:t>
            </a:r>
            <a:endParaRPr lang="en-US" sz="1100" dirty="0"/>
          </a:p>
        </p:txBody>
      </p:sp>
      <p:sp>
        <p:nvSpPr>
          <p:cNvPr id="21" name="Text 19"/>
          <p:cNvSpPr txBox="1"/>
          <p:nvPr/>
        </p:nvSpPr>
        <p:spPr>
          <a:xfrm>
            <a:off x="45742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Tier-2 mono path + deopt (M3)</a:t>
            </a:r>
            <a:endParaRPr lang="en-US" sz="1000" dirty="0"/>
          </a:p>
        </p:txBody>
      </p:sp>
      <p:sp>
        <p:nvSpPr>
          <p:cNvPr id="22" name="Shape 20"/>
          <p:cNvSpPr/>
          <p:nvPr/>
        </p:nvSpPr>
        <p:spPr>
          <a:xfrm>
            <a:off x="5932170" y="2148840"/>
            <a:ext cx="365760" cy="365760"/>
          </a:xfrm>
          <a:prstGeom prst="ellipse">
            <a:avLst/>
          </a:prstGeom>
          <a:solidFill>
            <a:srgbClr val="513B3C"/>
          </a:solidFill>
          <a:ln w="19050">
            <a:solidFill>
              <a:srgbClr val="513B3C"/>
            </a:solidFill>
            <a:prstDash val="solid"/>
          </a:ln>
        </p:spPr>
      </p:sp>
      <p:sp>
        <p:nvSpPr>
          <p:cNvPr id="23" name="Text 21"/>
          <p:cNvSpPr txBox="1"/>
          <p:nvPr/>
        </p:nvSpPr>
        <p:spPr>
          <a:xfrm>
            <a:off x="56121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10</a:t>
            </a:r>
            <a:endParaRPr lang="en-US" sz="1100" dirty="0"/>
          </a:p>
        </p:txBody>
      </p:sp>
      <p:sp>
        <p:nvSpPr>
          <p:cNvPr id="24" name="Text 22"/>
          <p:cNvSpPr txBox="1"/>
          <p:nvPr/>
        </p:nvSpPr>
        <p:spPr>
          <a:xfrm>
            <a:off x="56029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Workloads expanded · Review 2</a:t>
            </a:r>
            <a:endParaRPr lang="en-US" sz="1000" dirty="0"/>
          </a:p>
        </p:txBody>
      </p:sp>
      <p:sp>
        <p:nvSpPr>
          <p:cNvPr id="25" name="Shape 23"/>
          <p:cNvSpPr/>
          <p:nvPr/>
        </p:nvSpPr>
        <p:spPr>
          <a:xfrm>
            <a:off x="6960870" y="2148840"/>
            <a:ext cx="365760" cy="365760"/>
          </a:xfrm>
          <a:prstGeom prst="ellipse">
            <a:avLst/>
          </a:prstGeom>
          <a:solidFill>
            <a:srgbClr val="FFFFFF"/>
          </a:solidFill>
          <a:ln w="19050">
            <a:solidFill>
              <a:srgbClr val="7D6A6B"/>
            </a:solidFill>
            <a:prstDash val="solid"/>
          </a:ln>
        </p:spPr>
      </p:sp>
      <p:sp>
        <p:nvSpPr>
          <p:cNvPr id="26" name="Text 24"/>
          <p:cNvSpPr txBox="1"/>
          <p:nvPr/>
        </p:nvSpPr>
        <p:spPr>
          <a:xfrm>
            <a:off x="66408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11</a:t>
            </a:r>
            <a:endParaRPr lang="en-US" sz="1100" dirty="0"/>
          </a:p>
        </p:txBody>
      </p:sp>
      <p:sp>
        <p:nvSpPr>
          <p:cNvPr id="27" name="Text 25"/>
          <p:cNvSpPr txBox="1"/>
          <p:nvPr/>
        </p:nvSpPr>
        <p:spPr>
          <a:xfrm>
            <a:off x="66316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Full integration &amp; tuning</a:t>
            </a:r>
            <a:endParaRPr lang="en-US" sz="1000" dirty="0"/>
          </a:p>
        </p:txBody>
      </p:sp>
      <p:sp>
        <p:nvSpPr>
          <p:cNvPr id="28" name="Shape 26"/>
          <p:cNvSpPr/>
          <p:nvPr/>
        </p:nvSpPr>
        <p:spPr>
          <a:xfrm>
            <a:off x="7989570" y="2148840"/>
            <a:ext cx="365760" cy="365760"/>
          </a:xfrm>
          <a:prstGeom prst="ellipse">
            <a:avLst/>
          </a:prstGeom>
          <a:solidFill>
            <a:srgbClr val="FFFFFF"/>
          </a:solidFill>
          <a:ln w="19050">
            <a:solidFill>
              <a:srgbClr val="7D6A6B"/>
            </a:solidFill>
            <a:prstDash val="solid"/>
          </a:ln>
        </p:spPr>
      </p:sp>
      <p:sp>
        <p:nvSpPr>
          <p:cNvPr id="29" name="Text 27"/>
          <p:cNvSpPr txBox="1"/>
          <p:nvPr/>
        </p:nvSpPr>
        <p:spPr>
          <a:xfrm>
            <a:off x="7669530" y="1691640"/>
            <a:ext cx="1005840" cy="274320"/>
          </a:xfrm>
          <a:prstGeom prst="rect">
            <a:avLst/>
          </a:prstGeom>
          <a:noFill/>
          <a:ln/>
        </p:spPr>
        <p:txBody>
          <a:bodyPr wrap="square" lIns="0" tIns="0" rIns="0" bIns="0" rtlCol="0" anchor="ctr"/>
          <a:lstStyle/>
          <a:p>
            <a:pPr algn="ctr" indent="0" marL="0">
              <a:buNone/>
            </a:pPr>
            <a:r>
              <a:rPr lang="en-US" sz="1100" b="1" dirty="0">
                <a:solidFill>
                  <a:srgbClr val="513B3C"/>
                </a:solidFill>
                <a:latin typeface="Calibri" pitchFamily="34" charset="0"/>
                <a:ea typeface="Calibri" pitchFamily="34" charset="-122"/>
                <a:cs typeface="Calibri" pitchFamily="34" charset="-120"/>
              </a:rPr>
              <a:t>Wk 12</a:t>
            </a:r>
            <a:endParaRPr lang="en-US" sz="1100" dirty="0"/>
          </a:p>
        </p:txBody>
      </p:sp>
      <p:sp>
        <p:nvSpPr>
          <p:cNvPr id="30" name="Text 28"/>
          <p:cNvSpPr txBox="1"/>
          <p:nvPr/>
        </p:nvSpPr>
        <p:spPr>
          <a:xfrm>
            <a:off x="7660386" y="2651760"/>
            <a:ext cx="1024128" cy="822960"/>
          </a:xfrm>
          <a:prstGeom prst="rect">
            <a:avLst/>
          </a:prstGeom>
          <a:noFill/>
          <a:ln/>
        </p:spPr>
        <p:txBody>
          <a:bodyPr wrap="square" lIns="0" tIns="0" rIns="0" bIns="0" rtlCol="0" anchor="t"/>
          <a:lstStyle/>
          <a:p>
            <a:pPr algn="ctr" indent="0" marL="0">
              <a:buNone/>
            </a:pPr>
            <a:r>
              <a:rPr lang="en-US" sz="1000" dirty="0">
                <a:solidFill>
                  <a:srgbClr val="513B3C"/>
                </a:solidFill>
                <a:latin typeface="Calibri" pitchFamily="34" charset="0"/>
                <a:ea typeface="Calibri" pitchFamily="34" charset="-122"/>
                <a:cs typeface="Calibri" pitchFamily="34" charset="-120"/>
              </a:rPr>
              <a:t>Final results &amp; report (M4)</a:t>
            </a:r>
            <a:endParaRPr lang="en-US" sz="1000" dirty="0"/>
          </a:p>
        </p:txBody>
      </p:sp>
      <p:sp>
        <p:nvSpPr>
          <p:cNvPr id="31" name="Shape 29"/>
          <p:cNvSpPr/>
          <p:nvPr/>
        </p:nvSpPr>
        <p:spPr>
          <a:xfrm>
            <a:off x="457200" y="3749040"/>
            <a:ext cx="201168" cy="201168"/>
          </a:xfrm>
          <a:prstGeom prst="ellipse">
            <a:avLst/>
          </a:prstGeom>
          <a:solidFill>
            <a:srgbClr val="548687"/>
          </a:solidFill>
          <a:ln w="12700">
            <a:solidFill>
              <a:srgbClr val="548687"/>
            </a:solidFill>
            <a:prstDash val="solid"/>
          </a:ln>
        </p:spPr>
      </p:sp>
      <p:sp>
        <p:nvSpPr>
          <p:cNvPr id="32" name="Text 30"/>
          <p:cNvSpPr txBox="1"/>
          <p:nvPr/>
        </p:nvSpPr>
        <p:spPr>
          <a:xfrm>
            <a:off x="731520" y="3712464"/>
            <a:ext cx="1188720" cy="274320"/>
          </a:xfrm>
          <a:prstGeom prst="rect">
            <a:avLst/>
          </a:prstGeom>
          <a:noFill/>
          <a:ln/>
        </p:spPr>
        <p:txBody>
          <a:bodyPr wrap="square" lIns="0" tIns="0" rIns="0" bIns="0" rtlCol="0" anchor="ctr"/>
          <a:lstStyle/>
          <a:p>
            <a:pPr indent="0" marL="0">
              <a:buNone/>
            </a:pPr>
            <a:r>
              <a:rPr lang="en-US" sz="1100" dirty="0">
                <a:solidFill>
                  <a:srgbClr val="513B3C"/>
                </a:solidFill>
                <a:latin typeface="Calibri" pitchFamily="34" charset="0"/>
                <a:ea typeface="Calibri" pitchFamily="34" charset="-122"/>
                <a:cs typeface="Calibri" pitchFamily="34" charset="-120"/>
              </a:rPr>
              <a:t>Complete</a:t>
            </a:r>
            <a:endParaRPr lang="en-US" sz="1100" dirty="0"/>
          </a:p>
        </p:txBody>
      </p:sp>
      <p:sp>
        <p:nvSpPr>
          <p:cNvPr id="33" name="Shape 31"/>
          <p:cNvSpPr/>
          <p:nvPr/>
        </p:nvSpPr>
        <p:spPr>
          <a:xfrm>
            <a:off x="2011680" y="3749040"/>
            <a:ext cx="201168" cy="201168"/>
          </a:xfrm>
          <a:prstGeom prst="ellipse">
            <a:avLst/>
          </a:prstGeom>
          <a:solidFill>
            <a:srgbClr val="E1B07E"/>
          </a:solidFill>
          <a:ln w="12700">
            <a:solidFill>
              <a:srgbClr val="E1B07E"/>
            </a:solidFill>
            <a:prstDash val="solid"/>
          </a:ln>
        </p:spPr>
      </p:sp>
      <p:sp>
        <p:nvSpPr>
          <p:cNvPr id="34" name="Text 32"/>
          <p:cNvSpPr txBox="1"/>
          <p:nvPr/>
        </p:nvSpPr>
        <p:spPr>
          <a:xfrm>
            <a:off x="2286000" y="3712464"/>
            <a:ext cx="1188720" cy="274320"/>
          </a:xfrm>
          <a:prstGeom prst="rect">
            <a:avLst/>
          </a:prstGeom>
          <a:noFill/>
          <a:ln/>
        </p:spPr>
        <p:txBody>
          <a:bodyPr wrap="square" lIns="0" tIns="0" rIns="0" bIns="0" rtlCol="0" anchor="ctr"/>
          <a:lstStyle/>
          <a:p>
            <a:pPr indent="0" marL="0">
              <a:buNone/>
            </a:pPr>
            <a:r>
              <a:rPr lang="en-US" sz="1100" dirty="0">
                <a:solidFill>
                  <a:srgbClr val="513B3C"/>
                </a:solidFill>
                <a:latin typeface="Calibri" pitchFamily="34" charset="0"/>
                <a:ea typeface="Calibri" pitchFamily="34" charset="-122"/>
                <a:cs typeface="Calibri" pitchFamily="34" charset="-120"/>
              </a:rPr>
              <a:t>In progress</a:t>
            </a:r>
            <a:endParaRPr lang="en-US" sz="1100" dirty="0"/>
          </a:p>
        </p:txBody>
      </p:sp>
      <p:sp>
        <p:nvSpPr>
          <p:cNvPr id="35" name="Shape 33"/>
          <p:cNvSpPr/>
          <p:nvPr/>
        </p:nvSpPr>
        <p:spPr>
          <a:xfrm>
            <a:off x="3566160" y="3749040"/>
            <a:ext cx="201168" cy="201168"/>
          </a:xfrm>
          <a:prstGeom prst="ellipse">
            <a:avLst/>
          </a:prstGeom>
          <a:solidFill>
            <a:srgbClr val="513B3C"/>
          </a:solidFill>
          <a:ln w="12700">
            <a:solidFill>
              <a:srgbClr val="513B3C"/>
            </a:solidFill>
            <a:prstDash val="solid"/>
          </a:ln>
        </p:spPr>
      </p:sp>
      <p:sp>
        <p:nvSpPr>
          <p:cNvPr id="36" name="Text 34"/>
          <p:cNvSpPr txBox="1"/>
          <p:nvPr/>
        </p:nvSpPr>
        <p:spPr>
          <a:xfrm>
            <a:off x="3840480" y="3712464"/>
            <a:ext cx="1188720" cy="274320"/>
          </a:xfrm>
          <a:prstGeom prst="rect">
            <a:avLst/>
          </a:prstGeom>
          <a:noFill/>
          <a:ln/>
        </p:spPr>
        <p:txBody>
          <a:bodyPr wrap="square" lIns="0" tIns="0" rIns="0" bIns="0" rtlCol="0" anchor="ctr"/>
          <a:lstStyle/>
          <a:p>
            <a:pPr indent="0" marL="0">
              <a:buNone/>
            </a:pPr>
            <a:r>
              <a:rPr lang="en-US" sz="1100" dirty="0">
                <a:solidFill>
                  <a:srgbClr val="513B3C"/>
                </a:solidFill>
                <a:latin typeface="Calibri" pitchFamily="34" charset="0"/>
                <a:ea typeface="Calibri" pitchFamily="34" charset="-122"/>
                <a:cs typeface="Calibri" pitchFamily="34" charset="-120"/>
              </a:rPr>
              <a:t>We are here</a:t>
            </a:r>
            <a:endParaRPr lang="en-US" sz="1100" dirty="0"/>
          </a:p>
        </p:txBody>
      </p:sp>
      <p:sp>
        <p:nvSpPr>
          <p:cNvPr id="37" name="Shape 35"/>
          <p:cNvSpPr/>
          <p:nvPr/>
        </p:nvSpPr>
        <p:spPr>
          <a:xfrm>
            <a:off x="5120640" y="3749040"/>
            <a:ext cx="201168" cy="201168"/>
          </a:xfrm>
          <a:prstGeom prst="ellipse">
            <a:avLst/>
          </a:prstGeom>
          <a:solidFill>
            <a:srgbClr val="FFFFFF"/>
          </a:solidFill>
          <a:ln w="12700">
            <a:solidFill>
              <a:srgbClr val="7D6A6B"/>
            </a:solidFill>
            <a:prstDash val="solid"/>
          </a:ln>
        </p:spPr>
      </p:sp>
      <p:sp>
        <p:nvSpPr>
          <p:cNvPr id="38" name="Text 36"/>
          <p:cNvSpPr txBox="1"/>
          <p:nvPr/>
        </p:nvSpPr>
        <p:spPr>
          <a:xfrm>
            <a:off x="5394960" y="3712464"/>
            <a:ext cx="1188720" cy="274320"/>
          </a:xfrm>
          <a:prstGeom prst="rect">
            <a:avLst/>
          </a:prstGeom>
          <a:noFill/>
          <a:ln/>
        </p:spPr>
        <p:txBody>
          <a:bodyPr wrap="square" lIns="0" tIns="0" rIns="0" bIns="0" rtlCol="0" anchor="ctr"/>
          <a:lstStyle/>
          <a:p>
            <a:pPr indent="0" marL="0">
              <a:buNone/>
            </a:pPr>
            <a:r>
              <a:rPr lang="en-US" sz="1100" dirty="0">
                <a:solidFill>
                  <a:srgbClr val="513B3C"/>
                </a:solidFill>
                <a:latin typeface="Calibri" pitchFamily="34" charset="0"/>
                <a:ea typeface="Calibri" pitchFamily="34" charset="-122"/>
                <a:cs typeface="Calibri" pitchFamily="34" charset="-120"/>
              </a:rPr>
              <a:t>Planned</a:t>
            </a:r>
            <a:endParaRPr lang="en-US" sz="1100" dirty="0"/>
          </a:p>
        </p:txBody>
      </p:sp>
      <p:sp>
        <p:nvSpPr>
          <p:cNvPr id="39" name="Shape 37"/>
          <p:cNvSpPr/>
          <p:nvPr/>
        </p:nvSpPr>
        <p:spPr>
          <a:xfrm>
            <a:off x="457200" y="4160520"/>
            <a:ext cx="8229600" cy="457200"/>
          </a:xfrm>
          <a:prstGeom prst="roundRect">
            <a:avLst>
              <a:gd name="adj" fmla="val 16000"/>
            </a:avLst>
          </a:prstGeom>
          <a:solidFill>
            <a:srgbClr val="F6E7DB"/>
          </a:solidFill>
          <a:ln w="12700">
            <a:solidFill>
              <a:srgbClr val="F6E7DB"/>
            </a:solidFill>
            <a:prstDash val="solid"/>
          </a:ln>
        </p:spPr>
      </p:sp>
      <p:sp>
        <p:nvSpPr>
          <p:cNvPr id="40" name="Text 38"/>
          <p:cNvSpPr txBox="1"/>
          <p:nvPr/>
        </p:nvSpPr>
        <p:spPr>
          <a:xfrm>
            <a:off x="640080" y="4160520"/>
            <a:ext cx="7863840" cy="457200"/>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M1 and M2 are complete. M3 (tier-2 with deopt) is slightly behind — Ehsan covers the plan to catch up.</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513B3C"/>
        </a:solidFill>
      </p:bgPr>
    </p:bg>
    <p:spTree>
      <p:nvGrpSpPr>
        <p:cNvPr id="1" name=""/>
        <p:cNvGrpSpPr/>
        <p:nvPr/>
      </p:nvGrpSpPr>
      <p:grpSpPr>
        <a:xfrm>
          <a:off x="0" y="0"/>
          <a:ext cx="0" cy="0"/>
          <a:chOff x="0" y="0"/>
          <a:chExt cx="0" cy="0"/>
        </a:xfrm>
      </p:grpSpPr>
      <p:sp>
        <p:nvSpPr>
          <p:cNvPr id="2" name="Text 0"/>
          <p:cNvSpPr txBox="1"/>
          <p:nvPr/>
        </p:nvSpPr>
        <p:spPr>
          <a:xfrm>
            <a:off x="548640" y="822960"/>
            <a:ext cx="2286000" cy="1371600"/>
          </a:xfrm>
          <a:prstGeom prst="rect">
            <a:avLst/>
          </a:prstGeom>
          <a:noFill/>
          <a:ln/>
        </p:spPr>
        <p:txBody>
          <a:bodyPr wrap="square" lIns="0" tIns="0" rIns="0" bIns="0" rtlCol="0" anchor="ctr"/>
          <a:lstStyle/>
          <a:p>
            <a:pPr indent="0" marL="0">
              <a:buNone/>
            </a:pPr>
            <a:r>
              <a:rPr lang="en-US" sz="8800" b="1" dirty="0">
                <a:solidFill>
                  <a:srgbClr val="E1B07E"/>
                </a:solidFill>
                <a:latin typeface="Cambria" pitchFamily="34" charset="0"/>
                <a:ea typeface="Cambria" pitchFamily="34" charset="-122"/>
                <a:cs typeface="Cambria" pitchFamily="34" charset="-120"/>
              </a:rPr>
              <a:t>03</a:t>
            </a:r>
            <a:endParaRPr lang="en-US" sz="8800" dirty="0"/>
          </a:p>
        </p:txBody>
      </p:sp>
      <p:sp>
        <p:nvSpPr>
          <p:cNvPr id="3" name="Text 1"/>
          <p:cNvSpPr txBox="1"/>
          <p:nvPr/>
        </p:nvSpPr>
        <p:spPr>
          <a:xfrm>
            <a:off x="548640" y="2240280"/>
            <a:ext cx="45720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Mayan Manit</a:t>
            </a:r>
            <a:endParaRPr lang="en-US" sz="2800" dirty="0"/>
          </a:p>
        </p:txBody>
      </p:sp>
      <p:sp>
        <p:nvSpPr>
          <p:cNvPr id="4" name="Text 2"/>
          <p:cNvSpPr txBox="1"/>
          <p:nvPr/>
        </p:nvSpPr>
        <p:spPr>
          <a:xfrm>
            <a:off x="548640" y="2788920"/>
            <a:ext cx="4572000" cy="365760"/>
          </a:xfrm>
          <a:prstGeom prst="rect">
            <a:avLst/>
          </a:prstGeom>
          <a:noFill/>
          <a:ln/>
        </p:spPr>
        <p:txBody>
          <a:bodyPr wrap="square" lIns="0" tIns="0" rIns="0" bIns="0" rtlCol="0" anchor="ctr"/>
          <a:lstStyle/>
          <a:p>
            <a:pPr indent="0" marL="0">
              <a:buNone/>
            </a:pPr>
            <a:r>
              <a:rPr lang="en-US" sz="1600" dirty="0">
                <a:solidFill>
                  <a:srgbClr val="E5BE9E"/>
                </a:solidFill>
                <a:latin typeface="Calibri" pitchFamily="34" charset="0"/>
                <a:ea typeface="Calibri" pitchFamily="34" charset="-122"/>
                <a:cs typeface="Calibri" pitchFamily="34" charset="-120"/>
              </a:rPr>
              <a:t>Inline Cache Integration &amp; Hit Rate</a:t>
            </a:r>
            <a:endParaRPr lang="en-US" sz="1600" dirty="0"/>
          </a:p>
        </p:txBody>
      </p:sp>
      <p:sp>
        <p:nvSpPr>
          <p:cNvPr id="5" name="Shape 3"/>
          <p:cNvSpPr/>
          <p:nvPr/>
        </p:nvSpPr>
        <p:spPr>
          <a:xfrm>
            <a:off x="5394960" y="1097280"/>
            <a:ext cx="3291840" cy="2926080"/>
          </a:xfrm>
          <a:prstGeom prst="roundRect">
            <a:avLst>
              <a:gd name="adj" fmla="val 2500"/>
            </a:avLst>
          </a:prstGeom>
          <a:solidFill>
            <a:srgbClr val="5E4748"/>
          </a:solidFill>
          <a:ln w="12700">
            <a:solidFill>
              <a:srgbClr val="5E4748"/>
            </a:solidFill>
            <a:prstDash val="solid"/>
          </a:ln>
        </p:spPr>
      </p:sp>
      <p:sp>
        <p:nvSpPr>
          <p:cNvPr id="6" name="Text 4"/>
          <p:cNvSpPr txBox="1"/>
          <p:nvPr/>
        </p:nvSpPr>
        <p:spPr>
          <a:xfrm>
            <a:off x="5669280" y="1325880"/>
            <a:ext cx="2743200" cy="274320"/>
          </a:xfrm>
          <a:prstGeom prst="rect">
            <a:avLst/>
          </a:prstGeom>
          <a:noFill/>
          <a:ln/>
        </p:spPr>
        <p:txBody>
          <a:bodyPr wrap="square" lIns="0" tIns="0" rIns="0" bIns="0" rtlCol="0" anchor="ctr"/>
          <a:lstStyle/>
          <a:p>
            <a:pPr indent="0" marL="0">
              <a:buNone/>
            </a:pPr>
            <a:r>
              <a:rPr lang="en-US" sz="1100" b="1" spc="200" kern="0" dirty="0">
                <a:solidFill>
                  <a:srgbClr val="E1B07E"/>
                </a:solidFill>
                <a:latin typeface="Calibri" pitchFamily="34" charset="0"/>
                <a:ea typeface="Calibri" pitchFamily="34" charset="-122"/>
                <a:cs typeface="Calibri" pitchFamily="34" charset="-120"/>
              </a:rPr>
              <a:t>IN THIS SECTION</a:t>
            </a:r>
            <a:endParaRPr lang="en-US" sz="1100" dirty="0"/>
          </a:p>
        </p:txBody>
      </p:sp>
      <p:sp>
        <p:nvSpPr>
          <p:cNvPr id="7" name="Text 5"/>
          <p:cNvSpPr txBox="1"/>
          <p:nvPr/>
        </p:nvSpPr>
        <p:spPr>
          <a:xfrm>
            <a:off x="5669280" y="1737360"/>
            <a:ext cx="28346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The inline-cache state machine</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Measured hit rates</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Preliminary performance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12</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The inline-cache state machine</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3 · MAYAN</a:t>
            </a:r>
            <a:endParaRPr lang="en-US" sz="1000" dirty="0"/>
          </a:p>
        </p:txBody>
      </p:sp>
      <p:sp>
        <p:nvSpPr>
          <p:cNvPr id="6" name="Text 4"/>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250" i="1" dirty="0">
                <a:solidFill>
                  <a:srgbClr val="7D6A6B"/>
                </a:solidFill>
                <a:latin typeface="Calibri" pitchFamily="34" charset="0"/>
                <a:ea typeface="Calibri" pitchFamily="34" charset="-122"/>
                <a:cs typeface="Calibri" pitchFamily="34" charset="-120"/>
              </a:rPr>
              <a:t>Each GETFIELD site remembers “objects of shape S keep field x at slot k” — so it can skip scanning all field names.</a:t>
            </a:r>
            <a:endParaRPr lang="en-US" sz="1250" dirty="0"/>
          </a:p>
        </p:txBody>
      </p:sp>
      <p:sp>
        <p:nvSpPr>
          <p:cNvPr id="7" name="Shape 5"/>
          <p:cNvSpPr/>
          <p:nvPr/>
        </p:nvSpPr>
        <p:spPr>
          <a:xfrm>
            <a:off x="685800" y="1508760"/>
            <a:ext cx="1097280" cy="1097280"/>
          </a:xfrm>
          <a:prstGeom prst="ellipse">
            <a:avLst/>
          </a:prstGeom>
          <a:solidFill>
            <a:srgbClr val="C1EEFF"/>
          </a:solidFill>
          <a:ln w="12700">
            <a:solidFill>
              <a:srgbClr val="C1EEFF"/>
            </a:solidFill>
            <a:prstDash val="solid"/>
          </a:ln>
        </p:spPr>
      </p:sp>
      <p:sp>
        <p:nvSpPr>
          <p:cNvPr id="8" name="Text 6"/>
          <p:cNvSpPr txBox="1"/>
          <p:nvPr/>
        </p:nvSpPr>
        <p:spPr>
          <a:xfrm>
            <a:off x="685800" y="1508760"/>
            <a:ext cx="1097280" cy="1097280"/>
          </a:xfrm>
          <a:prstGeom prst="rect">
            <a:avLst/>
          </a:prstGeom>
          <a:noFill/>
          <a:ln/>
        </p:spPr>
        <p:txBody>
          <a:bodyPr wrap="square" lIns="0" tIns="0" rIns="0" bIns="0" rtlCol="0" anchor="ctr"/>
          <a:lstStyle/>
          <a:p>
            <a:pPr algn="ctr" indent="0" marL="0">
              <a:buNone/>
            </a:pPr>
            <a:r>
              <a:rPr lang="en-US" sz="1300" b="1" dirty="0">
                <a:solidFill>
                  <a:srgbClr val="513B3C"/>
                </a:solidFill>
                <a:latin typeface="Cambria" pitchFamily="34" charset="0"/>
                <a:ea typeface="Cambria" pitchFamily="34" charset="-122"/>
                <a:cs typeface="Cambria" pitchFamily="34" charset="-120"/>
              </a:rPr>
              <a:t>UNINIT</a:t>
            </a:r>
            <a:endParaRPr lang="en-US" sz="1300" dirty="0"/>
          </a:p>
        </p:txBody>
      </p:sp>
      <p:sp>
        <p:nvSpPr>
          <p:cNvPr id="9" name="Text 7"/>
          <p:cNvSpPr txBox="1"/>
          <p:nvPr/>
        </p:nvSpPr>
        <p:spPr>
          <a:xfrm>
            <a:off x="365760" y="2697480"/>
            <a:ext cx="1737360" cy="548640"/>
          </a:xfrm>
          <a:prstGeom prst="rect">
            <a:avLst/>
          </a:prstGeom>
          <a:noFill/>
          <a:ln/>
        </p:spPr>
        <p:txBody>
          <a:bodyPr wrap="square" lIns="0" tIns="0" rIns="0" bIns="0" rtlCol="0" anchor="t"/>
          <a:lstStyle/>
          <a:p>
            <a:pPr algn="ctr" indent="0" marL="0">
              <a:buNone/>
            </a:pPr>
            <a:r>
              <a:rPr lang="en-US" sz="1100" dirty="0">
                <a:solidFill>
                  <a:srgbClr val="513B3C"/>
                </a:solidFill>
                <a:latin typeface="Calibri" pitchFamily="34" charset="0"/>
                <a:ea typeface="Calibri" pitchFamily="34" charset="-122"/>
                <a:cs typeface="Calibri" pitchFamily="34" charset="-120"/>
              </a:rPr>
              <a:t>Never executed</a:t>
            </a:r>
            <a:endParaRPr lang="en-US" sz="1100" dirty="0"/>
          </a:p>
        </p:txBody>
      </p:sp>
      <p:sp>
        <p:nvSpPr>
          <p:cNvPr id="10" name="Shape 8"/>
          <p:cNvSpPr/>
          <p:nvPr/>
        </p:nvSpPr>
        <p:spPr>
          <a:xfrm>
            <a:off x="1828800" y="2057400"/>
            <a:ext cx="914400" cy="0"/>
          </a:xfrm>
          <a:prstGeom prst="line">
            <a:avLst/>
          </a:prstGeom>
          <a:noFill/>
          <a:ln w="22225">
            <a:solidFill>
              <a:srgbClr val="7D6A6B"/>
            </a:solidFill>
            <a:prstDash val="solid"/>
            <a:tailEnd type="triangle"/>
          </a:ln>
        </p:spPr>
      </p:sp>
      <p:sp>
        <p:nvSpPr>
          <p:cNvPr id="11" name="Text 9"/>
          <p:cNvSpPr txBox="1"/>
          <p:nvPr/>
        </p:nvSpPr>
        <p:spPr>
          <a:xfrm>
            <a:off x="1783080" y="1737360"/>
            <a:ext cx="1005840" cy="256032"/>
          </a:xfrm>
          <a:prstGeom prst="rect">
            <a:avLst/>
          </a:prstGeom>
          <a:noFill/>
          <a:ln/>
        </p:spPr>
        <p:txBody>
          <a:bodyPr wrap="square" lIns="0" tIns="0" rIns="0" bIns="0" rtlCol="0" anchor="ctr"/>
          <a:lstStyle/>
          <a:p>
            <a:pPr algn="ctr" indent="0" marL="0">
              <a:buNone/>
            </a:pPr>
            <a:r>
              <a:rPr lang="en-US" sz="1000" i="1" dirty="0">
                <a:solidFill>
                  <a:srgbClr val="7D6A6B"/>
                </a:solidFill>
                <a:latin typeface="Calibri" pitchFamily="34" charset="0"/>
                <a:ea typeface="Calibri" pitchFamily="34" charset="-122"/>
                <a:cs typeface="Calibri" pitchFamily="34" charset="-120"/>
              </a:rPr>
              <a:t>1st shape</a:t>
            </a:r>
            <a:endParaRPr lang="en-US" sz="1000" dirty="0"/>
          </a:p>
        </p:txBody>
      </p:sp>
      <p:sp>
        <p:nvSpPr>
          <p:cNvPr id="12" name="Shape 10"/>
          <p:cNvSpPr/>
          <p:nvPr/>
        </p:nvSpPr>
        <p:spPr>
          <a:xfrm>
            <a:off x="2788920" y="1508760"/>
            <a:ext cx="1097280" cy="1097280"/>
          </a:xfrm>
          <a:prstGeom prst="ellipse">
            <a:avLst/>
          </a:prstGeom>
          <a:solidFill>
            <a:srgbClr val="548687"/>
          </a:solidFill>
          <a:ln w="12700">
            <a:solidFill>
              <a:srgbClr val="548687"/>
            </a:solidFill>
            <a:prstDash val="solid"/>
          </a:ln>
        </p:spPr>
      </p:sp>
      <p:sp>
        <p:nvSpPr>
          <p:cNvPr id="13" name="Text 11"/>
          <p:cNvSpPr txBox="1"/>
          <p:nvPr/>
        </p:nvSpPr>
        <p:spPr>
          <a:xfrm>
            <a:off x="2788920" y="1508760"/>
            <a:ext cx="1097280" cy="109728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MONO</a:t>
            </a:r>
            <a:endParaRPr lang="en-US" sz="1300" dirty="0"/>
          </a:p>
        </p:txBody>
      </p:sp>
      <p:sp>
        <p:nvSpPr>
          <p:cNvPr id="14" name="Text 12"/>
          <p:cNvSpPr txBox="1"/>
          <p:nvPr/>
        </p:nvSpPr>
        <p:spPr>
          <a:xfrm>
            <a:off x="2468880" y="2697480"/>
            <a:ext cx="1737360" cy="548640"/>
          </a:xfrm>
          <a:prstGeom prst="rect">
            <a:avLst/>
          </a:prstGeom>
          <a:noFill/>
          <a:ln/>
        </p:spPr>
        <p:txBody>
          <a:bodyPr wrap="square" lIns="0" tIns="0" rIns="0" bIns="0" rtlCol="0" anchor="t"/>
          <a:lstStyle/>
          <a:p>
            <a:pPr algn="ctr" indent="0" marL="0">
              <a:buNone/>
            </a:pPr>
            <a:r>
              <a:rPr lang="en-US" sz="1100" dirty="0">
                <a:solidFill>
                  <a:srgbClr val="513B3C"/>
                </a:solidFill>
                <a:latin typeface="Calibri" pitchFamily="34" charset="0"/>
                <a:ea typeface="Calibri" pitchFamily="34" charset="-122"/>
                <a:cs typeface="Calibri" pitchFamily="34" charset="-120"/>
              </a:rPr>
              <a:t>1 shape: one check, direct read</a:t>
            </a:r>
            <a:endParaRPr lang="en-US" sz="1100" dirty="0"/>
          </a:p>
        </p:txBody>
      </p:sp>
      <p:sp>
        <p:nvSpPr>
          <p:cNvPr id="15" name="Shape 13"/>
          <p:cNvSpPr/>
          <p:nvPr/>
        </p:nvSpPr>
        <p:spPr>
          <a:xfrm>
            <a:off x="3931920" y="2057400"/>
            <a:ext cx="914400" cy="0"/>
          </a:xfrm>
          <a:prstGeom prst="line">
            <a:avLst/>
          </a:prstGeom>
          <a:noFill/>
          <a:ln w="22225">
            <a:solidFill>
              <a:srgbClr val="7D6A6B"/>
            </a:solidFill>
            <a:prstDash val="solid"/>
            <a:tailEnd type="triangle"/>
          </a:ln>
        </p:spPr>
      </p:sp>
      <p:sp>
        <p:nvSpPr>
          <p:cNvPr id="16" name="Text 14"/>
          <p:cNvSpPr txBox="1"/>
          <p:nvPr/>
        </p:nvSpPr>
        <p:spPr>
          <a:xfrm>
            <a:off x="3886200" y="1737360"/>
            <a:ext cx="1005840" cy="256032"/>
          </a:xfrm>
          <a:prstGeom prst="rect">
            <a:avLst/>
          </a:prstGeom>
          <a:noFill/>
          <a:ln/>
        </p:spPr>
        <p:txBody>
          <a:bodyPr wrap="square" lIns="0" tIns="0" rIns="0" bIns="0" rtlCol="0" anchor="ctr"/>
          <a:lstStyle/>
          <a:p>
            <a:pPr algn="ctr" indent="0" marL="0">
              <a:buNone/>
            </a:pPr>
            <a:r>
              <a:rPr lang="en-US" sz="1000" i="1" dirty="0">
                <a:solidFill>
                  <a:srgbClr val="7D6A6B"/>
                </a:solidFill>
                <a:latin typeface="Calibri" pitchFamily="34" charset="0"/>
                <a:ea typeface="Calibri" pitchFamily="34" charset="-122"/>
                <a:cs typeface="Calibri" pitchFamily="34" charset="-120"/>
              </a:rPr>
              <a:t>new shape</a:t>
            </a:r>
            <a:endParaRPr lang="en-US" sz="1000" dirty="0"/>
          </a:p>
        </p:txBody>
      </p:sp>
      <p:sp>
        <p:nvSpPr>
          <p:cNvPr id="17" name="Shape 15"/>
          <p:cNvSpPr/>
          <p:nvPr/>
        </p:nvSpPr>
        <p:spPr>
          <a:xfrm>
            <a:off x="4892040" y="1508760"/>
            <a:ext cx="1097280" cy="1097280"/>
          </a:xfrm>
          <a:prstGeom prst="ellipse">
            <a:avLst/>
          </a:prstGeom>
          <a:solidFill>
            <a:srgbClr val="E1B07E"/>
          </a:solidFill>
          <a:ln w="12700">
            <a:solidFill>
              <a:srgbClr val="E1B07E"/>
            </a:solidFill>
            <a:prstDash val="solid"/>
          </a:ln>
        </p:spPr>
      </p:sp>
      <p:sp>
        <p:nvSpPr>
          <p:cNvPr id="18" name="Text 16"/>
          <p:cNvSpPr txBox="1"/>
          <p:nvPr/>
        </p:nvSpPr>
        <p:spPr>
          <a:xfrm>
            <a:off x="4892040" y="1508760"/>
            <a:ext cx="1097280" cy="1097280"/>
          </a:xfrm>
          <a:prstGeom prst="rect">
            <a:avLst/>
          </a:prstGeom>
          <a:noFill/>
          <a:ln/>
        </p:spPr>
        <p:txBody>
          <a:bodyPr wrap="square" lIns="0" tIns="0" rIns="0" bIns="0" rtlCol="0" anchor="ctr"/>
          <a:lstStyle/>
          <a:p>
            <a:pPr algn="ctr" indent="0" marL="0">
              <a:buNone/>
            </a:pPr>
            <a:r>
              <a:rPr lang="en-US" sz="1300" b="1" dirty="0">
                <a:solidFill>
                  <a:srgbClr val="513B3C"/>
                </a:solidFill>
                <a:latin typeface="Cambria" pitchFamily="34" charset="0"/>
                <a:ea typeface="Cambria" pitchFamily="34" charset="-122"/>
                <a:cs typeface="Cambria" pitchFamily="34" charset="-120"/>
              </a:rPr>
              <a:t>POLY</a:t>
            </a:r>
            <a:endParaRPr lang="en-US" sz="1300" dirty="0"/>
          </a:p>
        </p:txBody>
      </p:sp>
      <p:sp>
        <p:nvSpPr>
          <p:cNvPr id="19" name="Text 17"/>
          <p:cNvSpPr txBox="1"/>
          <p:nvPr/>
        </p:nvSpPr>
        <p:spPr>
          <a:xfrm>
            <a:off x="4572000" y="2697480"/>
            <a:ext cx="1737360" cy="548640"/>
          </a:xfrm>
          <a:prstGeom prst="rect">
            <a:avLst/>
          </a:prstGeom>
          <a:noFill/>
          <a:ln/>
        </p:spPr>
        <p:txBody>
          <a:bodyPr wrap="square" lIns="0" tIns="0" rIns="0" bIns="0" rtlCol="0" anchor="t"/>
          <a:lstStyle/>
          <a:p>
            <a:pPr algn="ctr" indent="0" marL="0">
              <a:buNone/>
            </a:pPr>
            <a:r>
              <a:rPr lang="en-US" sz="1100" dirty="0">
                <a:solidFill>
                  <a:srgbClr val="513B3C"/>
                </a:solidFill>
                <a:latin typeface="Calibri" pitchFamily="34" charset="0"/>
                <a:ea typeface="Calibri" pitchFamily="34" charset="-122"/>
                <a:cs typeface="Calibri" pitchFamily="34" charset="-120"/>
              </a:rPr>
              <a:t>2–4 shapes: short list of checks</a:t>
            </a:r>
            <a:endParaRPr lang="en-US" sz="1100" dirty="0"/>
          </a:p>
        </p:txBody>
      </p:sp>
      <p:sp>
        <p:nvSpPr>
          <p:cNvPr id="20" name="Shape 18"/>
          <p:cNvSpPr/>
          <p:nvPr/>
        </p:nvSpPr>
        <p:spPr>
          <a:xfrm>
            <a:off x="6035040" y="2057400"/>
            <a:ext cx="914400" cy="0"/>
          </a:xfrm>
          <a:prstGeom prst="line">
            <a:avLst/>
          </a:prstGeom>
          <a:noFill/>
          <a:ln w="22225">
            <a:solidFill>
              <a:srgbClr val="7D6A6B"/>
            </a:solidFill>
            <a:prstDash val="solid"/>
            <a:tailEnd type="triangle"/>
          </a:ln>
        </p:spPr>
      </p:sp>
      <p:sp>
        <p:nvSpPr>
          <p:cNvPr id="21" name="Text 19"/>
          <p:cNvSpPr txBox="1"/>
          <p:nvPr/>
        </p:nvSpPr>
        <p:spPr>
          <a:xfrm>
            <a:off x="5989320" y="1737360"/>
            <a:ext cx="1005840" cy="256032"/>
          </a:xfrm>
          <a:prstGeom prst="rect">
            <a:avLst/>
          </a:prstGeom>
          <a:noFill/>
          <a:ln/>
        </p:spPr>
        <p:txBody>
          <a:bodyPr wrap="square" lIns="0" tIns="0" rIns="0" bIns="0" rtlCol="0" anchor="ctr"/>
          <a:lstStyle/>
          <a:p>
            <a:pPr algn="ctr" indent="0" marL="0">
              <a:buNone/>
            </a:pPr>
            <a:r>
              <a:rPr lang="en-US" sz="1000" i="1" dirty="0">
                <a:solidFill>
                  <a:srgbClr val="7D6A6B"/>
                </a:solidFill>
                <a:latin typeface="Calibri" pitchFamily="34" charset="0"/>
                <a:ea typeface="Calibri" pitchFamily="34" charset="-122"/>
                <a:cs typeface="Calibri" pitchFamily="34" charset="-120"/>
              </a:rPr>
              <a:t>5th shape</a:t>
            </a:r>
            <a:endParaRPr lang="en-US" sz="1000" dirty="0"/>
          </a:p>
        </p:txBody>
      </p:sp>
      <p:sp>
        <p:nvSpPr>
          <p:cNvPr id="22" name="Shape 20"/>
          <p:cNvSpPr/>
          <p:nvPr/>
        </p:nvSpPr>
        <p:spPr>
          <a:xfrm>
            <a:off x="6995160" y="1508760"/>
            <a:ext cx="1097280" cy="1097280"/>
          </a:xfrm>
          <a:prstGeom prst="ellipse">
            <a:avLst/>
          </a:prstGeom>
          <a:solidFill>
            <a:srgbClr val="513B3C"/>
          </a:solidFill>
          <a:ln w="12700">
            <a:solidFill>
              <a:srgbClr val="513B3C"/>
            </a:solidFill>
            <a:prstDash val="solid"/>
          </a:ln>
        </p:spPr>
      </p:sp>
      <p:sp>
        <p:nvSpPr>
          <p:cNvPr id="23" name="Text 21"/>
          <p:cNvSpPr txBox="1"/>
          <p:nvPr/>
        </p:nvSpPr>
        <p:spPr>
          <a:xfrm>
            <a:off x="6995160" y="1508760"/>
            <a:ext cx="1097280" cy="109728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MEGA</a:t>
            </a:r>
            <a:endParaRPr lang="en-US" sz="1300" dirty="0"/>
          </a:p>
        </p:txBody>
      </p:sp>
      <p:sp>
        <p:nvSpPr>
          <p:cNvPr id="24" name="Text 22"/>
          <p:cNvSpPr txBox="1"/>
          <p:nvPr/>
        </p:nvSpPr>
        <p:spPr>
          <a:xfrm>
            <a:off x="6675120" y="2697480"/>
            <a:ext cx="1737360" cy="548640"/>
          </a:xfrm>
          <a:prstGeom prst="rect">
            <a:avLst/>
          </a:prstGeom>
          <a:noFill/>
          <a:ln/>
        </p:spPr>
        <p:txBody>
          <a:bodyPr wrap="square" lIns="0" tIns="0" rIns="0" bIns="0" rtlCol="0" anchor="t"/>
          <a:lstStyle/>
          <a:p>
            <a:pPr algn="ctr" indent="0" marL="0">
              <a:buNone/>
            </a:pPr>
            <a:r>
              <a:rPr lang="en-US" sz="1100" dirty="0">
                <a:solidFill>
                  <a:srgbClr val="513B3C"/>
                </a:solidFill>
                <a:latin typeface="Calibri" pitchFamily="34" charset="0"/>
                <a:ea typeface="Calibri" pitchFamily="34" charset="-122"/>
                <a:cs typeface="Calibri" pitchFamily="34" charset="-120"/>
              </a:rPr>
              <a:t>5+ shapes: 4-slot shared table, FIFO eviction</a:t>
            </a:r>
            <a:endParaRPr lang="en-US" sz="1100" dirty="0"/>
          </a:p>
        </p:txBody>
      </p:sp>
      <p:sp>
        <p:nvSpPr>
          <p:cNvPr id="25" name="Shape 23"/>
          <p:cNvSpPr/>
          <p:nvPr/>
        </p:nvSpPr>
        <p:spPr>
          <a:xfrm>
            <a:off x="457200" y="3520440"/>
            <a:ext cx="2606040" cy="1005840"/>
          </a:xfrm>
          <a:prstGeom prst="roundRect">
            <a:avLst>
              <a:gd name="adj" fmla="val 7273"/>
            </a:avLst>
          </a:prstGeom>
          <a:solidFill>
            <a:srgbClr val="E6F8FF"/>
          </a:solidFill>
          <a:ln w="12700">
            <a:solidFill>
              <a:srgbClr val="E6F8FF"/>
            </a:solidFill>
            <a:prstDash val="solid"/>
          </a:ln>
        </p:spPr>
      </p:sp>
      <p:sp>
        <p:nvSpPr>
          <p:cNvPr id="26" name="Text 24"/>
          <p:cNvSpPr txBox="1"/>
          <p:nvPr/>
        </p:nvSpPr>
        <p:spPr>
          <a:xfrm>
            <a:off x="640080" y="3611880"/>
            <a:ext cx="2286000" cy="274320"/>
          </a:xfrm>
          <a:prstGeom prst="rect">
            <a:avLst/>
          </a:prstGeom>
          <a:noFill/>
          <a:ln/>
        </p:spPr>
        <p:txBody>
          <a:bodyPr wrap="square" lIns="0" tIns="0" rIns="0" bIns="0" rtlCol="0" anchor="ctr"/>
          <a:lstStyle/>
          <a:p>
            <a:pPr indent="0" marL="0">
              <a:buNone/>
            </a:pPr>
            <a:r>
              <a:rPr lang="en-US" sz="1300" b="1" dirty="0">
                <a:solidFill>
                  <a:srgbClr val="548687"/>
                </a:solidFill>
                <a:latin typeface="Calibri" pitchFamily="34" charset="0"/>
                <a:ea typeface="Calibri" pitchFamily="34" charset="-122"/>
                <a:cs typeface="Calibri" pitchFamily="34" charset="-120"/>
              </a:rPr>
              <a:t>IC1  </a:t>
            </a:r>
            <a:pPr indent="0" marL="0">
              <a:buNone/>
            </a:pPr>
            <a:r>
              <a:rPr lang="en-US" sz="1000" b="1" dirty="0">
                <a:solidFill>
                  <a:srgbClr val="548687"/>
                </a:solidFill>
                <a:latin typeface="Calibri" pitchFamily="34" charset="0"/>
                <a:ea typeface="Calibri" pitchFamily="34" charset="-122"/>
                <a:cs typeface="Calibri" pitchFamily="34" charset="-120"/>
              </a:rPr>
              <a:t>PASS</a:t>
            </a:r>
            <a:endParaRPr lang="en-US" sz="1300" dirty="0"/>
          </a:p>
        </p:txBody>
      </p:sp>
      <p:sp>
        <p:nvSpPr>
          <p:cNvPr id="27" name="Text 25"/>
          <p:cNvSpPr txBox="1"/>
          <p:nvPr/>
        </p:nvSpPr>
        <p:spPr>
          <a:xfrm>
            <a:off x="640080" y="3913632"/>
            <a:ext cx="2286000" cy="274320"/>
          </a:xfrm>
          <a:prstGeom prst="rect">
            <a:avLst/>
          </a:prstGeom>
          <a:noFill/>
          <a:ln/>
        </p:spPr>
        <p:txBody>
          <a:bodyPr wrap="square" lIns="0" tIns="0" rIns="0" bIns="0" rtlCol="0" anchor="ctr"/>
          <a:lstStyle/>
          <a:p>
            <a:pPr indent="0" marL="0">
              <a:buNone/>
            </a:pPr>
            <a:r>
              <a:rPr lang="en-US" sz="1200" b="1" dirty="0">
                <a:solidFill>
                  <a:srgbClr val="513B3C"/>
                </a:solidFill>
                <a:latin typeface="Calibri" pitchFamily="34" charset="0"/>
                <a:ea typeface="Calibri" pitchFamily="34" charset="-122"/>
                <a:cs typeface="Calibri" pitchFamily="34" charset="-120"/>
              </a:rPr>
              <a:t>1 shape → MONO</a:t>
            </a:r>
            <a:endParaRPr lang="en-US" sz="1200" dirty="0"/>
          </a:p>
        </p:txBody>
      </p:sp>
      <p:sp>
        <p:nvSpPr>
          <p:cNvPr id="28" name="Text 26"/>
          <p:cNvSpPr txBox="1"/>
          <p:nvPr/>
        </p:nvSpPr>
        <p:spPr>
          <a:xfrm>
            <a:off x="640080" y="4187952"/>
            <a:ext cx="2286000" cy="27432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1 miss in 1,000</a:t>
            </a:r>
            <a:endParaRPr lang="en-US" sz="1100" dirty="0"/>
          </a:p>
        </p:txBody>
      </p:sp>
      <p:sp>
        <p:nvSpPr>
          <p:cNvPr id="29" name="Shape 27"/>
          <p:cNvSpPr/>
          <p:nvPr/>
        </p:nvSpPr>
        <p:spPr>
          <a:xfrm>
            <a:off x="3246120" y="3520440"/>
            <a:ext cx="2606040" cy="1005840"/>
          </a:xfrm>
          <a:prstGeom prst="roundRect">
            <a:avLst>
              <a:gd name="adj" fmla="val 7273"/>
            </a:avLst>
          </a:prstGeom>
          <a:solidFill>
            <a:srgbClr val="E6F8FF"/>
          </a:solidFill>
          <a:ln w="12700">
            <a:solidFill>
              <a:srgbClr val="E6F8FF"/>
            </a:solidFill>
            <a:prstDash val="solid"/>
          </a:ln>
        </p:spPr>
      </p:sp>
      <p:sp>
        <p:nvSpPr>
          <p:cNvPr id="30" name="Text 28"/>
          <p:cNvSpPr txBox="1"/>
          <p:nvPr/>
        </p:nvSpPr>
        <p:spPr>
          <a:xfrm>
            <a:off x="3429000" y="3611880"/>
            <a:ext cx="2286000" cy="274320"/>
          </a:xfrm>
          <a:prstGeom prst="rect">
            <a:avLst/>
          </a:prstGeom>
          <a:noFill/>
          <a:ln/>
        </p:spPr>
        <p:txBody>
          <a:bodyPr wrap="square" lIns="0" tIns="0" rIns="0" bIns="0" rtlCol="0" anchor="ctr"/>
          <a:lstStyle/>
          <a:p>
            <a:pPr indent="0" marL="0">
              <a:buNone/>
            </a:pPr>
            <a:r>
              <a:rPr lang="en-US" sz="1300" b="1" dirty="0">
                <a:solidFill>
                  <a:srgbClr val="548687"/>
                </a:solidFill>
                <a:latin typeface="Calibri" pitchFamily="34" charset="0"/>
                <a:ea typeface="Calibri" pitchFamily="34" charset="-122"/>
                <a:cs typeface="Calibri" pitchFamily="34" charset="-120"/>
              </a:rPr>
              <a:t>IC2  </a:t>
            </a:r>
            <a:pPr indent="0" marL="0">
              <a:buNone/>
            </a:pPr>
            <a:r>
              <a:rPr lang="en-US" sz="1000" b="1" dirty="0">
                <a:solidFill>
                  <a:srgbClr val="548687"/>
                </a:solidFill>
                <a:latin typeface="Calibri" pitchFamily="34" charset="0"/>
                <a:ea typeface="Calibri" pitchFamily="34" charset="-122"/>
                <a:cs typeface="Calibri" pitchFamily="34" charset="-120"/>
              </a:rPr>
              <a:t>PASS</a:t>
            </a:r>
            <a:endParaRPr lang="en-US" sz="1300" dirty="0"/>
          </a:p>
        </p:txBody>
      </p:sp>
      <p:sp>
        <p:nvSpPr>
          <p:cNvPr id="31" name="Text 29"/>
          <p:cNvSpPr txBox="1"/>
          <p:nvPr/>
        </p:nvSpPr>
        <p:spPr>
          <a:xfrm>
            <a:off x="3429000" y="3913632"/>
            <a:ext cx="2286000" cy="274320"/>
          </a:xfrm>
          <a:prstGeom prst="rect">
            <a:avLst/>
          </a:prstGeom>
          <a:noFill/>
          <a:ln/>
        </p:spPr>
        <p:txBody>
          <a:bodyPr wrap="square" lIns="0" tIns="0" rIns="0" bIns="0" rtlCol="0" anchor="ctr"/>
          <a:lstStyle/>
          <a:p>
            <a:pPr indent="0" marL="0">
              <a:buNone/>
            </a:pPr>
            <a:r>
              <a:rPr lang="en-US" sz="1200" b="1" dirty="0">
                <a:solidFill>
                  <a:srgbClr val="513B3C"/>
                </a:solidFill>
                <a:latin typeface="Calibri" pitchFamily="34" charset="0"/>
                <a:ea typeface="Calibri" pitchFamily="34" charset="-122"/>
                <a:cs typeface="Calibri" pitchFamily="34" charset="-120"/>
              </a:rPr>
              <a:t>3 shapes → POLY</a:t>
            </a:r>
            <a:endParaRPr lang="en-US" sz="1200" dirty="0"/>
          </a:p>
        </p:txBody>
      </p:sp>
      <p:sp>
        <p:nvSpPr>
          <p:cNvPr id="32" name="Text 30"/>
          <p:cNvSpPr txBox="1"/>
          <p:nvPr/>
        </p:nvSpPr>
        <p:spPr>
          <a:xfrm>
            <a:off x="3429000" y="4187952"/>
            <a:ext cx="2286000" cy="27432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3 misses in 1,000</a:t>
            </a:r>
            <a:endParaRPr lang="en-US" sz="1100" dirty="0"/>
          </a:p>
        </p:txBody>
      </p:sp>
      <p:sp>
        <p:nvSpPr>
          <p:cNvPr id="33" name="Shape 31"/>
          <p:cNvSpPr/>
          <p:nvPr/>
        </p:nvSpPr>
        <p:spPr>
          <a:xfrm>
            <a:off x="6035040" y="3520440"/>
            <a:ext cx="2606040" cy="1005840"/>
          </a:xfrm>
          <a:prstGeom prst="roundRect">
            <a:avLst>
              <a:gd name="adj" fmla="val 7273"/>
            </a:avLst>
          </a:prstGeom>
          <a:solidFill>
            <a:srgbClr val="E6F8FF"/>
          </a:solidFill>
          <a:ln w="12700">
            <a:solidFill>
              <a:srgbClr val="E6F8FF"/>
            </a:solidFill>
            <a:prstDash val="solid"/>
          </a:ln>
        </p:spPr>
      </p:sp>
      <p:sp>
        <p:nvSpPr>
          <p:cNvPr id="34" name="Text 32"/>
          <p:cNvSpPr txBox="1"/>
          <p:nvPr/>
        </p:nvSpPr>
        <p:spPr>
          <a:xfrm>
            <a:off x="6217920" y="3611880"/>
            <a:ext cx="2286000" cy="274320"/>
          </a:xfrm>
          <a:prstGeom prst="rect">
            <a:avLst/>
          </a:prstGeom>
          <a:noFill/>
          <a:ln/>
        </p:spPr>
        <p:txBody>
          <a:bodyPr wrap="square" lIns="0" tIns="0" rIns="0" bIns="0" rtlCol="0" anchor="ctr"/>
          <a:lstStyle/>
          <a:p>
            <a:pPr indent="0" marL="0">
              <a:buNone/>
            </a:pPr>
            <a:r>
              <a:rPr lang="en-US" sz="1300" b="1" dirty="0">
                <a:solidFill>
                  <a:srgbClr val="548687"/>
                </a:solidFill>
                <a:latin typeface="Calibri" pitchFamily="34" charset="0"/>
                <a:ea typeface="Calibri" pitchFamily="34" charset="-122"/>
                <a:cs typeface="Calibri" pitchFamily="34" charset="-120"/>
              </a:rPr>
              <a:t>IC3  </a:t>
            </a:r>
            <a:pPr indent="0" marL="0">
              <a:buNone/>
            </a:pPr>
            <a:r>
              <a:rPr lang="en-US" sz="1000" b="1" dirty="0">
                <a:solidFill>
                  <a:srgbClr val="548687"/>
                </a:solidFill>
                <a:latin typeface="Calibri" pitchFamily="34" charset="0"/>
                <a:ea typeface="Calibri" pitchFamily="34" charset="-122"/>
                <a:cs typeface="Calibri" pitchFamily="34" charset="-120"/>
              </a:rPr>
              <a:t>PASS</a:t>
            </a:r>
            <a:endParaRPr lang="en-US" sz="1300" dirty="0"/>
          </a:p>
        </p:txBody>
      </p:sp>
      <p:sp>
        <p:nvSpPr>
          <p:cNvPr id="35" name="Text 33"/>
          <p:cNvSpPr txBox="1"/>
          <p:nvPr/>
        </p:nvSpPr>
        <p:spPr>
          <a:xfrm>
            <a:off x="6217920" y="3913632"/>
            <a:ext cx="2286000" cy="274320"/>
          </a:xfrm>
          <a:prstGeom prst="rect">
            <a:avLst/>
          </a:prstGeom>
          <a:noFill/>
          <a:ln/>
        </p:spPr>
        <p:txBody>
          <a:bodyPr wrap="square" lIns="0" tIns="0" rIns="0" bIns="0" rtlCol="0" anchor="ctr"/>
          <a:lstStyle/>
          <a:p>
            <a:pPr indent="0" marL="0">
              <a:buNone/>
            </a:pPr>
            <a:r>
              <a:rPr lang="en-US" sz="1200" b="1" dirty="0">
                <a:solidFill>
                  <a:srgbClr val="513B3C"/>
                </a:solidFill>
                <a:latin typeface="Calibri" pitchFamily="34" charset="0"/>
                <a:ea typeface="Calibri" pitchFamily="34" charset="-122"/>
                <a:cs typeface="Calibri" pitchFamily="34" charset="-120"/>
              </a:rPr>
              <a:t>8 shapes → MEGA</a:t>
            </a:r>
            <a:endParaRPr lang="en-US" sz="1200" dirty="0"/>
          </a:p>
        </p:txBody>
      </p:sp>
      <p:sp>
        <p:nvSpPr>
          <p:cNvPr id="36" name="Text 34"/>
          <p:cNvSpPr txBox="1"/>
          <p:nvPr/>
        </p:nvSpPr>
        <p:spPr>
          <a:xfrm>
            <a:off x="6217920" y="4187952"/>
            <a:ext cx="2286000" cy="27432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correct, 0 mismatches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13</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Measured cache hit rate</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3 · MAYAN</a:t>
            </a:r>
            <a:endParaRPr lang="en-US" sz="1000" dirty="0"/>
          </a:p>
        </p:txBody>
      </p:sp>
      <p:graphicFrame>
        <p:nvGraphicFramePr>
          <p:cNvPr id="6" name="Chart 0" descr=""/>
          <p:cNvGraphicFramePr/>
          <p:nvPr/>
        </p:nvGraphicFramePr>
        <p:xfrm>
          <a:off x="365760" y="1051560"/>
          <a:ext cx="475488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394960" y="1188720"/>
          <a:ext cx="3291840" cy="914400"/>
        </p:xfrm>
        <a:graphic>
          <a:graphicData uri="http://schemas.openxmlformats.org/drawingml/2006/table">
            <a:tbl>
              <a:tblPr/>
              <a:tblGrid>
                <a:gridCol w="1097280"/>
                <a:gridCol w="1097280"/>
                <a:gridCol w="1097280"/>
              </a:tblGrid>
              <a:tr h="3657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Workload</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Hits</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Misses</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r>
              <a:tr h="365760">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Mono</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99,999</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r>
              <a:tr h="365760">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Poly</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99,997</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r>
              <a:tr h="365760">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Mega</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24,932</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c>
                  <a:txBody>
                    <a:bodyPr/>
                    <a:lstStyle/>
                    <a:p>
                      <a:pPr algn="ctr" indent="0" marL="0">
                        <a:buNone/>
                      </a:pPr>
                      <a:r>
                        <a:rPr lang="en-US" sz="1200" dirty="0">
                          <a:solidFill>
                            <a:srgbClr val="513B3C"/>
                          </a:solidFill>
                          <a:latin typeface="Calibri" pitchFamily="34" charset="0"/>
                          <a:ea typeface="Calibri" pitchFamily="34" charset="-122"/>
                          <a:cs typeface="Calibri" pitchFamily="34" charset="-120"/>
                        </a:rPr>
                        <a:t>75,068</a:t>
                      </a:r>
                      <a:endParaRPr lang="en-US" sz="1200" dirty="0">
                        <a:latin typeface="Calibri" charset="0"/>
                        <a:ea typeface="Calibri" charset="0"/>
                        <a:cs typeface="Calibri" charset="0"/>
                      </a:endParaRPr>
                    </a:p>
                  </a:txBody>
                  <a:tcPr marL="91440" marR="91440" marT="45720" marB="45720"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tcPr>
                </a:tc>
              </a:tr>
            </a:tbl>
          </a:graphicData>
        </a:graphic>
      </p:graphicFrame>
      <p:sp>
        <p:nvSpPr>
          <p:cNvPr id="8" name="Shape 4"/>
          <p:cNvSpPr/>
          <p:nvPr/>
        </p:nvSpPr>
        <p:spPr>
          <a:xfrm>
            <a:off x="5394960" y="2926080"/>
            <a:ext cx="3291840" cy="1645920"/>
          </a:xfrm>
          <a:prstGeom prst="roundRect">
            <a:avLst>
              <a:gd name="adj" fmla="val 4444"/>
            </a:avLst>
          </a:prstGeom>
          <a:solidFill>
            <a:srgbClr val="F6E7DB"/>
          </a:solidFill>
          <a:ln w="12700">
            <a:solidFill>
              <a:srgbClr val="F6E7DB"/>
            </a:solidFill>
            <a:prstDash val="solid"/>
          </a:ln>
        </p:spPr>
      </p:sp>
      <p:sp>
        <p:nvSpPr>
          <p:cNvPr id="9" name="Text 5"/>
          <p:cNvSpPr txBox="1"/>
          <p:nvPr/>
        </p:nvSpPr>
        <p:spPr>
          <a:xfrm>
            <a:off x="5394960" y="2697480"/>
            <a:ext cx="3291840" cy="182880"/>
          </a:xfrm>
          <a:prstGeom prst="rect">
            <a:avLst/>
          </a:prstGeom>
          <a:noFill/>
          <a:ln/>
        </p:spPr>
        <p:txBody>
          <a:bodyPr wrap="square" lIns="0" tIns="0" rIns="0" bIns="0" rtlCol="0" anchor="ctr"/>
          <a:lstStyle/>
          <a:p>
            <a:pPr indent="0" marL="0">
              <a:buNone/>
            </a:pPr>
            <a:r>
              <a:rPr lang="en-US" sz="950" i="1" dirty="0">
                <a:solidFill>
                  <a:srgbClr val="7D6A6B"/>
                </a:solidFill>
                <a:latin typeface="Calibri" pitchFamily="34" charset="0"/>
                <a:ea typeface="Calibri" pitchFamily="34" charset="-122"/>
                <a:cs typeface="Calibri" pitchFamily="34" charset="-120"/>
              </a:rPr>
              <a:t>n = 100,000 accesses per workload</a:t>
            </a:r>
            <a:endParaRPr lang="en-US" sz="950" dirty="0"/>
          </a:p>
        </p:txBody>
      </p:sp>
      <p:sp>
        <p:nvSpPr>
          <p:cNvPr id="10" name="Text 6"/>
          <p:cNvSpPr txBox="1"/>
          <p:nvPr/>
        </p:nvSpPr>
        <p:spPr>
          <a:xfrm>
            <a:off x="5577840" y="3017520"/>
            <a:ext cx="2926080" cy="1463040"/>
          </a:xfrm>
          <a:prstGeom prst="rect">
            <a:avLst/>
          </a:prstGeom>
          <a:noFill/>
          <a:ln/>
        </p:spPr>
        <p:txBody>
          <a:bodyPr wrap="square" lIns="0" tIns="0" rIns="0" bIns="0" rtlCol="0" anchor="t"/>
          <a:lstStyle/>
          <a:p>
            <a:pPr indent="0" marL="0">
              <a:spcAft>
                <a:spcPts val="600"/>
              </a:spcAft>
              <a:buNone/>
            </a:pPr>
            <a:r>
              <a:rPr lang="en-US" sz="1200" b="1" dirty="0">
                <a:solidFill>
                  <a:srgbClr val="513B3C"/>
                </a:solidFill>
                <a:latin typeface="Calibri" pitchFamily="34" charset="0"/>
                <a:ea typeface="Calibri" pitchFamily="34" charset="-122"/>
                <a:cs typeface="Calibri" pitchFamily="34" charset="-120"/>
              </a:rPr>
              <a:t>Why only 24.9% in MEGA?</a:t>
            </a:r>
            <a:endParaRPr lang="en-US" sz="1200" dirty="0"/>
          </a:p>
          <a:p>
            <a:pPr indent="0" marL="0">
              <a:spcAft>
                <a:spcPts val="600"/>
              </a:spcAft>
              <a:buNone/>
            </a:pPr>
            <a:r>
              <a:rPr lang="en-US" sz="1200" dirty="0">
                <a:solidFill>
                  <a:srgbClr val="513B3C"/>
                </a:solidFill>
                <a:latin typeface="Calibri" pitchFamily="34" charset="0"/>
                <a:ea typeface="Calibri" pitchFamily="34" charset="-122"/>
                <a:cs typeface="Calibri" pitchFamily="34" charset="-120"/>
              </a:rPr>
              <a:t>16 shapes compete for 4 slots. FIFO keeps evicting an entry just before it is needed again, so ~3 of 4 accesses miss.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14</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Performance: IC vs baseline</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3 · MAYAN</a:t>
            </a:r>
            <a:endParaRPr lang="en-US" sz="1000" dirty="0"/>
          </a:p>
        </p:txBody>
      </p:sp>
      <p:graphicFrame>
        <p:nvGraphicFramePr>
          <p:cNvPr id="6" name="Chart 0" descr=""/>
          <p:cNvGraphicFramePr/>
          <p:nvPr/>
        </p:nvGraphicFramePr>
        <p:xfrm>
          <a:off x="365760" y="1051560"/>
          <a:ext cx="4572000" cy="32004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57200" y="4297680"/>
            <a:ext cx="4663440" cy="320040"/>
          </a:xfrm>
          <a:prstGeom prst="rect">
            <a:avLst/>
          </a:prstGeom>
          <a:noFill/>
          <a:ln/>
        </p:spPr>
        <p:txBody>
          <a:bodyPr wrap="square" lIns="0" tIns="0" rIns="0" bIns="0" rtlCol="0" anchor="ctr"/>
          <a:lstStyle/>
          <a:p>
            <a:pPr indent="0" marL="0">
              <a:buNone/>
            </a:pPr>
            <a:r>
              <a:rPr lang="en-US" sz="1000" dirty="0">
                <a:solidFill>
                  <a:srgbClr val="7D6A6B"/>
                </a:solidFill>
                <a:latin typeface="Calibri" pitchFamily="34" charset="0"/>
                <a:ea typeface="Calibri" pitchFamily="34" charset="-122"/>
                <a:cs typeface="Calibri" pitchFamily="34" charset="-120"/>
              </a:rPr>
              <a:t>n = 100,000 accesses each · baseline 0.611 / 0.427 / 0.395 s · with IC 0.273 / 0.278 / 0.442 s · single run, varies ± a few %</a:t>
            </a:r>
            <a:endParaRPr lang="en-US" sz="1000" dirty="0"/>
          </a:p>
        </p:txBody>
      </p:sp>
      <p:sp>
        <p:nvSpPr>
          <p:cNvPr id="8" name="Shape 5"/>
          <p:cNvSpPr/>
          <p:nvPr/>
        </p:nvSpPr>
        <p:spPr>
          <a:xfrm>
            <a:off x="5303520" y="1188720"/>
            <a:ext cx="3383280" cy="1417320"/>
          </a:xfrm>
          <a:prstGeom prst="roundRect">
            <a:avLst>
              <a:gd name="adj" fmla="val 5161"/>
            </a:avLst>
          </a:prstGeom>
          <a:solidFill>
            <a:srgbClr val="548687"/>
          </a:solidFill>
          <a:ln w="12700">
            <a:solidFill>
              <a:srgbClr val="548687"/>
            </a:solidFill>
            <a:prstDash val="solid"/>
          </a:ln>
        </p:spPr>
      </p:sp>
      <p:sp>
        <p:nvSpPr>
          <p:cNvPr id="9" name="Text 6"/>
          <p:cNvSpPr txBox="1"/>
          <p:nvPr/>
        </p:nvSpPr>
        <p:spPr>
          <a:xfrm>
            <a:off x="5486400" y="1298448"/>
            <a:ext cx="301752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Mono &amp; poly win</a:t>
            </a:r>
            <a:endParaRPr lang="en-US" sz="1400" dirty="0"/>
          </a:p>
        </p:txBody>
      </p:sp>
      <p:sp>
        <p:nvSpPr>
          <p:cNvPr id="10" name="Text 7"/>
          <p:cNvSpPr txBox="1"/>
          <p:nvPr/>
        </p:nvSpPr>
        <p:spPr>
          <a:xfrm>
            <a:off x="5486400" y="1645920"/>
            <a:ext cx="3017520" cy="86868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A cache hit replaces a scan over ~200 field names with one or a few shape checks. On 6-field objects it loses (slide 20).</a:t>
            </a:r>
            <a:endParaRPr lang="en-US" sz="1150" dirty="0"/>
          </a:p>
        </p:txBody>
      </p:sp>
      <p:sp>
        <p:nvSpPr>
          <p:cNvPr id="11" name="Shape 8"/>
          <p:cNvSpPr/>
          <p:nvPr/>
        </p:nvSpPr>
        <p:spPr>
          <a:xfrm>
            <a:off x="5303520" y="2788920"/>
            <a:ext cx="3383280" cy="1417320"/>
          </a:xfrm>
          <a:prstGeom prst="roundRect">
            <a:avLst>
              <a:gd name="adj" fmla="val 5161"/>
            </a:avLst>
          </a:prstGeom>
          <a:solidFill>
            <a:srgbClr val="E1B07E"/>
          </a:solidFill>
          <a:ln w="12700">
            <a:solidFill>
              <a:srgbClr val="E1B07E"/>
            </a:solidFill>
            <a:prstDash val="solid"/>
          </a:ln>
        </p:spPr>
      </p:sp>
      <p:sp>
        <p:nvSpPr>
          <p:cNvPr id="12" name="Text 9"/>
          <p:cNvSpPr txBox="1"/>
          <p:nvPr/>
        </p:nvSpPr>
        <p:spPr>
          <a:xfrm>
            <a:off x="5486400" y="2898648"/>
            <a:ext cx="3017520" cy="32004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Mega loses (0.89×)</a:t>
            </a:r>
            <a:endParaRPr lang="en-US" sz="1400" dirty="0"/>
          </a:p>
        </p:txBody>
      </p:sp>
      <p:sp>
        <p:nvSpPr>
          <p:cNvPr id="13" name="Text 10"/>
          <p:cNvSpPr txBox="1"/>
          <p:nvPr/>
        </p:nvSpPr>
        <p:spPr>
          <a:xfrm>
            <a:off x="5486400" y="3246120"/>
            <a:ext cx="3017520" cy="868680"/>
          </a:xfrm>
          <a:prstGeom prst="rect">
            <a:avLst/>
          </a:prstGeom>
          <a:noFill/>
          <a:ln/>
        </p:spPr>
        <p:txBody>
          <a:bodyPr wrap="square" lIns="0" tIns="0" rIns="0" bIns="0" rtlCol="0" anchor="t"/>
          <a:lstStyle/>
          <a:p>
            <a:pPr indent="0" marL="0">
              <a:buNone/>
            </a:pPr>
            <a:r>
              <a:rPr lang="en-US" sz="1150" dirty="0">
                <a:solidFill>
                  <a:srgbClr val="513B3C"/>
                </a:solidFill>
                <a:latin typeface="Calibri" pitchFamily="34" charset="0"/>
                <a:ea typeface="Calibri" pitchFamily="34" charset="-122"/>
                <a:cs typeface="Calibri" pitchFamily="34" charset="-120"/>
              </a:rPr>
              <a:t>Thrashing: the bookkeeping costs more than the scan it replaces. Next: larger capacity or a non-FIFO policy.</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513B3C"/>
        </a:solidFill>
      </p:bgPr>
    </p:bg>
    <p:spTree>
      <p:nvGrpSpPr>
        <p:cNvPr id="1" name=""/>
        <p:cNvGrpSpPr/>
        <p:nvPr/>
      </p:nvGrpSpPr>
      <p:grpSpPr>
        <a:xfrm>
          <a:off x="0" y="0"/>
          <a:ext cx="0" cy="0"/>
          <a:chOff x="0" y="0"/>
          <a:chExt cx="0" cy="0"/>
        </a:xfrm>
      </p:grpSpPr>
      <p:sp>
        <p:nvSpPr>
          <p:cNvPr id="2" name="Text 0"/>
          <p:cNvSpPr txBox="1"/>
          <p:nvPr/>
        </p:nvSpPr>
        <p:spPr>
          <a:xfrm>
            <a:off x="548640" y="822960"/>
            <a:ext cx="2286000" cy="1371600"/>
          </a:xfrm>
          <a:prstGeom prst="rect">
            <a:avLst/>
          </a:prstGeom>
          <a:noFill/>
          <a:ln/>
        </p:spPr>
        <p:txBody>
          <a:bodyPr wrap="square" lIns="0" tIns="0" rIns="0" bIns="0" rtlCol="0" anchor="ctr"/>
          <a:lstStyle/>
          <a:p>
            <a:pPr indent="0" marL="0">
              <a:buNone/>
            </a:pPr>
            <a:r>
              <a:rPr lang="en-US" sz="8800" b="1" dirty="0">
                <a:solidFill>
                  <a:srgbClr val="E1B07E"/>
                </a:solidFill>
                <a:latin typeface="Cambria" pitchFamily="34" charset="0"/>
                <a:ea typeface="Cambria" pitchFamily="34" charset="-122"/>
                <a:cs typeface="Cambria" pitchFamily="34" charset="-120"/>
              </a:rPr>
              <a:t>04</a:t>
            </a:r>
            <a:endParaRPr lang="en-US" sz="8800" dirty="0"/>
          </a:p>
        </p:txBody>
      </p:sp>
      <p:sp>
        <p:nvSpPr>
          <p:cNvPr id="3" name="Text 1"/>
          <p:cNvSpPr txBox="1"/>
          <p:nvPr/>
        </p:nvSpPr>
        <p:spPr>
          <a:xfrm>
            <a:off x="548640" y="2240280"/>
            <a:ext cx="45720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Ehsan Abdulkhader</a:t>
            </a:r>
            <a:endParaRPr lang="en-US" sz="2800" dirty="0"/>
          </a:p>
        </p:txBody>
      </p:sp>
      <p:sp>
        <p:nvSpPr>
          <p:cNvPr id="4" name="Text 2"/>
          <p:cNvSpPr txBox="1"/>
          <p:nvPr/>
        </p:nvSpPr>
        <p:spPr>
          <a:xfrm>
            <a:off x="548640" y="2788920"/>
            <a:ext cx="4572000" cy="365760"/>
          </a:xfrm>
          <a:prstGeom prst="rect">
            <a:avLst/>
          </a:prstGeom>
          <a:noFill/>
          <a:ln/>
        </p:spPr>
        <p:txBody>
          <a:bodyPr wrap="square" lIns="0" tIns="0" rIns="0" bIns="0" rtlCol="0" anchor="ctr"/>
          <a:lstStyle/>
          <a:p>
            <a:pPr indent="0" marL="0">
              <a:buNone/>
            </a:pPr>
            <a:r>
              <a:rPr lang="en-US" sz="1600" dirty="0">
                <a:solidFill>
                  <a:srgbClr val="E5BE9E"/>
                </a:solidFill>
                <a:latin typeface="Calibri" pitchFamily="34" charset="0"/>
                <a:ea typeface="Calibri" pitchFamily="34" charset="-122"/>
                <a:cs typeface="Calibri" pitchFamily="34" charset="-120"/>
              </a:rPr>
              <a:t>Tier-2 Codegen &amp; Deoptimisation</a:t>
            </a:r>
            <a:endParaRPr lang="en-US" sz="1600" dirty="0"/>
          </a:p>
        </p:txBody>
      </p:sp>
      <p:sp>
        <p:nvSpPr>
          <p:cNvPr id="5" name="Shape 3"/>
          <p:cNvSpPr/>
          <p:nvPr/>
        </p:nvSpPr>
        <p:spPr>
          <a:xfrm>
            <a:off x="5394960" y="1097280"/>
            <a:ext cx="3291840" cy="2926080"/>
          </a:xfrm>
          <a:prstGeom prst="roundRect">
            <a:avLst>
              <a:gd name="adj" fmla="val 2500"/>
            </a:avLst>
          </a:prstGeom>
          <a:solidFill>
            <a:srgbClr val="5E4748"/>
          </a:solidFill>
          <a:ln w="12700">
            <a:solidFill>
              <a:srgbClr val="5E4748"/>
            </a:solidFill>
            <a:prstDash val="solid"/>
          </a:ln>
        </p:spPr>
      </p:sp>
      <p:sp>
        <p:nvSpPr>
          <p:cNvPr id="6" name="Text 4"/>
          <p:cNvSpPr txBox="1"/>
          <p:nvPr/>
        </p:nvSpPr>
        <p:spPr>
          <a:xfrm>
            <a:off x="5669280" y="1325880"/>
            <a:ext cx="2743200" cy="274320"/>
          </a:xfrm>
          <a:prstGeom prst="rect">
            <a:avLst/>
          </a:prstGeom>
          <a:noFill/>
          <a:ln/>
        </p:spPr>
        <p:txBody>
          <a:bodyPr wrap="square" lIns="0" tIns="0" rIns="0" bIns="0" rtlCol="0" anchor="ctr"/>
          <a:lstStyle/>
          <a:p>
            <a:pPr indent="0" marL="0">
              <a:buNone/>
            </a:pPr>
            <a:r>
              <a:rPr lang="en-US" sz="1100" b="1" spc="200" kern="0" dirty="0">
                <a:solidFill>
                  <a:srgbClr val="E1B07E"/>
                </a:solidFill>
                <a:latin typeface="Calibri" pitchFamily="34" charset="0"/>
                <a:ea typeface="Calibri" pitchFamily="34" charset="-122"/>
                <a:cs typeface="Calibri" pitchFamily="34" charset="-120"/>
              </a:rPr>
              <a:t>IN THIS SECTION</a:t>
            </a:r>
            <a:endParaRPr lang="en-US" sz="1100" dirty="0"/>
          </a:p>
        </p:txBody>
      </p:sp>
      <p:sp>
        <p:nvSpPr>
          <p:cNvPr id="7" name="Text 5"/>
          <p:cNvSpPr txBox="1"/>
          <p:nvPr/>
        </p:nvSpPr>
        <p:spPr>
          <a:xfrm>
            <a:off x="5669280" y="1737360"/>
            <a:ext cx="28346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Stale caches &amp; deopt (IC4, IC5)</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JavaScript front end, checked against Node</a:t>
            </a:r>
            <a:endParaRPr lang="en-US" sz="1400" dirty="0"/>
          </a:p>
          <a:p>
            <a:pPr marL="342900" indent="-342900">
              <a:spcAft>
                <a:spcPts val="800"/>
              </a:spcAft>
              <a:buSzPct val="100000"/>
              <a:buChar char="•"/>
            </a:pPr>
            <a:r>
              <a:rPr lang="en-US" sz="1400" dirty="0">
                <a:solidFill>
                  <a:srgbClr val="C1EEFF"/>
                </a:solidFill>
                <a:latin typeface="Calibri" pitchFamily="34" charset="0"/>
                <a:ea typeface="Calibri" pitchFamily="34" charset="-122"/>
                <a:cs typeface="Calibri" pitchFamily="34" charset="-120"/>
              </a:rPr>
              <a:t>Tier-2 status, risks &amp; next steps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16</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Stale caches: shape versioning (IC4)</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4 · EHSAN</a:t>
            </a:r>
            <a:endParaRPr lang="en-US" sz="1000" dirty="0"/>
          </a:p>
        </p:txBody>
      </p:sp>
      <p:sp>
        <p:nvSpPr>
          <p:cNvPr id="6" name="Text 4"/>
          <p:cNvSpPr txBox="1"/>
          <p:nvPr/>
        </p:nvSpPr>
        <p:spPr>
          <a:xfrm>
            <a:off x="457200" y="1051560"/>
            <a:ext cx="3474720" cy="274320"/>
          </a:xfrm>
          <a:prstGeom prst="rect">
            <a:avLst/>
          </a:prstGeom>
          <a:noFill/>
          <a:ln/>
        </p:spPr>
        <p:txBody>
          <a:bodyPr wrap="square" lIns="0" tIns="0" rIns="0" bIns="0" rtlCol="0" anchor="ctr"/>
          <a:lstStyle/>
          <a:p>
            <a:pPr indent="0" marL="0">
              <a:buNone/>
            </a:pPr>
            <a:r>
              <a:rPr lang="en-US" sz="1200" b="1" dirty="0">
                <a:solidFill>
                  <a:srgbClr val="513B3C"/>
                </a:solidFill>
                <a:latin typeface="Calibri" pitchFamily="34" charset="0"/>
                <a:ea typeface="Calibri" pitchFamily="34" charset="-122"/>
                <a:cs typeface="Calibri" pitchFamily="34" charset="-120"/>
              </a:rPr>
              <a:t>Cache learns: x is at slot 2</a:t>
            </a:r>
            <a:endParaRPr lang="en-US" sz="1200" dirty="0"/>
          </a:p>
        </p:txBody>
      </p:sp>
      <p:sp>
        <p:nvSpPr>
          <p:cNvPr id="7" name="Shape 5"/>
          <p:cNvSpPr/>
          <p:nvPr/>
        </p:nvSpPr>
        <p:spPr>
          <a:xfrm>
            <a:off x="457200" y="1417320"/>
            <a:ext cx="713232" cy="502920"/>
          </a:xfrm>
          <a:prstGeom prst="roundRect">
            <a:avLst>
              <a:gd name="adj" fmla="val 14545"/>
            </a:avLst>
          </a:prstGeom>
          <a:solidFill>
            <a:srgbClr val="E6F8FF"/>
          </a:solidFill>
          <a:ln w="12700">
            <a:solidFill>
              <a:srgbClr val="E6F8FF"/>
            </a:solidFill>
            <a:prstDash val="solid"/>
          </a:ln>
        </p:spPr>
      </p:sp>
      <p:sp>
        <p:nvSpPr>
          <p:cNvPr id="8" name="Text 6"/>
          <p:cNvSpPr txBox="1"/>
          <p:nvPr/>
        </p:nvSpPr>
        <p:spPr>
          <a:xfrm>
            <a:off x="457200" y="1417320"/>
            <a:ext cx="713232" cy="502920"/>
          </a:xfrm>
          <a:prstGeom prst="rect">
            <a:avLst/>
          </a:prstGeom>
          <a:noFill/>
          <a:ln/>
        </p:spPr>
        <p:txBody>
          <a:bodyPr wrap="square" lIns="0" tIns="0" rIns="0" bIns="0" rtlCol="0" anchor="ctr"/>
          <a:lstStyle/>
          <a:p>
            <a:pPr algn="ctr" indent="0" marL="0">
              <a:buNone/>
            </a:pPr>
            <a:r>
              <a:rPr lang="en-US" sz="1200" b="1" dirty="0">
                <a:solidFill>
                  <a:srgbClr val="513B3C"/>
                </a:solidFill>
                <a:latin typeface="Courier New" pitchFamily="34" charset="0"/>
                <a:ea typeface="Courier New" pitchFamily="34" charset="-122"/>
                <a:cs typeface="Courier New" pitchFamily="34" charset="-120"/>
              </a:rPr>
              <a:t>a</a:t>
            </a:r>
            <a:endParaRPr lang="en-US" sz="1200" dirty="0"/>
          </a:p>
        </p:txBody>
      </p:sp>
      <p:sp>
        <p:nvSpPr>
          <p:cNvPr id="9" name="Text 7"/>
          <p:cNvSpPr txBox="1"/>
          <p:nvPr/>
        </p:nvSpPr>
        <p:spPr>
          <a:xfrm>
            <a:off x="457200" y="1947672"/>
            <a:ext cx="713232" cy="228600"/>
          </a:xfrm>
          <a:prstGeom prst="rect">
            <a:avLst/>
          </a:prstGeom>
          <a:noFill/>
          <a:ln/>
        </p:spPr>
        <p:txBody>
          <a:bodyPr wrap="square" lIns="0" tIns="0" rIns="0" bIns="0" rtlCol="0" anchor="ctr"/>
          <a:lstStyle/>
          <a:p>
            <a:pPr algn="ctr" indent="0" marL="0">
              <a:buNone/>
            </a:pPr>
            <a:r>
              <a:rPr lang="en-US" sz="900" dirty="0">
                <a:solidFill>
                  <a:srgbClr val="7D6A6B"/>
                </a:solidFill>
                <a:latin typeface="Calibri" pitchFamily="34" charset="0"/>
                <a:ea typeface="Calibri" pitchFamily="34" charset="-122"/>
                <a:cs typeface="Calibri" pitchFamily="34" charset="-120"/>
              </a:rPr>
              <a:t>slot 0</a:t>
            </a:r>
            <a:endParaRPr lang="en-US" sz="900" dirty="0"/>
          </a:p>
        </p:txBody>
      </p:sp>
      <p:sp>
        <p:nvSpPr>
          <p:cNvPr id="10" name="Shape 8"/>
          <p:cNvSpPr/>
          <p:nvPr/>
        </p:nvSpPr>
        <p:spPr>
          <a:xfrm>
            <a:off x="1234440" y="1417320"/>
            <a:ext cx="713232" cy="502920"/>
          </a:xfrm>
          <a:prstGeom prst="roundRect">
            <a:avLst>
              <a:gd name="adj" fmla="val 14545"/>
            </a:avLst>
          </a:prstGeom>
          <a:solidFill>
            <a:srgbClr val="E6F8FF"/>
          </a:solidFill>
          <a:ln w="12700">
            <a:solidFill>
              <a:srgbClr val="E6F8FF"/>
            </a:solidFill>
            <a:prstDash val="solid"/>
          </a:ln>
        </p:spPr>
      </p:sp>
      <p:sp>
        <p:nvSpPr>
          <p:cNvPr id="11" name="Text 9"/>
          <p:cNvSpPr txBox="1"/>
          <p:nvPr/>
        </p:nvSpPr>
        <p:spPr>
          <a:xfrm>
            <a:off x="1234440" y="1417320"/>
            <a:ext cx="713232" cy="502920"/>
          </a:xfrm>
          <a:prstGeom prst="rect">
            <a:avLst/>
          </a:prstGeom>
          <a:noFill/>
          <a:ln/>
        </p:spPr>
        <p:txBody>
          <a:bodyPr wrap="square" lIns="0" tIns="0" rIns="0" bIns="0" rtlCol="0" anchor="ctr"/>
          <a:lstStyle/>
          <a:p>
            <a:pPr algn="ctr" indent="0" marL="0">
              <a:buNone/>
            </a:pPr>
            <a:r>
              <a:rPr lang="en-US" sz="1200" b="1" dirty="0">
                <a:solidFill>
                  <a:srgbClr val="513B3C"/>
                </a:solidFill>
                <a:latin typeface="Courier New" pitchFamily="34" charset="0"/>
                <a:ea typeface="Courier New" pitchFamily="34" charset="-122"/>
                <a:cs typeface="Courier New" pitchFamily="34" charset="-120"/>
              </a:rPr>
              <a:t>b</a:t>
            </a:r>
            <a:endParaRPr lang="en-US" sz="1200" dirty="0"/>
          </a:p>
        </p:txBody>
      </p:sp>
      <p:sp>
        <p:nvSpPr>
          <p:cNvPr id="12" name="Text 10"/>
          <p:cNvSpPr txBox="1"/>
          <p:nvPr/>
        </p:nvSpPr>
        <p:spPr>
          <a:xfrm>
            <a:off x="1234440" y="1947672"/>
            <a:ext cx="713232" cy="228600"/>
          </a:xfrm>
          <a:prstGeom prst="rect">
            <a:avLst/>
          </a:prstGeom>
          <a:noFill/>
          <a:ln/>
        </p:spPr>
        <p:txBody>
          <a:bodyPr wrap="square" lIns="0" tIns="0" rIns="0" bIns="0" rtlCol="0" anchor="ctr"/>
          <a:lstStyle/>
          <a:p>
            <a:pPr algn="ctr" indent="0" marL="0">
              <a:buNone/>
            </a:pPr>
            <a:r>
              <a:rPr lang="en-US" sz="900" dirty="0">
                <a:solidFill>
                  <a:srgbClr val="7D6A6B"/>
                </a:solidFill>
                <a:latin typeface="Calibri" pitchFamily="34" charset="0"/>
                <a:ea typeface="Calibri" pitchFamily="34" charset="-122"/>
                <a:cs typeface="Calibri" pitchFamily="34" charset="-120"/>
              </a:rPr>
              <a:t>slot 1</a:t>
            </a:r>
            <a:endParaRPr lang="en-US" sz="900" dirty="0"/>
          </a:p>
        </p:txBody>
      </p:sp>
      <p:sp>
        <p:nvSpPr>
          <p:cNvPr id="13" name="Shape 11"/>
          <p:cNvSpPr/>
          <p:nvPr/>
        </p:nvSpPr>
        <p:spPr>
          <a:xfrm>
            <a:off x="2011680" y="1417320"/>
            <a:ext cx="713232" cy="502920"/>
          </a:xfrm>
          <a:prstGeom prst="roundRect">
            <a:avLst>
              <a:gd name="adj" fmla="val 14545"/>
            </a:avLst>
          </a:prstGeom>
          <a:solidFill>
            <a:srgbClr val="548687"/>
          </a:solidFill>
          <a:ln w="12700">
            <a:solidFill>
              <a:srgbClr val="548687"/>
            </a:solidFill>
            <a:prstDash val="solid"/>
          </a:ln>
        </p:spPr>
      </p:sp>
      <p:sp>
        <p:nvSpPr>
          <p:cNvPr id="14" name="Text 12"/>
          <p:cNvSpPr txBox="1"/>
          <p:nvPr/>
        </p:nvSpPr>
        <p:spPr>
          <a:xfrm>
            <a:off x="2011680" y="1417320"/>
            <a:ext cx="713232"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x</a:t>
            </a:r>
            <a:endParaRPr lang="en-US" sz="1200" dirty="0"/>
          </a:p>
        </p:txBody>
      </p:sp>
      <p:sp>
        <p:nvSpPr>
          <p:cNvPr id="15" name="Text 13"/>
          <p:cNvSpPr txBox="1"/>
          <p:nvPr/>
        </p:nvSpPr>
        <p:spPr>
          <a:xfrm>
            <a:off x="2011680" y="1947672"/>
            <a:ext cx="713232" cy="228600"/>
          </a:xfrm>
          <a:prstGeom prst="rect">
            <a:avLst/>
          </a:prstGeom>
          <a:noFill/>
          <a:ln/>
        </p:spPr>
        <p:txBody>
          <a:bodyPr wrap="square" lIns="0" tIns="0" rIns="0" bIns="0" rtlCol="0" anchor="ctr"/>
          <a:lstStyle/>
          <a:p>
            <a:pPr algn="ctr" indent="0" marL="0">
              <a:buNone/>
            </a:pPr>
            <a:r>
              <a:rPr lang="en-US" sz="900" dirty="0">
                <a:solidFill>
                  <a:srgbClr val="7D6A6B"/>
                </a:solidFill>
                <a:latin typeface="Calibri" pitchFamily="34" charset="0"/>
                <a:ea typeface="Calibri" pitchFamily="34" charset="-122"/>
                <a:cs typeface="Calibri" pitchFamily="34" charset="-120"/>
              </a:rPr>
              <a:t>slot 2</a:t>
            </a:r>
            <a:endParaRPr lang="en-US" sz="900" dirty="0"/>
          </a:p>
        </p:txBody>
      </p:sp>
      <p:sp>
        <p:nvSpPr>
          <p:cNvPr id="16" name="Shape 14"/>
          <p:cNvSpPr/>
          <p:nvPr/>
        </p:nvSpPr>
        <p:spPr>
          <a:xfrm>
            <a:off x="2834640" y="1435608"/>
            <a:ext cx="457200" cy="457200"/>
          </a:xfrm>
          <a:prstGeom prst="ellipse">
            <a:avLst/>
          </a:prstGeom>
          <a:solidFill>
            <a:srgbClr val="E1B07E"/>
          </a:solidFill>
          <a:ln w="12700">
            <a:solidFill>
              <a:srgbClr val="E1B07E"/>
            </a:solidFill>
            <a:prstDash val="solid"/>
          </a:ln>
        </p:spPr>
      </p:sp>
      <p:sp>
        <p:nvSpPr>
          <p:cNvPr id="17" name="Text 15"/>
          <p:cNvSpPr txBox="1"/>
          <p:nvPr/>
        </p:nvSpPr>
        <p:spPr>
          <a:xfrm>
            <a:off x="2834640" y="1435608"/>
            <a:ext cx="457200" cy="457200"/>
          </a:xfrm>
          <a:prstGeom prst="rect">
            <a:avLst/>
          </a:prstGeom>
          <a:noFill/>
          <a:ln/>
        </p:spPr>
        <p:txBody>
          <a:bodyPr wrap="square" lIns="0" tIns="0" rIns="0" bIns="0" rtlCol="0" anchor="ctr"/>
          <a:lstStyle/>
          <a:p>
            <a:pPr algn="ctr" indent="0" marL="0">
              <a:buNone/>
            </a:pPr>
            <a:r>
              <a:rPr lang="en-US" sz="1200" b="1" dirty="0">
                <a:solidFill>
                  <a:srgbClr val="513B3C"/>
                </a:solidFill>
                <a:latin typeface="Cambria" pitchFamily="34" charset="0"/>
                <a:ea typeface="Cambria" pitchFamily="34" charset="-122"/>
                <a:cs typeface="Cambria" pitchFamily="34" charset="-120"/>
              </a:rPr>
              <a:t>v0</a:t>
            </a:r>
            <a:endParaRPr lang="en-US" sz="1200" dirty="0"/>
          </a:p>
        </p:txBody>
      </p:sp>
      <p:sp>
        <p:nvSpPr>
          <p:cNvPr id="18" name="Text 16"/>
          <p:cNvSpPr txBox="1"/>
          <p:nvPr/>
        </p:nvSpPr>
        <p:spPr>
          <a:xfrm>
            <a:off x="4480560" y="1051560"/>
            <a:ext cx="3474720" cy="274320"/>
          </a:xfrm>
          <a:prstGeom prst="rect">
            <a:avLst/>
          </a:prstGeom>
          <a:noFill/>
          <a:ln/>
        </p:spPr>
        <p:txBody>
          <a:bodyPr wrap="square" lIns="0" tIns="0" rIns="0" bIns="0" rtlCol="0" anchor="ctr"/>
          <a:lstStyle/>
          <a:p>
            <a:pPr indent="0" marL="0">
              <a:buNone/>
            </a:pPr>
            <a:r>
              <a:rPr lang="en-US" sz="1200" b="1" dirty="0">
                <a:solidFill>
                  <a:srgbClr val="513B3C"/>
                </a:solidFill>
                <a:latin typeface="Calibri" pitchFamily="34" charset="0"/>
                <a:ea typeface="Calibri" pitchFamily="34" charset="-122"/>
                <a:cs typeface="Calibri" pitchFamily="34" charset="-120"/>
              </a:rPr>
              <a:t>Field added to the shape in place</a:t>
            </a:r>
            <a:endParaRPr lang="en-US" sz="1200" dirty="0"/>
          </a:p>
        </p:txBody>
      </p:sp>
      <p:sp>
        <p:nvSpPr>
          <p:cNvPr id="19" name="Shape 17"/>
          <p:cNvSpPr/>
          <p:nvPr/>
        </p:nvSpPr>
        <p:spPr>
          <a:xfrm>
            <a:off x="4480560" y="1417320"/>
            <a:ext cx="713232" cy="502920"/>
          </a:xfrm>
          <a:prstGeom prst="roundRect">
            <a:avLst>
              <a:gd name="adj" fmla="val 14545"/>
            </a:avLst>
          </a:prstGeom>
          <a:solidFill>
            <a:srgbClr val="E6F8FF"/>
          </a:solidFill>
          <a:ln w="12700">
            <a:solidFill>
              <a:srgbClr val="E6F8FF"/>
            </a:solidFill>
            <a:prstDash val="solid"/>
          </a:ln>
        </p:spPr>
      </p:sp>
      <p:sp>
        <p:nvSpPr>
          <p:cNvPr id="20" name="Text 18"/>
          <p:cNvSpPr txBox="1"/>
          <p:nvPr/>
        </p:nvSpPr>
        <p:spPr>
          <a:xfrm>
            <a:off x="4480560" y="1417320"/>
            <a:ext cx="713232" cy="502920"/>
          </a:xfrm>
          <a:prstGeom prst="rect">
            <a:avLst/>
          </a:prstGeom>
          <a:noFill/>
          <a:ln/>
        </p:spPr>
        <p:txBody>
          <a:bodyPr wrap="square" lIns="0" tIns="0" rIns="0" bIns="0" rtlCol="0" anchor="ctr"/>
          <a:lstStyle/>
          <a:p>
            <a:pPr algn="ctr" indent="0" marL="0">
              <a:buNone/>
            </a:pPr>
            <a:r>
              <a:rPr lang="en-US" sz="1200" b="1" dirty="0">
                <a:solidFill>
                  <a:srgbClr val="513B3C"/>
                </a:solidFill>
                <a:latin typeface="Courier New" pitchFamily="34" charset="0"/>
                <a:ea typeface="Courier New" pitchFamily="34" charset="-122"/>
                <a:cs typeface="Courier New" pitchFamily="34" charset="-120"/>
              </a:rPr>
              <a:t>new</a:t>
            </a:r>
            <a:endParaRPr lang="en-US" sz="1200" dirty="0"/>
          </a:p>
        </p:txBody>
      </p:sp>
      <p:sp>
        <p:nvSpPr>
          <p:cNvPr id="21" name="Text 19"/>
          <p:cNvSpPr txBox="1"/>
          <p:nvPr/>
        </p:nvSpPr>
        <p:spPr>
          <a:xfrm>
            <a:off x="4480560" y="1947672"/>
            <a:ext cx="713232" cy="228600"/>
          </a:xfrm>
          <a:prstGeom prst="rect">
            <a:avLst/>
          </a:prstGeom>
          <a:noFill/>
          <a:ln/>
        </p:spPr>
        <p:txBody>
          <a:bodyPr wrap="square" lIns="0" tIns="0" rIns="0" bIns="0" rtlCol="0" anchor="ctr"/>
          <a:lstStyle/>
          <a:p>
            <a:pPr algn="ctr" indent="0" marL="0">
              <a:buNone/>
            </a:pPr>
            <a:r>
              <a:rPr lang="en-US" sz="900" dirty="0">
                <a:solidFill>
                  <a:srgbClr val="7D6A6B"/>
                </a:solidFill>
                <a:latin typeface="Calibri" pitchFamily="34" charset="0"/>
                <a:ea typeface="Calibri" pitchFamily="34" charset="-122"/>
                <a:cs typeface="Calibri" pitchFamily="34" charset="-120"/>
              </a:rPr>
              <a:t>slot 0</a:t>
            </a:r>
            <a:endParaRPr lang="en-US" sz="900" dirty="0"/>
          </a:p>
        </p:txBody>
      </p:sp>
      <p:sp>
        <p:nvSpPr>
          <p:cNvPr id="22" name="Shape 20"/>
          <p:cNvSpPr/>
          <p:nvPr/>
        </p:nvSpPr>
        <p:spPr>
          <a:xfrm>
            <a:off x="5257800" y="1417320"/>
            <a:ext cx="713232" cy="502920"/>
          </a:xfrm>
          <a:prstGeom prst="roundRect">
            <a:avLst>
              <a:gd name="adj" fmla="val 14545"/>
            </a:avLst>
          </a:prstGeom>
          <a:solidFill>
            <a:srgbClr val="E6F8FF"/>
          </a:solidFill>
          <a:ln w="12700">
            <a:solidFill>
              <a:srgbClr val="E6F8FF"/>
            </a:solidFill>
            <a:prstDash val="solid"/>
          </a:ln>
        </p:spPr>
      </p:sp>
      <p:sp>
        <p:nvSpPr>
          <p:cNvPr id="23" name="Text 21"/>
          <p:cNvSpPr txBox="1"/>
          <p:nvPr/>
        </p:nvSpPr>
        <p:spPr>
          <a:xfrm>
            <a:off x="5257800" y="1417320"/>
            <a:ext cx="713232" cy="502920"/>
          </a:xfrm>
          <a:prstGeom prst="rect">
            <a:avLst/>
          </a:prstGeom>
          <a:noFill/>
          <a:ln/>
        </p:spPr>
        <p:txBody>
          <a:bodyPr wrap="square" lIns="0" tIns="0" rIns="0" bIns="0" rtlCol="0" anchor="ctr"/>
          <a:lstStyle/>
          <a:p>
            <a:pPr algn="ctr" indent="0" marL="0">
              <a:buNone/>
            </a:pPr>
            <a:r>
              <a:rPr lang="en-US" sz="1200" b="1" dirty="0">
                <a:solidFill>
                  <a:srgbClr val="513B3C"/>
                </a:solidFill>
                <a:latin typeface="Courier New" pitchFamily="34" charset="0"/>
                <a:ea typeface="Courier New" pitchFamily="34" charset="-122"/>
                <a:cs typeface="Courier New" pitchFamily="34" charset="-120"/>
              </a:rPr>
              <a:t>a</a:t>
            </a:r>
            <a:endParaRPr lang="en-US" sz="1200" dirty="0"/>
          </a:p>
        </p:txBody>
      </p:sp>
      <p:sp>
        <p:nvSpPr>
          <p:cNvPr id="24" name="Text 22"/>
          <p:cNvSpPr txBox="1"/>
          <p:nvPr/>
        </p:nvSpPr>
        <p:spPr>
          <a:xfrm>
            <a:off x="5257800" y="1947672"/>
            <a:ext cx="713232" cy="228600"/>
          </a:xfrm>
          <a:prstGeom prst="rect">
            <a:avLst/>
          </a:prstGeom>
          <a:noFill/>
          <a:ln/>
        </p:spPr>
        <p:txBody>
          <a:bodyPr wrap="square" lIns="0" tIns="0" rIns="0" bIns="0" rtlCol="0" anchor="ctr"/>
          <a:lstStyle/>
          <a:p>
            <a:pPr algn="ctr" indent="0" marL="0">
              <a:buNone/>
            </a:pPr>
            <a:r>
              <a:rPr lang="en-US" sz="900" dirty="0">
                <a:solidFill>
                  <a:srgbClr val="7D6A6B"/>
                </a:solidFill>
                <a:latin typeface="Calibri" pitchFamily="34" charset="0"/>
                <a:ea typeface="Calibri" pitchFamily="34" charset="-122"/>
                <a:cs typeface="Calibri" pitchFamily="34" charset="-120"/>
              </a:rPr>
              <a:t>slot 1</a:t>
            </a:r>
            <a:endParaRPr lang="en-US" sz="900" dirty="0"/>
          </a:p>
        </p:txBody>
      </p:sp>
      <p:sp>
        <p:nvSpPr>
          <p:cNvPr id="25" name="Shape 23"/>
          <p:cNvSpPr/>
          <p:nvPr/>
        </p:nvSpPr>
        <p:spPr>
          <a:xfrm>
            <a:off x="6035040" y="1417320"/>
            <a:ext cx="713232" cy="502920"/>
          </a:xfrm>
          <a:prstGeom prst="roundRect">
            <a:avLst>
              <a:gd name="adj" fmla="val 14545"/>
            </a:avLst>
          </a:prstGeom>
          <a:solidFill>
            <a:srgbClr val="E6F8FF"/>
          </a:solidFill>
          <a:ln w="12700">
            <a:solidFill>
              <a:srgbClr val="E6F8FF"/>
            </a:solidFill>
            <a:prstDash val="solid"/>
          </a:ln>
        </p:spPr>
      </p:sp>
      <p:sp>
        <p:nvSpPr>
          <p:cNvPr id="26" name="Text 24"/>
          <p:cNvSpPr txBox="1"/>
          <p:nvPr/>
        </p:nvSpPr>
        <p:spPr>
          <a:xfrm>
            <a:off x="6035040" y="1417320"/>
            <a:ext cx="713232" cy="502920"/>
          </a:xfrm>
          <a:prstGeom prst="rect">
            <a:avLst/>
          </a:prstGeom>
          <a:noFill/>
          <a:ln/>
        </p:spPr>
        <p:txBody>
          <a:bodyPr wrap="square" lIns="0" tIns="0" rIns="0" bIns="0" rtlCol="0" anchor="ctr"/>
          <a:lstStyle/>
          <a:p>
            <a:pPr algn="ctr" indent="0" marL="0">
              <a:buNone/>
            </a:pPr>
            <a:r>
              <a:rPr lang="en-US" sz="1200" b="1" dirty="0">
                <a:solidFill>
                  <a:srgbClr val="513B3C"/>
                </a:solidFill>
                <a:latin typeface="Courier New" pitchFamily="34" charset="0"/>
                <a:ea typeface="Courier New" pitchFamily="34" charset="-122"/>
                <a:cs typeface="Courier New" pitchFamily="34" charset="-120"/>
              </a:rPr>
              <a:t>b</a:t>
            </a:r>
            <a:endParaRPr lang="en-US" sz="1200" dirty="0"/>
          </a:p>
        </p:txBody>
      </p:sp>
      <p:sp>
        <p:nvSpPr>
          <p:cNvPr id="27" name="Text 25"/>
          <p:cNvSpPr txBox="1"/>
          <p:nvPr/>
        </p:nvSpPr>
        <p:spPr>
          <a:xfrm>
            <a:off x="6035040" y="1947672"/>
            <a:ext cx="713232" cy="228600"/>
          </a:xfrm>
          <a:prstGeom prst="rect">
            <a:avLst/>
          </a:prstGeom>
          <a:noFill/>
          <a:ln/>
        </p:spPr>
        <p:txBody>
          <a:bodyPr wrap="square" lIns="0" tIns="0" rIns="0" bIns="0" rtlCol="0" anchor="ctr"/>
          <a:lstStyle/>
          <a:p>
            <a:pPr algn="ctr" indent="0" marL="0">
              <a:buNone/>
            </a:pPr>
            <a:r>
              <a:rPr lang="en-US" sz="900" dirty="0">
                <a:solidFill>
                  <a:srgbClr val="7D6A6B"/>
                </a:solidFill>
                <a:latin typeface="Calibri" pitchFamily="34" charset="0"/>
                <a:ea typeface="Calibri" pitchFamily="34" charset="-122"/>
                <a:cs typeface="Calibri" pitchFamily="34" charset="-120"/>
              </a:rPr>
              <a:t>slot 2</a:t>
            </a:r>
            <a:endParaRPr lang="en-US" sz="900" dirty="0"/>
          </a:p>
        </p:txBody>
      </p:sp>
      <p:sp>
        <p:nvSpPr>
          <p:cNvPr id="28" name="Shape 26"/>
          <p:cNvSpPr/>
          <p:nvPr/>
        </p:nvSpPr>
        <p:spPr>
          <a:xfrm>
            <a:off x="6812280" y="1417320"/>
            <a:ext cx="713232" cy="502920"/>
          </a:xfrm>
          <a:prstGeom prst="roundRect">
            <a:avLst>
              <a:gd name="adj" fmla="val 14545"/>
            </a:avLst>
          </a:prstGeom>
          <a:solidFill>
            <a:srgbClr val="548687"/>
          </a:solidFill>
          <a:ln w="12700">
            <a:solidFill>
              <a:srgbClr val="548687"/>
            </a:solidFill>
            <a:prstDash val="solid"/>
          </a:ln>
        </p:spPr>
      </p:sp>
      <p:sp>
        <p:nvSpPr>
          <p:cNvPr id="29" name="Text 27"/>
          <p:cNvSpPr txBox="1"/>
          <p:nvPr/>
        </p:nvSpPr>
        <p:spPr>
          <a:xfrm>
            <a:off x="6812280" y="1417320"/>
            <a:ext cx="713232"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x</a:t>
            </a:r>
            <a:endParaRPr lang="en-US" sz="1200" dirty="0"/>
          </a:p>
        </p:txBody>
      </p:sp>
      <p:sp>
        <p:nvSpPr>
          <p:cNvPr id="30" name="Text 28"/>
          <p:cNvSpPr txBox="1"/>
          <p:nvPr/>
        </p:nvSpPr>
        <p:spPr>
          <a:xfrm>
            <a:off x="6812280" y="1947672"/>
            <a:ext cx="713232" cy="228600"/>
          </a:xfrm>
          <a:prstGeom prst="rect">
            <a:avLst/>
          </a:prstGeom>
          <a:noFill/>
          <a:ln/>
        </p:spPr>
        <p:txBody>
          <a:bodyPr wrap="square" lIns="0" tIns="0" rIns="0" bIns="0" rtlCol="0" anchor="ctr"/>
          <a:lstStyle/>
          <a:p>
            <a:pPr algn="ctr" indent="0" marL="0">
              <a:buNone/>
            </a:pPr>
            <a:r>
              <a:rPr lang="en-US" sz="900" dirty="0">
                <a:solidFill>
                  <a:srgbClr val="7D6A6B"/>
                </a:solidFill>
                <a:latin typeface="Calibri" pitchFamily="34" charset="0"/>
                <a:ea typeface="Calibri" pitchFamily="34" charset="-122"/>
                <a:cs typeface="Calibri" pitchFamily="34" charset="-120"/>
              </a:rPr>
              <a:t>slot 3</a:t>
            </a:r>
            <a:endParaRPr lang="en-US" sz="900" dirty="0"/>
          </a:p>
        </p:txBody>
      </p:sp>
      <p:sp>
        <p:nvSpPr>
          <p:cNvPr id="31" name="Shape 29"/>
          <p:cNvSpPr/>
          <p:nvPr/>
        </p:nvSpPr>
        <p:spPr>
          <a:xfrm>
            <a:off x="7635240" y="1435608"/>
            <a:ext cx="457200" cy="457200"/>
          </a:xfrm>
          <a:prstGeom prst="ellipse">
            <a:avLst/>
          </a:prstGeom>
          <a:solidFill>
            <a:srgbClr val="E1B07E"/>
          </a:solidFill>
          <a:ln w="12700">
            <a:solidFill>
              <a:srgbClr val="E1B07E"/>
            </a:solidFill>
            <a:prstDash val="solid"/>
          </a:ln>
        </p:spPr>
      </p:sp>
      <p:sp>
        <p:nvSpPr>
          <p:cNvPr id="32" name="Text 30"/>
          <p:cNvSpPr txBox="1"/>
          <p:nvPr/>
        </p:nvSpPr>
        <p:spPr>
          <a:xfrm>
            <a:off x="7635240" y="1435608"/>
            <a:ext cx="457200" cy="457200"/>
          </a:xfrm>
          <a:prstGeom prst="rect">
            <a:avLst/>
          </a:prstGeom>
          <a:noFill/>
          <a:ln/>
        </p:spPr>
        <p:txBody>
          <a:bodyPr wrap="square" lIns="0" tIns="0" rIns="0" bIns="0" rtlCol="0" anchor="ctr"/>
          <a:lstStyle/>
          <a:p>
            <a:pPr algn="ctr" indent="0" marL="0">
              <a:buNone/>
            </a:pPr>
            <a:r>
              <a:rPr lang="en-US" sz="1200" b="1" dirty="0">
                <a:solidFill>
                  <a:srgbClr val="513B3C"/>
                </a:solidFill>
                <a:latin typeface="Cambria" pitchFamily="34" charset="0"/>
                <a:ea typeface="Cambria" pitchFamily="34" charset="-122"/>
                <a:cs typeface="Cambria" pitchFamily="34" charset="-120"/>
              </a:rPr>
              <a:t>v1</a:t>
            </a:r>
            <a:endParaRPr lang="en-US" sz="1200" dirty="0"/>
          </a:p>
        </p:txBody>
      </p:sp>
      <p:sp>
        <p:nvSpPr>
          <p:cNvPr id="33" name="Shape 31"/>
          <p:cNvSpPr/>
          <p:nvPr/>
        </p:nvSpPr>
        <p:spPr>
          <a:xfrm>
            <a:off x="3337560" y="1664208"/>
            <a:ext cx="1005840" cy="0"/>
          </a:xfrm>
          <a:prstGeom prst="line">
            <a:avLst/>
          </a:prstGeom>
          <a:noFill/>
          <a:ln w="22225">
            <a:solidFill>
              <a:srgbClr val="513B3C"/>
            </a:solidFill>
            <a:prstDash val="solid"/>
            <a:tailEnd type="triangle"/>
          </a:ln>
        </p:spPr>
      </p:sp>
      <p:sp>
        <p:nvSpPr>
          <p:cNvPr id="34" name="Text 32"/>
          <p:cNvSpPr txBox="1"/>
          <p:nvPr/>
        </p:nvSpPr>
        <p:spPr>
          <a:xfrm>
            <a:off x="3291840" y="1371600"/>
            <a:ext cx="1097280" cy="256032"/>
          </a:xfrm>
          <a:prstGeom prst="rect">
            <a:avLst/>
          </a:prstGeom>
          <a:noFill/>
          <a:ln/>
        </p:spPr>
        <p:txBody>
          <a:bodyPr wrap="square" lIns="0" tIns="0" rIns="0" bIns="0" rtlCol="0" anchor="ctr"/>
          <a:lstStyle/>
          <a:p>
            <a:pPr algn="ctr" indent="0" marL="0">
              <a:buNone/>
            </a:pPr>
            <a:r>
              <a:rPr lang="en-US" sz="1000" i="1" dirty="0">
                <a:solidFill>
                  <a:srgbClr val="7D6A6B"/>
                </a:solidFill>
                <a:latin typeface="Calibri" pitchFamily="34" charset="0"/>
                <a:ea typeface="Calibri" pitchFamily="34" charset="-122"/>
                <a:cs typeface="Calibri" pitchFamily="34" charset="-120"/>
              </a:rPr>
              <a:t>mutate</a:t>
            </a:r>
            <a:endParaRPr lang="en-US" sz="1000" dirty="0"/>
          </a:p>
        </p:txBody>
      </p:sp>
      <p:sp>
        <p:nvSpPr>
          <p:cNvPr id="35" name="Shape 33"/>
          <p:cNvSpPr/>
          <p:nvPr/>
        </p:nvSpPr>
        <p:spPr>
          <a:xfrm>
            <a:off x="457200" y="2606040"/>
            <a:ext cx="4023360" cy="1600200"/>
          </a:xfrm>
          <a:prstGeom prst="roundRect">
            <a:avLst>
              <a:gd name="adj" fmla="val 4571"/>
            </a:avLst>
          </a:prstGeom>
          <a:solidFill>
            <a:srgbClr val="F6E7DB"/>
          </a:solidFill>
          <a:ln w="12700">
            <a:solidFill>
              <a:srgbClr val="F6E7DB"/>
            </a:solidFill>
            <a:prstDash val="solid"/>
          </a:ln>
        </p:spPr>
      </p:sp>
      <p:sp>
        <p:nvSpPr>
          <p:cNvPr id="36" name="Text 34"/>
          <p:cNvSpPr txBox="1"/>
          <p:nvPr/>
        </p:nvSpPr>
        <p:spPr>
          <a:xfrm>
            <a:off x="640080" y="2697480"/>
            <a:ext cx="3657600" cy="32004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Without a version check</a:t>
            </a:r>
            <a:endParaRPr lang="en-US" sz="1400" dirty="0"/>
          </a:p>
        </p:txBody>
      </p:sp>
      <p:sp>
        <p:nvSpPr>
          <p:cNvPr id="37" name="Text 35"/>
          <p:cNvSpPr txBox="1"/>
          <p:nvPr/>
        </p:nvSpPr>
        <p:spPr>
          <a:xfrm>
            <a:off x="640080" y="3035808"/>
            <a:ext cx="3657600" cy="640080"/>
          </a:xfrm>
          <a:prstGeom prst="rect">
            <a:avLst/>
          </a:prstGeom>
          <a:noFill/>
          <a:ln/>
        </p:spPr>
        <p:txBody>
          <a:bodyPr wrap="square" lIns="0" tIns="0" rIns="0" bIns="0" rtlCol="0" anchor="t"/>
          <a:lstStyle/>
          <a:p>
            <a:pPr indent="0" marL="0">
              <a:buNone/>
            </a:pPr>
            <a:r>
              <a:rPr lang="en-US" sz="1150" dirty="0">
                <a:solidFill>
                  <a:srgbClr val="513B3C"/>
                </a:solidFill>
                <a:latin typeface="Calibri" pitchFamily="34" charset="0"/>
                <a:ea typeface="Calibri" pitchFamily="34" charset="-122"/>
                <a:cs typeface="Calibri" pitchFamily="34" charset="-120"/>
              </a:rPr>
              <a:t>Same shape id → cache still says slot 2 → reads b = 2.</a:t>
            </a:r>
            <a:endParaRPr lang="en-US" sz="1150" dirty="0"/>
          </a:p>
        </p:txBody>
      </p:sp>
      <p:sp>
        <p:nvSpPr>
          <p:cNvPr id="38" name="Text 36"/>
          <p:cNvSpPr txBox="1"/>
          <p:nvPr/>
        </p:nvSpPr>
        <p:spPr>
          <a:xfrm>
            <a:off x="640080" y="3749040"/>
            <a:ext cx="3657600" cy="32004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  Wrong answer</a:t>
            </a:r>
            <a:endParaRPr lang="en-US" sz="1300" dirty="0"/>
          </a:p>
        </p:txBody>
      </p:sp>
      <p:sp>
        <p:nvSpPr>
          <p:cNvPr id="39" name="Shape 37"/>
          <p:cNvSpPr/>
          <p:nvPr/>
        </p:nvSpPr>
        <p:spPr>
          <a:xfrm>
            <a:off x="4663440" y="2606040"/>
            <a:ext cx="4023360" cy="1600200"/>
          </a:xfrm>
          <a:prstGeom prst="roundRect">
            <a:avLst>
              <a:gd name="adj" fmla="val 4571"/>
            </a:avLst>
          </a:prstGeom>
          <a:solidFill>
            <a:srgbClr val="548687"/>
          </a:solidFill>
          <a:ln w="12700">
            <a:solidFill>
              <a:srgbClr val="548687"/>
            </a:solidFill>
            <a:prstDash val="solid"/>
          </a:ln>
        </p:spPr>
      </p:sp>
      <p:sp>
        <p:nvSpPr>
          <p:cNvPr id="40" name="Text 38"/>
          <p:cNvSpPr txBox="1"/>
          <p:nvPr/>
        </p:nvSpPr>
        <p:spPr>
          <a:xfrm>
            <a:off x="4846320" y="2697480"/>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With a version check</a:t>
            </a:r>
            <a:endParaRPr lang="en-US" sz="1400" dirty="0"/>
          </a:p>
        </p:txBody>
      </p:sp>
      <p:sp>
        <p:nvSpPr>
          <p:cNvPr id="41" name="Text 39"/>
          <p:cNvSpPr txBox="1"/>
          <p:nvPr/>
        </p:nvSpPr>
        <p:spPr>
          <a:xfrm>
            <a:off x="4846320" y="3035808"/>
            <a:ext cx="3657600" cy="64008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Cache stored (shape, v0). Shape is now v1 → treated as a miss → re-lookup finds slot 3.</a:t>
            </a:r>
            <a:endParaRPr lang="en-US" sz="1150" dirty="0"/>
          </a:p>
        </p:txBody>
      </p:sp>
      <p:sp>
        <p:nvSpPr>
          <p:cNvPr id="42" name="Text 40"/>
          <p:cNvSpPr txBox="1"/>
          <p:nvPr/>
        </p:nvSpPr>
        <p:spPr>
          <a:xfrm>
            <a:off x="4846320" y="3749040"/>
            <a:ext cx="36576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Reads x = 3; exactly 1 re-miss</a:t>
            </a:r>
            <a:endParaRPr lang="en-US" sz="1300" dirty="0"/>
          </a:p>
        </p:txBody>
      </p:sp>
      <p:sp>
        <p:nvSpPr>
          <p:cNvPr id="43" name="Text 41"/>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100" i="1" dirty="0">
                <a:solidFill>
                  <a:srgbClr val="7D6A6B"/>
                </a:solidFill>
                <a:latin typeface="Calibri" pitchFamily="34" charset="0"/>
                <a:ea typeface="Calibri" pitchFamily="34" charset="-122"/>
                <a:cs typeface="Calibri" pitchFamily="34" charset="-120"/>
              </a:rPr>
              <a:t>Lazy invalidation: nothing is flushed on mutation — stale entries are rejected the next time they are used.</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17</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Tier-2 guards and deoptimisation (IC5)</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4 · EHSAN</a:t>
            </a:r>
            <a:endParaRPr lang="en-US" sz="1000" dirty="0"/>
          </a:p>
        </p:txBody>
      </p:sp>
      <p:sp>
        <p:nvSpPr>
          <p:cNvPr id="6" name="Shape 4"/>
          <p:cNvSpPr/>
          <p:nvPr/>
        </p:nvSpPr>
        <p:spPr>
          <a:xfrm>
            <a:off x="457200" y="1188720"/>
            <a:ext cx="2103120" cy="868680"/>
          </a:xfrm>
          <a:prstGeom prst="roundRect">
            <a:avLst>
              <a:gd name="adj" fmla="val 8421"/>
            </a:avLst>
          </a:prstGeom>
          <a:solidFill>
            <a:srgbClr val="E6F8FF"/>
          </a:solidFill>
          <a:ln w="12700">
            <a:solidFill>
              <a:srgbClr val="E6F8FF"/>
            </a:solidFill>
            <a:prstDash val="solid"/>
          </a:ln>
        </p:spPr>
      </p:sp>
      <p:sp>
        <p:nvSpPr>
          <p:cNvPr id="7" name="Text 5"/>
          <p:cNvSpPr txBox="1"/>
          <p:nvPr/>
        </p:nvSpPr>
        <p:spPr>
          <a:xfrm>
            <a:off x="457200" y="1188720"/>
            <a:ext cx="2103120" cy="86868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Loop is hot</a:t>
            </a:r>
            <a:endParaRPr lang="en-US" sz="1200" dirty="0"/>
          </a:p>
          <a:p>
            <a:pPr algn="ctr" indent="0" marL="0">
              <a:buNone/>
            </a:pPr>
            <a:r>
              <a:rPr lang="en-US" sz="1200" dirty="0">
                <a:solidFill>
                  <a:srgbClr val="513B3C"/>
                </a:solidFill>
                <a:latin typeface="Calibri" pitchFamily="34" charset="0"/>
                <a:ea typeface="Calibri" pitchFamily="34" charset="-122"/>
                <a:cs typeface="Calibri" pitchFamily="34" charset="-120"/>
              </a:rPr>
              <a:t>and the site is MONO</a:t>
            </a:r>
            <a:endParaRPr lang="en-US" sz="1200" dirty="0"/>
          </a:p>
        </p:txBody>
      </p:sp>
      <p:sp>
        <p:nvSpPr>
          <p:cNvPr id="8" name="Shape 6"/>
          <p:cNvSpPr/>
          <p:nvPr/>
        </p:nvSpPr>
        <p:spPr>
          <a:xfrm>
            <a:off x="2606040" y="1618488"/>
            <a:ext cx="411480" cy="0"/>
          </a:xfrm>
          <a:prstGeom prst="line">
            <a:avLst/>
          </a:prstGeom>
          <a:noFill/>
          <a:ln w="22225">
            <a:solidFill>
              <a:srgbClr val="7D6A6B"/>
            </a:solidFill>
            <a:prstDash val="solid"/>
            <a:tailEnd type="triangle"/>
          </a:ln>
        </p:spPr>
      </p:sp>
      <p:sp>
        <p:nvSpPr>
          <p:cNvPr id="9" name="Shape 7"/>
          <p:cNvSpPr/>
          <p:nvPr/>
        </p:nvSpPr>
        <p:spPr>
          <a:xfrm>
            <a:off x="3063240" y="1188720"/>
            <a:ext cx="2651760" cy="868680"/>
          </a:xfrm>
          <a:prstGeom prst="roundRect">
            <a:avLst>
              <a:gd name="adj" fmla="val 8421"/>
            </a:avLst>
          </a:prstGeom>
          <a:solidFill>
            <a:srgbClr val="548687"/>
          </a:solidFill>
          <a:ln w="12700">
            <a:solidFill>
              <a:srgbClr val="548687"/>
            </a:solidFill>
            <a:prstDash val="solid"/>
          </a:ln>
        </p:spPr>
      </p:sp>
      <p:sp>
        <p:nvSpPr>
          <p:cNvPr id="10" name="Text 8"/>
          <p:cNvSpPr txBox="1"/>
          <p:nvPr/>
        </p:nvSpPr>
        <p:spPr>
          <a:xfrm>
            <a:off x="3063240" y="1188720"/>
            <a:ext cx="2651760" cy="8686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Compile guarded fast path</a:t>
            </a:r>
            <a:endParaRPr lang="en-US" sz="1200" dirty="0"/>
          </a:p>
          <a:p>
            <a:pPr algn="ctr" indent="0" marL="0">
              <a:buNone/>
            </a:pPr>
            <a:r>
              <a:rPr lang="en-US" sz="1050" dirty="0">
                <a:solidFill>
                  <a:srgbClr val="FFFFFF"/>
                </a:solidFill>
                <a:latin typeface="Courier New" pitchFamily="34" charset="0"/>
                <a:ea typeface="Courier New" pitchFamily="34" charset="-122"/>
                <a:cs typeface="Courier New" pitchFamily="34" charset="-120"/>
              </a:rPr>
              <a:t>if shape == A: read slot 1</a:t>
            </a:r>
            <a:endParaRPr lang="en-US" sz="1200" dirty="0"/>
          </a:p>
        </p:txBody>
      </p:sp>
      <p:sp>
        <p:nvSpPr>
          <p:cNvPr id="11" name="Shape 9"/>
          <p:cNvSpPr/>
          <p:nvPr/>
        </p:nvSpPr>
        <p:spPr>
          <a:xfrm>
            <a:off x="4389120" y="2103120"/>
            <a:ext cx="0" cy="365760"/>
          </a:xfrm>
          <a:prstGeom prst="line">
            <a:avLst/>
          </a:prstGeom>
          <a:noFill/>
          <a:ln w="22225">
            <a:solidFill>
              <a:srgbClr val="7D6A6B"/>
            </a:solidFill>
            <a:prstDash val="solid"/>
            <a:tailEnd type="triangle"/>
          </a:ln>
        </p:spPr>
      </p:sp>
      <p:sp>
        <p:nvSpPr>
          <p:cNvPr id="12" name="Shape 10"/>
          <p:cNvSpPr/>
          <p:nvPr/>
        </p:nvSpPr>
        <p:spPr>
          <a:xfrm>
            <a:off x="3474720" y="2514600"/>
            <a:ext cx="1828800" cy="548640"/>
          </a:xfrm>
          <a:prstGeom prst="roundRect">
            <a:avLst>
              <a:gd name="adj" fmla="val 13333"/>
            </a:avLst>
          </a:prstGeom>
          <a:solidFill>
            <a:srgbClr val="E5BE9E"/>
          </a:solidFill>
          <a:ln w="12700">
            <a:solidFill>
              <a:srgbClr val="E5BE9E"/>
            </a:solidFill>
            <a:prstDash val="solid"/>
          </a:ln>
        </p:spPr>
      </p:sp>
      <p:sp>
        <p:nvSpPr>
          <p:cNvPr id="13" name="Text 11"/>
          <p:cNvSpPr txBox="1"/>
          <p:nvPr/>
        </p:nvSpPr>
        <p:spPr>
          <a:xfrm>
            <a:off x="3474720" y="2514600"/>
            <a:ext cx="1828800" cy="54864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Guard holds?</a:t>
            </a:r>
            <a:endParaRPr lang="en-US" sz="1200" dirty="0"/>
          </a:p>
        </p:txBody>
      </p:sp>
      <p:sp>
        <p:nvSpPr>
          <p:cNvPr id="14" name="Shape 12"/>
          <p:cNvSpPr/>
          <p:nvPr/>
        </p:nvSpPr>
        <p:spPr>
          <a:xfrm flipH="1">
            <a:off x="2606040" y="2788920"/>
            <a:ext cx="822960" cy="0"/>
          </a:xfrm>
          <a:prstGeom prst="line">
            <a:avLst/>
          </a:prstGeom>
          <a:noFill/>
          <a:ln w="22225">
            <a:solidFill>
              <a:srgbClr val="7D6A6B"/>
            </a:solidFill>
            <a:prstDash val="solid"/>
            <a:tailEnd type="triangle"/>
          </a:ln>
        </p:spPr>
      </p:sp>
      <p:sp>
        <p:nvSpPr>
          <p:cNvPr id="15" name="Text 13"/>
          <p:cNvSpPr txBox="1"/>
          <p:nvPr/>
        </p:nvSpPr>
        <p:spPr>
          <a:xfrm>
            <a:off x="2651760" y="2487168"/>
            <a:ext cx="548640" cy="256032"/>
          </a:xfrm>
          <a:prstGeom prst="rect">
            <a:avLst/>
          </a:prstGeom>
          <a:noFill/>
          <a:ln/>
        </p:spPr>
        <p:txBody>
          <a:bodyPr wrap="square" lIns="0" tIns="0" rIns="0" bIns="0" rtlCol="0" anchor="ctr"/>
          <a:lstStyle/>
          <a:p>
            <a:pPr indent="0" marL="0">
              <a:buNone/>
            </a:pPr>
            <a:r>
              <a:rPr lang="en-US" sz="1000" i="1" dirty="0">
                <a:solidFill>
                  <a:srgbClr val="7D6A6B"/>
                </a:solidFill>
                <a:latin typeface="Calibri" pitchFamily="34" charset="0"/>
                <a:ea typeface="Calibri" pitchFamily="34" charset="-122"/>
                <a:cs typeface="Calibri" pitchFamily="34" charset="-120"/>
              </a:rPr>
              <a:t>yes</a:t>
            </a:r>
            <a:endParaRPr lang="en-US" sz="1000" dirty="0"/>
          </a:p>
        </p:txBody>
      </p:sp>
      <p:sp>
        <p:nvSpPr>
          <p:cNvPr id="16" name="Shape 14"/>
          <p:cNvSpPr/>
          <p:nvPr/>
        </p:nvSpPr>
        <p:spPr>
          <a:xfrm>
            <a:off x="457200" y="2514600"/>
            <a:ext cx="2103120" cy="548640"/>
          </a:xfrm>
          <a:prstGeom prst="roundRect">
            <a:avLst>
              <a:gd name="adj" fmla="val 13333"/>
            </a:avLst>
          </a:prstGeom>
          <a:solidFill>
            <a:srgbClr val="E6F8FF"/>
          </a:solidFill>
          <a:ln w="12700">
            <a:solidFill>
              <a:srgbClr val="E6F8FF"/>
            </a:solidFill>
            <a:prstDash val="solid"/>
          </a:ln>
        </p:spPr>
      </p:sp>
      <p:sp>
        <p:nvSpPr>
          <p:cNvPr id="17" name="Text 15"/>
          <p:cNvSpPr txBox="1"/>
          <p:nvPr/>
        </p:nvSpPr>
        <p:spPr>
          <a:xfrm>
            <a:off x="457200" y="2514600"/>
            <a:ext cx="2103120" cy="54864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Direct read — fastest</a:t>
            </a:r>
            <a:endParaRPr lang="en-US" sz="1200" dirty="0"/>
          </a:p>
        </p:txBody>
      </p:sp>
      <p:sp>
        <p:nvSpPr>
          <p:cNvPr id="18" name="Shape 16"/>
          <p:cNvSpPr/>
          <p:nvPr/>
        </p:nvSpPr>
        <p:spPr>
          <a:xfrm>
            <a:off x="4389120" y="3108960"/>
            <a:ext cx="0" cy="365760"/>
          </a:xfrm>
          <a:prstGeom prst="line">
            <a:avLst/>
          </a:prstGeom>
          <a:noFill/>
          <a:ln w="22225">
            <a:solidFill>
              <a:srgbClr val="7D6A6B"/>
            </a:solidFill>
            <a:prstDash val="solid"/>
            <a:tailEnd type="triangle"/>
          </a:ln>
        </p:spPr>
      </p:sp>
      <p:sp>
        <p:nvSpPr>
          <p:cNvPr id="19" name="Text 17"/>
          <p:cNvSpPr txBox="1"/>
          <p:nvPr/>
        </p:nvSpPr>
        <p:spPr>
          <a:xfrm>
            <a:off x="4480560" y="3127248"/>
            <a:ext cx="457200" cy="256032"/>
          </a:xfrm>
          <a:prstGeom prst="rect">
            <a:avLst/>
          </a:prstGeom>
          <a:noFill/>
          <a:ln/>
        </p:spPr>
        <p:txBody>
          <a:bodyPr wrap="square" lIns="0" tIns="0" rIns="0" bIns="0" rtlCol="0" anchor="ctr"/>
          <a:lstStyle/>
          <a:p>
            <a:pPr indent="0" marL="0">
              <a:buNone/>
            </a:pPr>
            <a:r>
              <a:rPr lang="en-US" sz="1000" i="1" dirty="0">
                <a:solidFill>
                  <a:srgbClr val="7D6A6B"/>
                </a:solidFill>
                <a:latin typeface="Calibri" pitchFamily="34" charset="0"/>
                <a:ea typeface="Calibri" pitchFamily="34" charset="-122"/>
                <a:cs typeface="Calibri" pitchFamily="34" charset="-120"/>
              </a:rPr>
              <a:t>no</a:t>
            </a:r>
            <a:endParaRPr lang="en-US" sz="1000" dirty="0"/>
          </a:p>
        </p:txBody>
      </p:sp>
      <p:sp>
        <p:nvSpPr>
          <p:cNvPr id="20" name="Shape 18"/>
          <p:cNvSpPr/>
          <p:nvPr/>
        </p:nvSpPr>
        <p:spPr>
          <a:xfrm>
            <a:off x="2377440" y="3520440"/>
            <a:ext cx="4023360" cy="1051560"/>
          </a:xfrm>
          <a:prstGeom prst="roundRect">
            <a:avLst>
              <a:gd name="adj" fmla="val 6957"/>
            </a:avLst>
          </a:prstGeom>
          <a:solidFill>
            <a:srgbClr val="513B3C"/>
          </a:solidFill>
          <a:ln w="12700">
            <a:solidFill>
              <a:srgbClr val="513B3C"/>
            </a:solidFill>
            <a:prstDash val="solid"/>
          </a:ln>
        </p:spPr>
      </p:sp>
      <p:sp>
        <p:nvSpPr>
          <p:cNvPr id="21" name="Text 19"/>
          <p:cNvSpPr txBox="1"/>
          <p:nvPr/>
        </p:nvSpPr>
        <p:spPr>
          <a:xfrm>
            <a:off x="2514600" y="3566160"/>
            <a:ext cx="3749040" cy="960120"/>
          </a:xfrm>
          <a:prstGeom prst="rect">
            <a:avLst/>
          </a:prstGeom>
          <a:noFill/>
          <a:ln/>
        </p:spPr>
        <p:txBody>
          <a:bodyPr wrap="square" lIns="0" tIns="0" rIns="0" bIns="0" rtlCol="0" anchor="ctr"/>
          <a:lstStyle/>
          <a:p>
            <a:pPr indent="0" marL="0">
              <a:buNone/>
            </a:pPr>
            <a:r>
              <a:rPr lang="en-US" sz="1150" b="1" dirty="0">
                <a:solidFill>
                  <a:srgbClr val="E1B07E"/>
                </a:solidFill>
                <a:latin typeface="Calibri" pitchFamily="34" charset="0"/>
                <a:ea typeface="Calibri" pitchFamily="34" charset="-122"/>
                <a:cs typeface="Calibri" pitchFamily="34" charset="-120"/>
              </a:rPr>
              <a:t>Deoptimise</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1. Discard compiled code   2. Hard-reset IC → UNINIT</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3. Redo the access through the interpreter + IC</a:t>
            </a:r>
            <a:endParaRPr lang="en-US" sz="1150" dirty="0"/>
          </a:p>
        </p:txBody>
      </p:sp>
      <p:sp>
        <p:nvSpPr>
          <p:cNvPr id="22" name="Text 20"/>
          <p:cNvSpPr txBox="1"/>
          <p:nvPr/>
        </p:nvSpPr>
        <p:spPr>
          <a:xfrm>
            <a:off x="6675120" y="1143000"/>
            <a:ext cx="2103120" cy="457200"/>
          </a:xfrm>
          <a:prstGeom prst="rect">
            <a:avLst/>
          </a:prstGeom>
          <a:noFill/>
          <a:ln/>
        </p:spPr>
        <p:txBody>
          <a:bodyPr wrap="square" lIns="0" tIns="0" rIns="0" bIns="0" rtlCol="0" anchor="t"/>
          <a:lstStyle/>
          <a:p>
            <a:pPr indent="0" marL="0">
              <a:buNone/>
            </a:pPr>
            <a:r>
              <a:rPr lang="en-US" sz="1100" b="1" dirty="0">
                <a:solidFill>
                  <a:srgbClr val="513B3C"/>
                </a:solidFill>
                <a:latin typeface="Calibri" pitchFamily="34" charset="0"/>
                <a:ea typeface="Calibri" pitchFamily="34" charset="-122"/>
                <a:cs typeface="Calibri" pitchFamily="34" charset="-120"/>
              </a:rPr>
              <a:t>IC5: 50 shape-A objects, then 50 shape-B</a:t>
            </a:r>
            <a:endParaRPr lang="en-US" sz="1100" dirty="0"/>
          </a:p>
        </p:txBody>
      </p:sp>
      <p:sp>
        <p:nvSpPr>
          <p:cNvPr id="23" name="Text 21"/>
          <p:cNvSpPr txBox="1"/>
          <p:nvPr/>
        </p:nvSpPr>
        <p:spPr>
          <a:xfrm>
            <a:off x="6675120" y="1645920"/>
            <a:ext cx="2011680" cy="384048"/>
          </a:xfrm>
          <a:prstGeom prst="rect">
            <a:avLst/>
          </a:prstGeom>
          <a:noFill/>
          <a:ln/>
        </p:spPr>
        <p:txBody>
          <a:bodyPr wrap="square" lIns="0" tIns="0" rIns="0" bIns="0" rtlCol="0" anchor="ctr"/>
          <a:lstStyle/>
          <a:p>
            <a:pPr indent="0" marL="0">
              <a:buNone/>
            </a:pPr>
            <a:r>
              <a:rPr lang="en-US" sz="2400" b="1" dirty="0">
                <a:solidFill>
                  <a:srgbClr val="548687"/>
                </a:solidFill>
                <a:latin typeface="Cambria" pitchFamily="34" charset="0"/>
                <a:ea typeface="Cambria" pitchFamily="34" charset="-122"/>
                <a:cs typeface="Cambria" pitchFamily="34" charset="-120"/>
              </a:rPr>
              <a:t>1</a:t>
            </a:r>
            <a:endParaRPr lang="en-US" sz="2400" dirty="0"/>
          </a:p>
        </p:txBody>
      </p:sp>
      <p:sp>
        <p:nvSpPr>
          <p:cNvPr id="24" name="Text 22"/>
          <p:cNvSpPr txBox="1"/>
          <p:nvPr/>
        </p:nvSpPr>
        <p:spPr>
          <a:xfrm>
            <a:off x="6675120" y="2011680"/>
            <a:ext cx="2011680" cy="274320"/>
          </a:xfrm>
          <a:prstGeom prst="rect">
            <a:avLst/>
          </a:prstGeom>
          <a:noFill/>
          <a:ln/>
        </p:spPr>
        <p:txBody>
          <a:bodyPr wrap="square" lIns="0" tIns="0" rIns="0" bIns="0" rtlCol="0" anchor="ctr"/>
          <a:lstStyle/>
          <a:p>
            <a:pPr indent="0" marL="0">
              <a:buNone/>
            </a:pPr>
            <a:r>
              <a:rPr lang="en-US" sz="1050" dirty="0">
                <a:solidFill>
                  <a:srgbClr val="7D6A6B"/>
                </a:solidFill>
                <a:latin typeface="Calibri" pitchFamily="34" charset="0"/>
                <a:ea typeface="Calibri" pitchFamily="34" charset="-122"/>
                <a:cs typeface="Calibri" pitchFamily="34" charset="-120"/>
              </a:rPr>
              <a:t>deopt, at the first B</a:t>
            </a:r>
            <a:endParaRPr lang="en-US" sz="1050" dirty="0"/>
          </a:p>
        </p:txBody>
      </p:sp>
      <p:sp>
        <p:nvSpPr>
          <p:cNvPr id="25" name="Text 23"/>
          <p:cNvSpPr txBox="1"/>
          <p:nvPr/>
        </p:nvSpPr>
        <p:spPr>
          <a:xfrm>
            <a:off x="6675120" y="2377440"/>
            <a:ext cx="2011680" cy="384048"/>
          </a:xfrm>
          <a:prstGeom prst="rect">
            <a:avLst/>
          </a:prstGeom>
          <a:noFill/>
          <a:ln/>
        </p:spPr>
        <p:txBody>
          <a:bodyPr wrap="square" lIns="0" tIns="0" rIns="0" bIns="0" rtlCol="0" anchor="ctr"/>
          <a:lstStyle/>
          <a:p>
            <a:pPr indent="0" marL="0">
              <a:buNone/>
            </a:pPr>
            <a:r>
              <a:rPr lang="en-US" sz="1800" b="1" dirty="0">
                <a:solidFill>
                  <a:srgbClr val="548687"/>
                </a:solidFill>
                <a:latin typeface="Cambria" pitchFamily="34" charset="0"/>
                <a:ea typeface="Cambria" pitchFamily="34" charset="-122"/>
                <a:cs typeface="Cambria" pitchFamily="34" charset="-120"/>
              </a:rPr>
              <a:t>UNINIT</a:t>
            </a:r>
            <a:endParaRPr lang="en-US" sz="1800" dirty="0"/>
          </a:p>
        </p:txBody>
      </p:sp>
      <p:sp>
        <p:nvSpPr>
          <p:cNvPr id="26" name="Text 24"/>
          <p:cNvSpPr txBox="1"/>
          <p:nvPr/>
        </p:nvSpPr>
        <p:spPr>
          <a:xfrm>
            <a:off x="6675120" y="2743200"/>
            <a:ext cx="2011680" cy="274320"/>
          </a:xfrm>
          <a:prstGeom prst="rect">
            <a:avLst/>
          </a:prstGeom>
          <a:noFill/>
          <a:ln/>
        </p:spPr>
        <p:txBody>
          <a:bodyPr wrap="square" lIns="0" tIns="0" rIns="0" bIns="0" rtlCol="0" anchor="ctr"/>
          <a:lstStyle/>
          <a:p>
            <a:pPr indent="0" marL="0">
              <a:buNone/>
            </a:pPr>
            <a:r>
              <a:rPr lang="en-US" sz="1050" dirty="0">
                <a:solidFill>
                  <a:srgbClr val="7D6A6B"/>
                </a:solidFill>
                <a:latin typeface="Calibri" pitchFamily="34" charset="0"/>
                <a:ea typeface="Calibri" pitchFamily="34" charset="-122"/>
                <a:cs typeface="Calibri" pitchFamily="34" charset="-120"/>
              </a:rPr>
              <a:t>state right after reset</a:t>
            </a:r>
            <a:endParaRPr lang="en-US" sz="1050" dirty="0"/>
          </a:p>
        </p:txBody>
      </p:sp>
      <p:sp>
        <p:nvSpPr>
          <p:cNvPr id="27" name="Text 25"/>
          <p:cNvSpPr txBox="1"/>
          <p:nvPr/>
        </p:nvSpPr>
        <p:spPr>
          <a:xfrm>
            <a:off x="6675120" y="3108960"/>
            <a:ext cx="2011680" cy="384048"/>
          </a:xfrm>
          <a:prstGeom prst="rect">
            <a:avLst/>
          </a:prstGeom>
          <a:noFill/>
          <a:ln/>
        </p:spPr>
        <p:txBody>
          <a:bodyPr wrap="square" lIns="0" tIns="0" rIns="0" bIns="0" rtlCol="0" anchor="ctr"/>
          <a:lstStyle/>
          <a:p>
            <a:pPr indent="0" marL="0">
              <a:buNone/>
            </a:pPr>
            <a:r>
              <a:rPr lang="en-US" sz="2400" b="1" dirty="0">
                <a:solidFill>
                  <a:srgbClr val="548687"/>
                </a:solidFill>
                <a:latin typeface="Cambria" pitchFamily="34" charset="0"/>
                <a:ea typeface="Cambria" pitchFamily="34" charset="-122"/>
                <a:cs typeface="Cambria" pitchFamily="34" charset="-120"/>
              </a:rPr>
              <a:t>92</a:t>
            </a:r>
            <a:endParaRPr lang="en-US" sz="2400" dirty="0"/>
          </a:p>
        </p:txBody>
      </p:sp>
      <p:sp>
        <p:nvSpPr>
          <p:cNvPr id="28" name="Text 26"/>
          <p:cNvSpPr txBox="1"/>
          <p:nvPr/>
        </p:nvSpPr>
        <p:spPr>
          <a:xfrm>
            <a:off x="6675120" y="3474720"/>
            <a:ext cx="2011680" cy="274320"/>
          </a:xfrm>
          <a:prstGeom prst="rect">
            <a:avLst/>
          </a:prstGeom>
          <a:noFill/>
          <a:ln/>
        </p:spPr>
        <p:txBody>
          <a:bodyPr wrap="square" lIns="0" tIns="0" rIns="0" bIns="0" rtlCol="0" anchor="ctr"/>
          <a:lstStyle/>
          <a:p>
            <a:pPr indent="0" marL="0">
              <a:buNone/>
            </a:pPr>
            <a:r>
              <a:rPr lang="en-US" sz="1050" dirty="0">
                <a:solidFill>
                  <a:srgbClr val="7D6A6B"/>
                </a:solidFill>
                <a:latin typeface="Calibri" pitchFamily="34" charset="0"/>
                <a:ea typeface="Calibri" pitchFamily="34" charset="-122"/>
                <a:cs typeface="Calibri" pitchFamily="34" charset="-120"/>
              </a:rPr>
              <a:t>fast-path reads</a:t>
            </a:r>
            <a:endParaRPr lang="en-US" sz="1050" dirty="0"/>
          </a:p>
        </p:txBody>
      </p:sp>
      <p:sp>
        <p:nvSpPr>
          <p:cNvPr id="29" name="Text 27"/>
          <p:cNvSpPr txBox="1"/>
          <p:nvPr/>
        </p:nvSpPr>
        <p:spPr>
          <a:xfrm>
            <a:off x="6675120" y="3840480"/>
            <a:ext cx="2011680" cy="384048"/>
          </a:xfrm>
          <a:prstGeom prst="rect">
            <a:avLst/>
          </a:prstGeom>
          <a:noFill/>
          <a:ln/>
        </p:spPr>
        <p:txBody>
          <a:bodyPr wrap="square" lIns="0" tIns="0" rIns="0" bIns="0" rtlCol="0" anchor="ctr"/>
          <a:lstStyle/>
          <a:p>
            <a:pPr indent="0" marL="0">
              <a:buNone/>
            </a:pPr>
            <a:r>
              <a:rPr lang="en-US" sz="2400" b="1" dirty="0">
                <a:solidFill>
                  <a:srgbClr val="548687"/>
                </a:solidFill>
                <a:latin typeface="Cambria" pitchFamily="34" charset="0"/>
                <a:ea typeface="Cambria" pitchFamily="34" charset="-122"/>
                <a:cs typeface="Cambria" pitchFamily="34" charset="-120"/>
              </a:rPr>
              <a:t>0</a:t>
            </a:r>
            <a:endParaRPr lang="en-US" sz="2400" dirty="0"/>
          </a:p>
        </p:txBody>
      </p:sp>
      <p:sp>
        <p:nvSpPr>
          <p:cNvPr id="30" name="Text 28"/>
          <p:cNvSpPr txBox="1"/>
          <p:nvPr/>
        </p:nvSpPr>
        <p:spPr>
          <a:xfrm>
            <a:off x="6675120" y="4206240"/>
            <a:ext cx="2011680" cy="274320"/>
          </a:xfrm>
          <a:prstGeom prst="rect">
            <a:avLst/>
          </a:prstGeom>
          <a:noFill/>
          <a:ln/>
        </p:spPr>
        <p:txBody>
          <a:bodyPr wrap="square" lIns="0" tIns="0" rIns="0" bIns="0" rtlCol="0" anchor="ctr"/>
          <a:lstStyle/>
          <a:p>
            <a:pPr indent="0" marL="0">
              <a:buNone/>
            </a:pPr>
            <a:r>
              <a:rPr lang="en-US" sz="1050" dirty="0">
                <a:solidFill>
                  <a:srgbClr val="7D6A6B"/>
                </a:solidFill>
                <a:latin typeface="Calibri" pitchFamily="34" charset="0"/>
                <a:ea typeface="Calibri" pitchFamily="34" charset="-122"/>
                <a:cs typeface="Calibri" pitchFamily="34" charset="-120"/>
              </a:rPr>
              <a:t>mismatches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21</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Tier-2 status and risks</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4 · EHSAN</a:t>
            </a:r>
            <a:endParaRPr lang="en-US" sz="1000" dirty="0"/>
          </a:p>
        </p:txBody>
      </p:sp>
      <p:sp>
        <p:nvSpPr>
          <p:cNvPr id="6" name="Shape 4"/>
          <p:cNvSpPr/>
          <p:nvPr/>
        </p:nvSpPr>
        <p:spPr>
          <a:xfrm>
            <a:off x="457200" y="1188720"/>
            <a:ext cx="4846320" cy="512064"/>
          </a:xfrm>
          <a:prstGeom prst="roundRect">
            <a:avLst>
              <a:gd name="adj" fmla="val 14286"/>
            </a:avLst>
          </a:prstGeom>
          <a:solidFill>
            <a:srgbClr val="E6F8FF"/>
          </a:solidFill>
          <a:ln w="12700">
            <a:solidFill>
              <a:srgbClr val="E6F8FF"/>
            </a:solidFill>
            <a:prstDash val="solid"/>
          </a:ln>
        </p:spPr>
      </p:sp>
      <p:sp>
        <p:nvSpPr>
          <p:cNvPr id="7" name="Text 5"/>
          <p:cNvSpPr txBox="1"/>
          <p:nvPr/>
        </p:nvSpPr>
        <p:spPr>
          <a:xfrm>
            <a:off x="640080" y="1188720"/>
            <a:ext cx="3291840" cy="512064"/>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Native codegen for arithmetic hot paths (asmjit)</a:t>
            </a:r>
            <a:endParaRPr lang="en-US" sz="1200" dirty="0"/>
          </a:p>
        </p:txBody>
      </p:sp>
      <p:sp>
        <p:nvSpPr>
          <p:cNvPr id="8" name="Shape 6"/>
          <p:cNvSpPr/>
          <p:nvPr/>
        </p:nvSpPr>
        <p:spPr>
          <a:xfrm>
            <a:off x="4069080" y="1289304"/>
            <a:ext cx="1097280" cy="310896"/>
          </a:xfrm>
          <a:prstGeom prst="roundRect">
            <a:avLst>
              <a:gd name="adj" fmla="val 23529"/>
            </a:avLst>
          </a:prstGeom>
          <a:solidFill>
            <a:srgbClr val="548687"/>
          </a:solidFill>
          <a:ln w="12700">
            <a:solidFill>
              <a:srgbClr val="548687"/>
            </a:solidFill>
            <a:prstDash val="solid"/>
          </a:ln>
        </p:spPr>
      </p:sp>
      <p:sp>
        <p:nvSpPr>
          <p:cNvPr id="9" name="Text 7"/>
          <p:cNvSpPr txBox="1"/>
          <p:nvPr/>
        </p:nvSpPr>
        <p:spPr>
          <a:xfrm>
            <a:off x="4069080" y="1289304"/>
            <a:ext cx="109728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Implemented</a:t>
            </a:r>
            <a:endParaRPr lang="en-US" sz="1050" dirty="0"/>
          </a:p>
        </p:txBody>
      </p:sp>
      <p:sp>
        <p:nvSpPr>
          <p:cNvPr id="10" name="Shape 8"/>
          <p:cNvSpPr/>
          <p:nvPr/>
        </p:nvSpPr>
        <p:spPr>
          <a:xfrm>
            <a:off x="457200" y="1810512"/>
            <a:ext cx="4846320" cy="512064"/>
          </a:xfrm>
          <a:prstGeom prst="roundRect">
            <a:avLst>
              <a:gd name="adj" fmla="val 14286"/>
            </a:avLst>
          </a:prstGeom>
          <a:solidFill>
            <a:srgbClr val="E6F8FF"/>
          </a:solidFill>
          <a:ln w="12700">
            <a:solidFill>
              <a:srgbClr val="E6F8FF"/>
            </a:solidFill>
            <a:prstDash val="solid"/>
          </a:ln>
        </p:spPr>
      </p:sp>
      <p:sp>
        <p:nvSpPr>
          <p:cNvPr id="11" name="Text 9"/>
          <p:cNvSpPr txBox="1"/>
          <p:nvPr/>
        </p:nvSpPr>
        <p:spPr>
          <a:xfrm>
            <a:off x="640080" y="1810512"/>
            <a:ext cx="3291840" cy="512064"/>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Guard + deopt logic (reference model, IC5)</a:t>
            </a:r>
            <a:endParaRPr lang="en-US" sz="1200" dirty="0"/>
          </a:p>
        </p:txBody>
      </p:sp>
      <p:sp>
        <p:nvSpPr>
          <p:cNvPr id="12" name="Shape 10"/>
          <p:cNvSpPr/>
          <p:nvPr/>
        </p:nvSpPr>
        <p:spPr>
          <a:xfrm>
            <a:off x="4069080" y="1911096"/>
            <a:ext cx="1097280" cy="310896"/>
          </a:xfrm>
          <a:prstGeom prst="roundRect">
            <a:avLst>
              <a:gd name="adj" fmla="val 23529"/>
            </a:avLst>
          </a:prstGeom>
          <a:solidFill>
            <a:srgbClr val="548687"/>
          </a:solidFill>
          <a:ln w="12700">
            <a:solidFill>
              <a:srgbClr val="548687"/>
            </a:solidFill>
            <a:prstDash val="solid"/>
          </a:ln>
        </p:spPr>
      </p:sp>
      <p:sp>
        <p:nvSpPr>
          <p:cNvPr id="13" name="Text 11"/>
          <p:cNvSpPr txBox="1"/>
          <p:nvPr/>
        </p:nvSpPr>
        <p:spPr>
          <a:xfrm>
            <a:off x="4069080" y="1911096"/>
            <a:ext cx="109728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Tested</a:t>
            </a:r>
            <a:endParaRPr lang="en-US" sz="1050" dirty="0"/>
          </a:p>
        </p:txBody>
      </p:sp>
      <p:sp>
        <p:nvSpPr>
          <p:cNvPr id="14" name="Shape 12"/>
          <p:cNvSpPr/>
          <p:nvPr/>
        </p:nvSpPr>
        <p:spPr>
          <a:xfrm>
            <a:off x="457200" y="2432304"/>
            <a:ext cx="4846320" cy="512064"/>
          </a:xfrm>
          <a:prstGeom prst="roundRect">
            <a:avLst>
              <a:gd name="adj" fmla="val 14286"/>
            </a:avLst>
          </a:prstGeom>
          <a:solidFill>
            <a:srgbClr val="E6F8FF"/>
          </a:solidFill>
          <a:ln w="12700">
            <a:solidFill>
              <a:srgbClr val="E6F8FF"/>
            </a:solidFill>
            <a:prstDash val="solid"/>
          </a:ln>
        </p:spPr>
      </p:sp>
      <p:sp>
        <p:nvSpPr>
          <p:cNvPr id="15" name="Text 13"/>
          <p:cNvSpPr txBox="1"/>
          <p:nvPr/>
        </p:nvSpPr>
        <p:spPr>
          <a:xfrm>
            <a:off x="640080" y="2432304"/>
            <a:ext cx="3291840" cy="512064"/>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Inline-cache guards emitted in native code</a:t>
            </a:r>
            <a:endParaRPr lang="en-US" sz="1200" dirty="0"/>
          </a:p>
        </p:txBody>
      </p:sp>
      <p:sp>
        <p:nvSpPr>
          <p:cNvPr id="16" name="Shape 14"/>
          <p:cNvSpPr/>
          <p:nvPr/>
        </p:nvSpPr>
        <p:spPr>
          <a:xfrm>
            <a:off x="4069080" y="2532888"/>
            <a:ext cx="1097280" cy="310896"/>
          </a:xfrm>
          <a:prstGeom prst="roundRect">
            <a:avLst>
              <a:gd name="adj" fmla="val 23529"/>
            </a:avLst>
          </a:prstGeom>
          <a:solidFill>
            <a:srgbClr val="E5BE9E"/>
          </a:solidFill>
          <a:ln w="12700">
            <a:solidFill>
              <a:srgbClr val="E5BE9E"/>
            </a:solidFill>
            <a:prstDash val="solid"/>
          </a:ln>
        </p:spPr>
      </p:sp>
      <p:sp>
        <p:nvSpPr>
          <p:cNvPr id="17" name="Text 15"/>
          <p:cNvSpPr txBox="1"/>
          <p:nvPr/>
        </p:nvSpPr>
        <p:spPr>
          <a:xfrm>
            <a:off x="4069080" y="2532888"/>
            <a:ext cx="1097280" cy="310896"/>
          </a:xfrm>
          <a:prstGeom prst="rect">
            <a:avLst/>
          </a:prstGeom>
          <a:noFill/>
          <a:ln/>
        </p:spPr>
        <p:txBody>
          <a:bodyPr wrap="square" lIns="0" tIns="0" rIns="0" bIns="0" rtlCol="0" anchor="ctr"/>
          <a:lstStyle/>
          <a:p>
            <a:pPr algn="ctr" indent="0" marL="0">
              <a:buNone/>
            </a:pPr>
            <a:r>
              <a:rPr lang="en-US" sz="1050" b="1" dirty="0">
                <a:solidFill>
                  <a:srgbClr val="513B3C"/>
                </a:solidFill>
                <a:latin typeface="Calibri" pitchFamily="34" charset="0"/>
                <a:ea typeface="Calibri" pitchFamily="34" charset="-122"/>
                <a:cs typeface="Calibri" pitchFamily="34" charset="-120"/>
              </a:rPr>
              <a:t>Not started</a:t>
            </a:r>
            <a:endParaRPr lang="en-US" sz="1050" dirty="0"/>
          </a:p>
        </p:txBody>
      </p:sp>
      <p:sp>
        <p:nvSpPr>
          <p:cNvPr id="18" name="Shape 16"/>
          <p:cNvSpPr/>
          <p:nvPr/>
        </p:nvSpPr>
        <p:spPr>
          <a:xfrm>
            <a:off x="457200" y="3054096"/>
            <a:ext cx="4846320" cy="512064"/>
          </a:xfrm>
          <a:prstGeom prst="roundRect">
            <a:avLst>
              <a:gd name="adj" fmla="val 14286"/>
            </a:avLst>
          </a:prstGeom>
          <a:solidFill>
            <a:srgbClr val="E6F8FF"/>
          </a:solidFill>
          <a:ln w="12700">
            <a:solidFill>
              <a:srgbClr val="E6F8FF"/>
            </a:solidFill>
            <a:prstDash val="solid"/>
          </a:ln>
        </p:spPr>
      </p:sp>
      <p:sp>
        <p:nvSpPr>
          <p:cNvPr id="19" name="Text 17"/>
          <p:cNvSpPr txBox="1"/>
          <p:nvPr/>
        </p:nvSpPr>
        <p:spPr>
          <a:xfrm>
            <a:off x="640080" y="3054096"/>
            <a:ext cx="3291840" cy="512064"/>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Native deopt path (tier-2 → UNINIT)</a:t>
            </a:r>
            <a:endParaRPr lang="en-US" sz="1200" dirty="0"/>
          </a:p>
        </p:txBody>
      </p:sp>
      <p:sp>
        <p:nvSpPr>
          <p:cNvPr id="20" name="Shape 18"/>
          <p:cNvSpPr/>
          <p:nvPr/>
        </p:nvSpPr>
        <p:spPr>
          <a:xfrm>
            <a:off x="4069080" y="3154680"/>
            <a:ext cx="1097280" cy="310896"/>
          </a:xfrm>
          <a:prstGeom prst="roundRect">
            <a:avLst>
              <a:gd name="adj" fmla="val 23529"/>
            </a:avLst>
          </a:prstGeom>
          <a:solidFill>
            <a:srgbClr val="E1B07E"/>
          </a:solidFill>
          <a:ln w="12700">
            <a:solidFill>
              <a:srgbClr val="E1B07E"/>
            </a:solidFill>
            <a:prstDash val="solid"/>
          </a:ln>
        </p:spPr>
      </p:sp>
      <p:sp>
        <p:nvSpPr>
          <p:cNvPr id="21" name="Text 19"/>
          <p:cNvSpPr txBox="1"/>
          <p:nvPr/>
        </p:nvSpPr>
        <p:spPr>
          <a:xfrm>
            <a:off x="4069080" y="3154680"/>
            <a:ext cx="1097280" cy="310896"/>
          </a:xfrm>
          <a:prstGeom prst="rect">
            <a:avLst/>
          </a:prstGeom>
          <a:noFill/>
          <a:ln/>
        </p:spPr>
        <p:txBody>
          <a:bodyPr wrap="square" lIns="0" tIns="0" rIns="0" bIns="0" rtlCol="0" anchor="ctr"/>
          <a:lstStyle/>
          <a:p>
            <a:pPr algn="ctr" indent="0" marL="0">
              <a:buNone/>
            </a:pPr>
            <a:r>
              <a:rPr lang="en-US" sz="1050" b="1" dirty="0">
                <a:solidFill>
                  <a:srgbClr val="513B3C"/>
                </a:solidFill>
                <a:latin typeface="Calibri" pitchFamily="34" charset="0"/>
                <a:ea typeface="Calibri" pitchFamily="34" charset="-122"/>
                <a:cs typeface="Calibri" pitchFamily="34" charset="-120"/>
              </a:rPr>
              <a:t>Stubbed</a:t>
            </a:r>
            <a:endParaRPr lang="en-US" sz="1050" dirty="0"/>
          </a:p>
        </p:txBody>
      </p:sp>
      <p:sp>
        <p:nvSpPr>
          <p:cNvPr id="22" name="Text 20"/>
          <p:cNvSpPr txBox="1"/>
          <p:nvPr/>
        </p:nvSpPr>
        <p:spPr>
          <a:xfrm>
            <a:off x="457200" y="3749040"/>
            <a:ext cx="4846320" cy="457200"/>
          </a:xfrm>
          <a:prstGeom prst="rect">
            <a:avLst/>
          </a:prstGeom>
          <a:noFill/>
          <a:ln/>
        </p:spPr>
        <p:txBody>
          <a:bodyPr wrap="square" lIns="0" tIns="0" rIns="0" bIns="0" rtlCol="0" anchor="t"/>
          <a:lstStyle/>
          <a:p>
            <a:pPr indent="0" marL="0">
              <a:buNone/>
            </a:pPr>
            <a:r>
              <a:rPr lang="en-US" sz="1100" i="1" dirty="0">
                <a:solidFill>
                  <a:srgbClr val="7D6A6B"/>
                </a:solidFill>
                <a:latin typeface="Calibri" pitchFamily="34" charset="0"/>
                <a:ea typeface="Calibri" pitchFamily="34" charset="-122"/>
                <a:cs typeface="Calibri" pitchFamily="34" charset="-120"/>
              </a:rPr>
              <a:t>Compiled code currently falls back to the interpreter for any field-access opcode.</a:t>
            </a:r>
            <a:endParaRPr lang="en-US" sz="1100" dirty="0"/>
          </a:p>
        </p:txBody>
      </p:sp>
      <p:sp>
        <p:nvSpPr>
          <p:cNvPr id="23" name="Shape 21"/>
          <p:cNvSpPr/>
          <p:nvPr/>
        </p:nvSpPr>
        <p:spPr>
          <a:xfrm>
            <a:off x="5577840" y="1188720"/>
            <a:ext cx="3108960" cy="3383280"/>
          </a:xfrm>
          <a:prstGeom prst="roundRect">
            <a:avLst>
              <a:gd name="adj" fmla="val 2353"/>
            </a:avLst>
          </a:prstGeom>
          <a:solidFill>
            <a:srgbClr val="513B3C"/>
          </a:solidFill>
          <a:ln w="12700">
            <a:solidFill>
              <a:srgbClr val="513B3C"/>
            </a:solidFill>
            <a:prstDash val="solid"/>
          </a:ln>
        </p:spPr>
      </p:sp>
      <p:sp>
        <p:nvSpPr>
          <p:cNvPr id="24" name="Text 22"/>
          <p:cNvSpPr txBox="1"/>
          <p:nvPr/>
        </p:nvSpPr>
        <p:spPr>
          <a:xfrm>
            <a:off x="5806440" y="1325880"/>
            <a:ext cx="2743200" cy="274320"/>
          </a:xfrm>
          <a:prstGeom prst="rect">
            <a:avLst/>
          </a:prstGeom>
          <a:noFill/>
          <a:ln/>
        </p:spPr>
        <p:txBody>
          <a:bodyPr wrap="square" lIns="0" tIns="0" rIns="0" bIns="0" rtlCol="0" anchor="ctr"/>
          <a:lstStyle/>
          <a:p>
            <a:pPr indent="0" marL="0">
              <a:buNone/>
            </a:pPr>
            <a:r>
              <a:rPr lang="en-US" sz="1100" b="1" spc="200" kern="0" dirty="0">
                <a:solidFill>
                  <a:srgbClr val="E1B07E"/>
                </a:solidFill>
                <a:latin typeface="Calibri" pitchFamily="34" charset="0"/>
                <a:ea typeface="Calibri" pitchFamily="34" charset="-122"/>
                <a:cs typeface="Calibri" pitchFamily="34" charset="-120"/>
              </a:rPr>
              <a:t>RISK</a:t>
            </a:r>
            <a:endParaRPr lang="en-US" sz="1100" dirty="0"/>
          </a:p>
        </p:txBody>
      </p:sp>
      <p:sp>
        <p:nvSpPr>
          <p:cNvPr id="25" name="Text 23"/>
          <p:cNvSpPr txBox="1"/>
          <p:nvPr/>
        </p:nvSpPr>
        <p:spPr>
          <a:xfrm>
            <a:off x="5806440" y="1600200"/>
            <a:ext cx="2743200" cy="54864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M3 is slightly behind schedule</a:t>
            </a:r>
            <a:endParaRPr lang="en-US" sz="1600" dirty="0"/>
          </a:p>
        </p:txBody>
      </p:sp>
      <p:sp>
        <p:nvSpPr>
          <p:cNvPr id="26" name="Text 24"/>
          <p:cNvSpPr txBox="1"/>
          <p:nvPr/>
        </p:nvSpPr>
        <p:spPr>
          <a:xfrm>
            <a:off x="5806440" y="2194560"/>
            <a:ext cx="2743200" cy="640080"/>
          </a:xfrm>
          <a:prstGeom prst="rect">
            <a:avLst/>
          </a:prstGeom>
          <a:noFill/>
          <a:ln/>
        </p:spPr>
        <p:txBody>
          <a:bodyPr wrap="square" lIns="0" tIns="0" rIns="0" bIns="0" rtlCol="0" anchor="t"/>
          <a:lstStyle/>
          <a:p>
            <a:pPr indent="0" marL="0">
              <a:buNone/>
            </a:pPr>
            <a:r>
              <a:rPr lang="en-US" sz="1150" dirty="0">
                <a:solidFill>
                  <a:srgbClr val="C1EEFF"/>
                </a:solidFill>
                <a:latin typeface="Calibri" pitchFamily="34" charset="0"/>
                <a:ea typeface="Calibri" pitchFamily="34" charset="-122"/>
                <a:cs typeface="Calibri" pitchFamily="34" charset="-120"/>
              </a:rPr>
              <a:t>Guard codegen is the gap; it could delay the ≥ 2× native speedup target.</a:t>
            </a:r>
            <a:endParaRPr lang="en-US" sz="1150" dirty="0"/>
          </a:p>
        </p:txBody>
      </p:sp>
      <p:sp>
        <p:nvSpPr>
          <p:cNvPr id="27" name="Text 25"/>
          <p:cNvSpPr txBox="1"/>
          <p:nvPr/>
        </p:nvSpPr>
        <p:spPr>
          <a:xfrm>
            <a:off x="5806440" y="2926080"/>
            <a:ext cx="2743200" cy="274320"/>
          </a:xfrm>
          <a:prstGeom prst="rect">
            <a:avLst/>
          </a:prstGeom>
          <a:noFill/>
          <a:ln/>
        </p:spPr>
        <p:txBody>
          <a:bodyPr wrap="square" lIns="0" tIns="0" rIns="0" bIns="0" rtlCol="0" anchor="ctr"/>
          <a:lstStyle/>
          <a:p>
            <a:pPr indent="0" marL="0">
              <a:buNone/>
            </a:pPr>
            <a:r>
              <a:rPr lang="en-US" sz="1100" b="1" spc="200" kern="0" dirty="0">
                <a:solidFill>
                  <a:srgbClr val="E1B07E"/>
                </a:solidFill>
                <a:latin typeface="Calibri" pitchFamily="34" charset="0"/>
                <a:ea typeface="Calibri" pitchFamily="34" charset="-122"/>
                <a:cs typeface="Calibri" pitchFamily="34" charset="-120"/>
              </a:rPr>
              <a:t>MITIGATION</a:t>
            </a:r>
            <a:endParaRPr lang="en-US" sz="1100" dirty="0"/>
          </a:p>
        </p:txBody>
      </p:sp>
      <p:sp>
        <p:nvSpPr>
          <p:cNvPr id="28" name="Text 26"/>
          <p:cNvSpPr txBox="1"/>
          <p:nvPr/>
        </p:nvSpPr>
        <p:spPr>
          <a:xfrm>
            <a:off x="5806440" y="3200400"/>
            <a:ext cx="2743200" cy="1188720"/>
          </a:xfrm>
          <a:prstGeom prst="rect">
            <a:avLst/>
          </a:prstGeom>
          <a:noFill/>
          <a:ln/>
        </p:spPr>
        <p:txBody>
          <a:bodyPr wrap="square" lIns="0" tIns="0" rIns="0" bIns="0" rtlCol="0" anchor="t"/>
          <a:lstStyle/>
          <a:p>
            <a:pPr indent="0" marL="0">
              <a:buNone/>
            </a:pPr>
            <a:r>
              <a:rPr lang="en-US" sz="1150" dirty="0">
                <a:solidFill>
                  <a:srgbClr val="C1EEFF"/>
                </a:solidFill>
                <a:latin typeface="Calibri" pitchFamily="34" charset="0"/>
                <a:ea typeface="Calibri" pitchFamily="34" charset="-122"/>
                <a:cs typeface="Calibri" pitchFamily="34" charset="-120"/>
              </a:rPr>
              <a:t>Port the tested guard/deopt logic directly; fall back to threaded code (Review 1 contingency) if native guards slip.</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22</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Next steps toward Review 3</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4 · EHSAN</a:t>
            </a:r>
            <a:endParaRPr lang="en-US" sz="1000" dirty="0"/>
          </a:p>
        </p:txBody>
      </p:sp>
      <p:sp>
        <p:nvSpPr>
          <p:cNvPr id="6" name="Shape 4"/>
          <p:cNvSpPr/>
          <p:nvPr/>
        </p:nvSpPr>
        <p:spPr>
          <a:xfrm>
            <a:off x="457200" y="1188720"/>
            <a:ext cx="4023360" cy="914400"/>
          </a:xfrm>
          <a:prstGeom prst="roundRect">
            <a:avLst>
              <a:gd name="adj" fmla="val 8000"/>
            </a:avLst>
          </a:prstGeom>
          <a:solidFill>
            <a:srgbClr val="C1EEFF"/>
          </a:solidFill>
          <a:ln w="12700">
            <a:solidFill>
              <a:srgbClr val="C1EEFF"/>
            </a:solidFill>
            <a:prstDash val="solid"/>
          </a:ln>
        </p:spPr>
      </p:sp>
      <p:sp>
        <p:nvSpPr>
          <p:cNvPr id="7" name="Shape 5"/>
          <p:cNvSpPr/>
          <p:nvPr/>
        </p:nvSpPr>
        <p:spPr>
          <a:xfrm>
            <a:off x="640080" y="1389888"/>
            <a:ext cx="512064" cy="512064"/>
          </a:xfrm>
          <a:prstGeom prst="ellipse">
            <a:avLst/>
          </a:prstGeom>
          <a:solidFill>
            <a:srgbClr val="548687"/>
          </a:solidFill>
          <a:ln w="12700">
            <a:solidFill>
              <a:srgbClr val="548687"/>
            </a:solidFill>
            <a:prstDash val="solid"/>
          </a:ln>
        </p:spPr>
      </p:sp>
      <p:sp>
        <p:nvSpPr>
          <p:cNvPr id="8" name="Text 6"/>
          <p:cNvSpPr txBox="1"/>
          <p:nvPr/>
        </p:nvSpPr>
        <p:spPr>
          <a:xfrm>
            <a:off x="640080" y="138988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325880" y="1325880"/>
            <a:ext cx="3017520" cy="36576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Emit IC guards in tier-2 native code</a:t>
            </a:r>
            <a:endParaRPr lang="en-US" sz="1300" dirty="0"/>
          </a:p>
        </p:txBody>
      </p:sp>
      <p:sp>
        <p:nvSpPr>
          <p:cNvPr id="10" name="Text 8"/>
          <p:cNvSpPr txBox="1"/>
          <p:nvPr/>
        </p:nvSpPr>
        <p:spPr>
          <a:xfrm>
            <a:off x="1325880" y="1664208"/>
            <a:ext cx="3017520" cy="32004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not just in the interpreter</a:t>
            </a:r>
            <a:endParaRPr lang="en-US" sz="1100" dirty="0"/>
          </a:p>
        </p:txBody>
      </p:sp>
      <p:sp>
        <p:nvSpPr>
          <p:cNvPr id="11" name="Shape 9"/>
          <p:cNvSpPr/>
          <p:nvPr/>
        </p:nvSpPr>
        <p:spPr>
          <a:xfrm>
            <a:off x="4663440" y="1188720"/>
            <a:ext cx="4023360" cy="914400"/>
          </a:xfrm>
          <a:prstGeom prst="roundRect">
            <a:avLst>
              <a:gd name="adj" fmla="val 8000"/>
            </a:avLst>
          </a:prstGeom>
          <a:solidFill>
            <a:srgbClr val="C1EEFF"/>
          </a:solidFill>
          <a:ln w="12700">
            <a:solidFill>
              <a:srgbClr val="C1EEFF"/>
            </a:solidFill>
            <a:prstDash val="solid"/>
          </a:ln>
        </p:spPr>
      </p:sp>
      <p:sp>
        <p:nvSpPr>
          <p:cNvPr id="12" name="Shape 10"/>
          <p:cNvSpPr/>
          <p:nvPr/>
        </p:nvSpPr>
        <p:spPr>
          <a:xfrm>
            <a:off x="4846320" y="1389888"/>
            <a:ext cx="512064" cy="512064"/>
          </a:xfrm>
          <a:prstGeom prst="ellipse">
            <a:avLst/>
          </a:prstGeom>
          <a:solidFill>
            <a:srgbClr val="548687"/>
          </a:solidFill>
          <a:ln w="12700">
            <a:solidFill>
              <a:srgbClr val="548687"/>
            </a:solidFill>
            <a:prstDash val="solid"/>
          </a:ln>
        </p:spPr>
      </p:sp>
      <p:sp>
        <p:nvSpPr>
          <p:cNvPr id="13" name="Text 11"/>
          <p:cNvSpPr txBox="1"/>
          <p:nvPr/>
        </p:nvSpPr>
        <p:spPr>
          <a:xfrm>
            <a:off x="4846320" y="138988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txBox="1"/>
          <p:nvPr/>
        </p:nvSpPr>
        <p:spPr>
          <a:xfrm>
            <a:off x="5532120" y="1325880"/>
            <a:ext cx="3017520" cy="36576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Exercise native deopt end to end</a:t>
            </a:r>
            <a:endParaRPr lang="en-US" sz="1300" dirty="0"/>
          </a:p>
        </p:txBody>
      </p:sp>
      <p:sp>
        <p:nvSpPr>
          <p:cNvPr id="15" name="Text 13"/>
          <p:cNvSpPr txBox="1"/>
          <p:nvPr/>
        </p:nvSpPr>
        <p:spPr>
          <a:xfrm>
            <a:off x="5532120" y="1664208"/>
            <a:ext cx="3017520" cy="32004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match IC5: hard reset to UNINIT</a:t>
            </a:r>
            <a:endParaRPr lang="en-US" sz="1100" dirty="0"/>
          </a:p>
        </p:txBody>
      </p:sp>
      <p:sp>
        <p:nvSpPr>
          <p:cNvPr id="16" name="Shape 14"/>
          <p:cNvSpPr/>
          <p:nvPr/>
        </p:nvSpPr>
        <p:spPr>
          <a:xfrm>
            <a:off x="457200" y="2286000"/>
            <a:ext cx="4023360" cy="914400"/>
          </a:xfrm>
          <a:prstGeom prst="roundRect">
            <a:avLst>
              <a:gd name="adj" fmla="val 8000"/>
            </a:avLst>
          </a:prstGeom>
          <a:solidFill>
            <a:srgbClr val="E6F8FF"/>
          </a:solidFill>
          <a:ln w="12700">
            <a:solidFill>
              <a:srgbClr val="E6F8FF"/>
            </a:solidFill>
            <a:prstDash val="solid"/>
          </a:ln>
        </p:spPr>
      </p:sp>
      <p:sp>
        <p:nvSpPr>
          <p:cNvPr id="17" name="Shape 15"/>
          <p:cNvSpPr/>
          <p:nvPr/>
        </p:nvSpPr>
        <p:spPr>
          <a:xfrm>
            <a:off x="640080" y="2487168"/>
            <a:ext cx="512064" cy="512064"/>
          </a:xfrm>
          <a:prstGeom prst="ellipse">
            <a:avLst/>
          </a:prstGeom>
          <a:solidFill>
            <a:srgbClr val="548687"/>
          </a:solidFill>
          <a:ln w="12700">
            <a:solidFill>
              <a:srgbClr val="548687"/>
            </a:solidFill>
            <a:prstDash val="solid"/>
          </a:ln>
        </p:spPr>
      </p:sp>
      <p:sp>
        <p:nvSpPr>
          <p:cNvPr id="18" name="Text 16"/>
          <p:cNvSpPr txBox="1"/>
          <p:nvPr/>
        </p:nvSpPr>
        <p:spPr>
          <a:xfrm>
            <a:off x="640080" y="248716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txBox="1"/>
          <p:nvPr/>
        </p:nvSpPr>
        <p:spPr>
          <a:xfrm>
            <a:off x="1325880" y="2423160"/>
            <a:ext cx="3017520" cy="36576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Tune the megamorphic cache</a:t>
            </a:r>
            <a:endParaRPr lang="en-US" sz="1300" dirty="0"/>
          </a:p>
        </p:txBody>
      </p:sp>
      <p:sp>
        <p:nvSpPr>
          <p:cNvPr id="20" name="Text 18"/>
          <p:cNvSpPr txBox="1"/>
          <p:nvPr/>
        </p:nvSpPr>
        <p:spPr>
          <a:xfrm>
            <a:off x="1325880" y="2761488"/>
            <a:ext cx="3017520" cy="32004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capacity and eviction policy (fix 0.89×)</a:t>
            </a:r>
            <a:endParaRPr lang="en-US" sz="1100" dirty="0"/>
          </a:p>
        </p:txBody>
      </p:sp>
      <p:sp>
        <p:nvSpPr>
          <p:cNvPr id="21" name="Shape 19"/>
          <p:cNvSpPr/>
          <p:nvPr/>
        </p:nvSpPr>
        <p:spPr>
          <a:xfrm>
            <a:off x="4663440" y="2286000"/>
            <a:ext cx="4023360" cy="914400"/>
          </a:xfrm>
          <a:prstGeom prst="roundRect">
            <a:avLst>
              <a:gd name="adj" fmla="val 8000"/>
            </a:avLst>
          </a:prstGeom>
          <a:solidFill>
            <a:srgbClr val="E6F8FF"/>
          </a:solidFill>
          <a:ln w="12700">
            <a:solidFill>
              <a:srgbClr val="E6F8FF"/>
            </a:solidFill>
            <a:prstDash val="solid"/>
          </a:ln>
        </p:spPr>
      </p:sp>
      <p:sp>
        <p:nvSpPr>
          <p:cNvPr id="22" name="Shape 20"/>
          <p:cNvSpPr/>
          <p:nvPr/>
        </p:nvSpPr>
        <p:spPr>
          <a:xfrm>
            <a:off x="4846320" y="2487168"/>
            <a:ext cx="512064" cy="512064"/>
          </a:xfrm>
          <a:prstGeom prst="ellipse">
            <a:avLst/>
          </a:prstGeom>
          <a:solidFill>
            <a:srgbClr val="548687"/>
          </a:solidFill>
          <a:ln w="12700">
            <a:solidFill>
              <a:srgbClr val="548687"/>
            </a:solidFill>
            <a:prstDash val="solid"/>
          </a:ln>
        </p:spPr>
      </p:sp>
      <p:sp>
        <p:nvSpPr>
          <p:cNvPr id="23" name="Text 21"/>
          <p:cNvSpPr txBox="1"/>
          <p:nvPr/>
        </p:nvSpPr>
        <p:spPr>
          <a:xfrm>
            <a:off x="4846320" y="248716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22"/>
          <p:cNvSpPr txBox="1"/>
          <p:nvPr/>
        </p:nvSpPr>
        <p:spPr>
          <a:xfrm>
            <a:off x="5532120" y="2423160"/>
            <a:ext cx="3017520" cy="36576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Configurable hot threshold</a:t>
            </a:r>
            <a:endParaRPr lang="en-US" sz="1300" dirty="0"/>
          </a:p>
        </p:txBody>
      </p:sp>
      <p:sp>
        <p:nvSpPr>
          <p:cNvPr id="25" name="Text 23"/>
          <p:cNvSpPr txBox="1"/>
          <p:nvPr/>
        </p:nvSpPr>
        <p:spPr>
          <a:xfrm>
            <a:off x="5532120" y="2761488"/>
            <a:ext cx="3017520" cy="32004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sweep it during benchmarking</a:t>
            </a:r>
            <a:endParaRPr lang="en-US" sz="1100" dirty="0"/>
          </a:p>
        </p:txBody>
      </p:sp>
      <p:sp>
        <p:nvSpPr>
          <p:cNvPr id="26" name="Shape 24"/>
          <p:cNvSpPr/>
          <p:nvPr/>
        </p:nvSpPr>
        <p:spPr>
          <a:xfrm>
            <a:off x="457200" y="3383280"/>
            <a:ext cx="4023360" cy="914400"/>
          </a:xfrm>
          <a:prstGeom prst="roundRect">
            <a:avLst>
              <a:gd name="adj" fmla="val 8000"/>
            </a:avLst>
          </a:prstGeom>
          <a:solidFill>
            <a:srgbClr val="E6F8FF"/>
          </a:solidFill>
          <a:ln w="12700">
            <a:solidFill>
              <a:srgbClr val="E6F8FF"/>
            </a:solidFill>
            <a:prstDash val="solid"/>
          </a:ln>
        </p:spPr>
      </p:sp>
      <p:sp>
        <p:nvSpPr>
          <p:cNvPr id="27" name="Shape 25"/>
          <p:cNvSpPr/>
          <p:nvPr/>
        </p:nvSpPr>
        <p:spPr>
          <a:xfrm>
            <a:off x="640080" y="3584448"/>
            <a:ext cx="512064" cy="512064"/>
          </a:xfrm>
          <a:prstGeom prst="ellipse">
            <a:avLst/>
          </a:prstGeom>
          <a:solidFill>
            <a:srgbClr val="548687"/>
          </a:solidFill>
          <a:ln w="12700">
            <a:solidFill>
              <a:srgbClr val="548687"/>
            </a:solidFill>
            <a:prstDash val="solid"/>
          </a:ln>
        </p:spPr>
      </p:sp>
      <p:sp>
        <p:nvSpPr>
          <p:cNvPr id="28" name="Text 26"/>
          <p:cNvSpPr txBox="1"/>
          <p:nvPr/>
        </p:nvSpPr>
        <p:spPr>
          <a:xfrm>
            <a:off x="640080" y="358444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9" name="Text 27"/>
          <p:cNvSpPr txBox="1"/>
          <p:nvPr/>
        </p:nvSpPr>
        <p:spPr>
          <a:xfrm>
            <a:off x="1325880" y="3520440"/>
            <a:ext cx="3017520" cy="36576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Full benchmark on the nominated machine</a:t>
            </a:r>
            <a:endParaRPr lang="en-US" sz="1300" dirty="0"/>
          </a:p>
        </p:txBody>
      </p:sp>
      <p:sp>
        <p:nvSpPr>
          <p:cNvPr id="30" name="Text 28"/>
          <p:cNvSpPr txBox="1"/>
          <p:nvPr/>
        </p:nvSpPr>
        <p:spPr>
          <a:xfrm>
            <a:off x="1325880" y="3858768"/>
            <a:ext cx="3017520" cy="32004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final, comparable timings</a:t>
            </a:r>
            <a:endParaRPr lang="en-US" sz="1100" dirty="0"/>
          </a:p>
        </p:txBody>
      </p:sp>
      <p:sp>
        <p:nvSpPr>
          <p:cNvPr id="31" name="Shape 29"/>
          <p:cNvSpPr/>
          <p:nvPr/>
        </p:nvSpPr>
        <p:spPr>
          <a:xfrm>
            <a:off x="4663440" y="3383280"/>
            <a:ext cx="4023360" cy="914400"/>
          </a:xfrm>
          <a:prstGeom prst="roundRect">
            <a:avLst>
              <a:gd name="adj" fmla="val 8000"/>
            </a:avLst>
          </a:prstGeom>
          <a:solidFill>
            <a:srgbClr val="E6F8FF"/>
          </a:solidFill>
          <a:ln w="12700">
            <a:solidFill>
              <a:srgbClr val="E6F8FF"/>
            </a:solidFill>
            <a:prstDash val="solid"/>
          </a:ln>
        </p:spPr>
      </p:sp>
      <p:sp>
        <p:nvSpPr>
          <p:cNvPr id="32" name="Shape 30"/>
          <p:cNvSpPr/>
          <p:nvPr/>
        </p:nvSpPr>
        <p:spPr>
          <a:xfrm>
            <a:off x="4846320" y="3584448"/>
            <a:ext cx="512064" cy="512064"/>
          </a:xfrm>
          <a:prstGeom prst="ellipse">
            <a:avLst/>
          </a:prstGeom>
          <a:solidFill>
            <a:srgbClr val="548687"/>
          </a:solidFill>
          <a:ln w="12700">
            <a:solidFill>
              <a:srgbClr val="548687"/>
            </a:solidFill>
            <a:prstDash val="solid"/>
          </a:ln>
        </p:spPr>
      </p:sp>
      <p:sp>
        <p:nvSpPr>
          <p:cNvPr id="33" name="Text 31"/>
          <p:cNvSpPr txBox="1"/>
          <p:nvPr/>
        </p:nvSpPr>
        <p:spPr>
          <a:xfrm>
            <a:off x="4846320" y="358444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4" name="Text 32"/>
          <p:cNvSpPr txBox="1"/>
          <p:nvPr/>
        </p:nvSpPr>
        <p:spPr>
          <a:xfrm>
            <a:off x="5532120" y="3520440"/>
            <a:ext cx="3017520" cy="365760"/>
          </a:xfrm>
          <a:prstGeom prst="rect">
            <a:avLst/>
          </a:prstGeom>
          <a:noFill/>
          <a:ln/>
        </p:spPr>
        <p:txBody>
          <a:bodyPr wrap="square" lIns="0" tIns="0" rIns="0" bIns="0" rtlCol="0" anchor="ctr"/>
          <a:lstStyle/>
          <a:p>
            <a:pPr indent="0" marL="0">
              <a:buNone/>
            </a:pPr>
            <a:r>
              <a:rPr lang="en-US" sz="1300" b="1" dirty="0">
                <a:solidFill>
                  <a:srgbClr val="513B3C"/>
                </a:solidFill>
                <a:latin typeface="Calibri" pitchFamily="34" charset="0"/>
                <a:ea typeface="Calibri" pitchFamily="34" charset="-122"/>
                <a:cs typeface="Calibri" pitchFamily="34" charset="-120"/>
              </a:rPr>
              <a:t>Draft the final report</a:t>
            </a:r>
            <a:endParaRPr lang="en-US" sz="1300" dirty="0"/>
          </a:p>
        </p:txBody>
      </p:sp>
      <p:sp>
        <p:nvSpPr>
          <p:cNvPr id="35" name="Text 33"/>
          <p:cNvSpPr txBox="1"/>
          <p:nvPr/>
        </p:nvSpPr>
        <p:spPr>
          <a:xfrm>
            <a:off x="5532120" y="3858768"/>
            <a:ext cx="3017520" cy="320040"/>
          </a:xfrm>
          <a:prstGeom prst="rect">
            <a:avLst/>
          </a:prstGeom>
          <a:noFill/>
          <a:ln/>
        </p:spPr>
        <p:txBody>
          <a:bodyPr wrap="square" lIns="0" tIns="0" rIns="0" bIns="0" rtlCol="0" anchor="ctr"/>
          <a:lstStyle/>
          <a:p>
            <a:pPr indent="0" marL="0">
              <a:buNone/>
            </a:pPr>
            <a:r>
              <a:rPr lang="en-US" sz="1100" dirty="0">
                <a:solidFill>
                  <a:srgbClr val="7D6A6B"/>
                </a:solidFill>
                <a:latin typeface="Calibri" pitchFamily="34" charset="0"/>
                <a:ea typeface="Calibri" pitchFamily="34" charset="-122"/>
                <a:cs typeface="Calibri" pitchFamily="34" charset="-120"/>
              </a:rPr>
              <a:t>consolidate evidence per module</a:t>
            </a:r>
            <a:endParaRPr lang="en-US" sz="1100" dirty="0"/>
          </a:p>
        </p:txBody>
      </p:sp>
      <p:sp>
        <p:nvSpPr>
          <p:cNvPr id="36" name="Text 34"/>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1050" i="1" dirty="0">
                <a:solidFill>
                  <a:srgbClr val="7D6A6B"/>
                </a:solidFill>
                <a:latin typeface="Calibri" pitchFamily="34" charset="0"/>
                <a:ea typeface="Calibri" pitchFamily="34" charset="-122"/>
                <a:cs typeface="Calibri" pitchFamily="34" charset="-120"/>
              </a:rPr>
              <a:t>Top row: the M3 critical path.</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513B3C"/>
        </a:solidFill>
      </p:bgPr>
    </p:bg>
    <p:spTree>
      <p:nvGrpSpPr>
        <p:cNvPr id="1" name=""/>
        <p:cNvGrpSpPr/>
        <p:nvPr/>
      </p:nvGrpSpPr>
      <p:grpSpPr>
        <a:xfrm>
          <a:off x="0" y="0"/>
          <a:ext cx="0" cy="0"/>
          <a:chOff x="0" y="0"/>
          <a:chExt cx="0" cy="0"/>
        </a:xfrm>
      </p:grpSpPr>
      <p:sp>
        <p:nvSpPr>
          <p:cNvPr id="2" name="Text 0"/>
          <p:cNvSpPr txBox="1"/>
          <p:nvPr/>
        </p:nvSpPr>
        <p:spPr>
          <a:xfrm>
            <a:off x="548640" y="1097280"/>
            <a:ext cx="54864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3" name="Text 1"/>
          <p:cNvSpPr txBox="1"/>
          <p:nvPr/>
        </p:nvSpPr>
        <p:spPr>
          <a:xfrm>
            <a:off x="548640" y="1965960"/>
            <a:ext cx="5486400" cy="548640"/>
          </a:xfrm>
          <a:prstGeom prst="rect">
            <a:avLst/>
          </a:prstGeom>
          <a:noFill/>
          <a:ln/>
        </p:spPr>
        <p:txBody>
          <a:bodyPr wrap="square" lIns="0" tIns="0" rIns="0" bIns="0" rtlCol="0" anchor="ctr"/>
          <a:lstStyle/>
          <a:p>
            <a:pPr indent="0" marL="0">
              <a:buNone/>
            </a:pPr>
            <a:r>
              <a:rPr lang="en-US" sz="2200" dirty="0">
                <a:solidFill>
                  <a:srgbClr val="E5BE9E"/>
                </a:solidFill>
                <a:latin typeface="Calibri" pitchFamily="34" charset="0"/>
                <a:ea typeface="Calibri" pitchFamily="34" charset="-122"/>
                <a:cs typeface="Calibri" pitchFamily="34" charset="-120"/>
              </a:rPr>
              <a:t>Questions?</a:t>
            </a:r>
            <a:endParaRPr lang="en-US" sz="2200" dirty="0"/>
          </a:p>
        </p:txBody>
      </p:sp>
      <p:sp>
        <p:nvSpPr>
          <p:cNvPr id="4" name="Shape 2"/>
          <p:cNvSpPr/>
          <p:nvPr/>
        </p:nvSpPr>
        <p:spPr>
          <a:xfrm>
            <a:off x="548640" y="3017520"/>
            <a:ext cx="5669280" cy="1143000"/>
          </a:xfrm>
          <a:prstGeom prst="roundRect">
            <a:avLst>
              <a:gd name="adj" fmla="val 6400"/>
            </a:avLst>
          </a:prstGeom>
          <a:solidFill>
            <a:srgbClr val="5E4748"/>
          </a:solidFill>
          <a:ln w="12700">
            <a:solidFill>
              <a:srgbClr val="5E4748"/>
            </a:solidFill>
            <a:prstDash val="solid"/>
          </a:ln>
        </p:spPr>
      </p:sp>
      <p:sp>
        <p:nvSpPr>
          <p:cNvPr id="5" name="Text 3"/>
          <p:cNvSpPr txBox="1"/>
          <p:nvPr/>
        </p:nvSpPr>
        <p:spPr>
          <a:xfrm>
            <a:off x="777240" y="3127248"/>
            <a:ext cx="2743200" cy="274320"/>
          </a:xfrm>
          <a:prstGeom prst="rect">
            <a:avLst/>
          </a:prstGeom>
          <a:noFill/>
          <a:ln/>
        </p:spPr>
        <p:txBody>
          <a:bodyPr wrap="square" lIns="0" tIns="0" rIns="0" bIns="0" rtlCol="0" anchor="ctr"/>
          <a:lstStyle/>
          <a:p>
            <a:pPr indent="0" marL="0">
              <a:buNone/>
            </a:pPr>
            <a:r>
              <a:rPr lang="en-US" sz="1100" b="1" spc="200" kern="0" dirty="0">
                <a:solidFill>
                  <a:srgbClr val="E1B07E"/>
                </a:solidFill>
                <a:latin typeface="Calibri" pitchFamily="34" charset="0"/>
                <a:ea typeface="Calibri" pitchFamily="34" charset="-122"/>
                <a:cs typeface="Calibri" pitchFamily="34" charset="-120"/>
              </a:rPr>
              <a:t>LIVE DEMO</a:t>
            </a:r>
            <a:endParaRPr lang="en-US" sz="1100" dirty="0"/>
          </a:p>
        </p:txBody>
      </p:sp>
      <p:sp>
        <p:nvSpPr>
          <p:cNvPr id="6" name="Text 4"/>
          <p:cNvSpPr txBox="1"/>
          <p:nvPr/>
        </p:nvSpPr>
        <p:spPr>
          <a:xfrm>
            <a:off x="777240" y="3429000"/>
            <a:ext cx="5303520" cy="320040"/>
          </a:xfrm>
          <a:prstGeom prst="rect">
            <a:avLst/>
          </a:prstGeom>
          <a:noFill/>
          <a:ln/>
        </p:spPr>
        <p:txBody>
          <a:bodyPr wrap="square" lIns="0" tIns="0" rIns="0" bIns="0" rtlCol="0" anchor="ctr"/>
          <a:lstStyle/>
          <a:p>
            <a:pPr indent="0" marL="0">
              <a:buNone/>
            </a:pPr>
            <a:r>
              <a:rPr lang="en-US" sz="1500" b="1" dirty="0">
                <a:solidFill>
                  <a:srgbClr val="C1EEFF"/>
                </a:solidFill>
                <a:latin typeface="Courier New" pitchFamily="34" charset="0"/>
                <a:ea typeface="Courier New" pitchFamily="34" charset="-122"/>
                <a:cs typeface="Courier New" pitchFamily="34" charset="-120"/>
              </a:rPr>
              <a:t>python3 run_js.py examples/*.js</a:t>
            </a:r>
            <a:endParaRPr lang="en-US" sz="1500" dirty="0"/>
          </a:p>
        </p:txBody>
      </p:sp>
      <p:sp>
        <p:nvSpPr>
          <p:cNvPr id="7" name="Text 5"/>
          <p:cNvSpPr txBox="1"/>
          <p:nvPr/>
        </p:nvSpPr>
        <p:spPr>
          <a:xfrm>
            <a:off x="777240" y="3767328"/>
            <a:ext cx="5303520" cy="274320"/>
          </a:xfrm>
          <a:prstGeom prst="rect">
            <a:avLst/>
          </a:prstGeom>
          <a:noFill/>
          <a:ln/>
        </p:spPr>
        <p:txBody>
          <a:bodyPr wrap="square" lIns="0" tIns="0" rIns="0" bIns="0" rtlCol="0" anchor="ctr"/>
          <a:lstStyle/>
          <a:p>
            <a:pPr indent="0" marL="0">
              <a:buNone/>
            </a:pPr>
            <a:r>
              <a:rPr lang="en-US" sz="1200" dirty="0">
                <a:solidFill>
                  <a:srgbClr val="E5BE9E"/>
                </a:solidFill>
                <a:latin typeface="Calibri" pitchFamily="34" charset="0"/>
                <a:ea typeface="Calibri" pitchFamily="34" charset="-122"/>
                <a:cs typeface="Calibri" pitchFamily="34" charset="-120"/>
              </a:rPr>
              <a:t>also python3 demo.py  ·  17 / 17 tests  ·  6 JS programs identical to Node</a:t>
            </a:r>
            <a:endParaRPr lang="en-US" sz="1200" dirty="0"/>
          </a:p>
        </p:txBody>
      </p:sp>
      <p:sp>
        <p:nvSpPr>
          <p:cNvPr id="8" name="Shape 6"/>
          <p:cNvSpPr/>
          <p:nvPr/>
        </p:nvSpPr>
        <p:spPr>
          <a:xfrm>
            <a:off x="6766560" y="1371600"/>
            <a:ext cx="822960" cy="822960"/>
          </a:xfrm>
          <a:prstGeom prst="ellipse">
            <a:avLst/>
          </a:prstGeom>
          <a:solidFill>
            <a:srgbClr val="C1EEFF"/>
          </a:solidFill>
          <a:ln w="12700">
            <a:solidFill>
              <a:srgbClr val="C1EEFF"/>
            </a:solidFill>
            <a:prstDash val="solid"/>
          </a:ln>
        </p:spPr>
      </p:sp>
      <p:sp>
        <p:nvSpPr>
          <p:cNvPr id="9" name="Shape 7"/>
          <p:cNvSpPr/>
          <p:nvPr/>
        </p:nvSpPr>
        <p:spPr>
          <a:xfrm>
            <a:off x="7726680" y="1371600"/>
            <a:ext cx="822960" cy="822960"/>
          </a:xfrm>
          <a:prstGeom prst="ellipse">
            <a:avLst/>
          </a:prstGeom>
          <a:solidFill>
            <a:srgbClr val="548687"/>
          </a:solidFill>
          <a:ln w="12700">
            <a:solidFill>
              <a:srgbClr val="548687"/>
            </a:solidFill>
            <a:prstDash val="solid"/>
          </a:ln>
        </p:spPr>
      </p:sp>
      <p:sp>
        <p:nvSpPr>
          <p:cNvPr id="10" name="Shape 8"/>
          <p:cNvSpPr/>
          <p:nvPr/>
        </p:nvSpPr>
        <p:spPr>
          <a:xfrm>
            <a:off x="6766560" y="2331720"/>
            <a:ext cx="822960" cy="822960"/>
          </a:xfrm>
          <a:prstGeom prst="ellipse">
            <a:avLst/>
          </a:prstGeom>
          <a:solidFill>
            <a:srgbClr val="E1B07E"/>
          </a:solidFill>
          <a:ln w="12700">
            <a:solidFill>
              <a:srgbClr val="E1B07E"/>
            </a:solidFill>
            <a:prstDash val="solid"/>
          </a:ln>
        </p:spPr>
      </p:sp>
      <p:sp>
        <p:nvSpPr>
          <p:cNvPr id="11" name="Shape 9"/>
          <p:cNvSpPr/>
          <p:nvPr/>
        </p:nvSpPr>
        <p:spPr>
          <a:xfrm>
            <a:off x="7726680" y="2331720"/>
            <a:ext cx="822960" cy="822960"/>
          </a:xfrm>
          <a:prstGeom prst="ellipse">
            <a:avLst/>
          </a:prstGeom>
          <a:solidFill>
            <a:srgbClr val="E5BE9E"/>
          </a:solidFill>
          <a:ln w="12700">
            <a:solidFill>
              <a:srgbClr val="E5BE9E"/>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18</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Compiling JavaScript to our bytecode</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4 · EHSAN</a:t>
            </a:r>
            <a:endParaRPr lang="en-US" sz="1000" dirty="0"/>
          </a:p>
        </p:txBody>
      </p:sp>
      <p:sp>
        <p:nvSpPr>
          <p:cNvPr id="6" name="Shape 4"/>
          <p:cNvSpPr/>
          <p:nvPr/>
        </p:nvSpPr>
        <p:spPr>
          <a:xfrm>
            <a:off x="457200" y="1143000"/>
            <a:ext cx="3657600" cy="3429000"/>
          </a:xfrm>
          <a:prstGeom prst="roundRect">
            <a:avLst>
              <a:gd name="adj" fmla="val 2133"/>
            </a:avLst>
          </a:prstGeom>
          <a:solidFill>
            <a:srgbClr val="513B3C"/>
          </a:solidFill>
          <a:ln w="12700">
            <a:solidFill>
              <a:srgbClr val="513B3C"/>
            </a:solidFill>
            <a:prstDash val="solid"/>
          </a:ln>
        </p:spPr>
      </p:sp>
      <p:sp>
        <p:nvSpPr>
          <p:cNvPr id="7" name="Text 5"/>
          <p:cNvSpPr txBox="1"/>
          <p:nvPr/>
        </p:nvSpPr>
        <p:spPr>
          <a:xfrm>
            <a:off x="640080" y="1280160"/>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4</a:t>
            </a:r>
            <a:endParaRPr lang="en-US" sz="1050" dirty="0"/>
          </a:p>
        </p:txBody>
      </p:sp>
      <p:sp>
        <p:nvSpPr>
          <p:cNvPr id="8" name="Text 6"/>
          <p:cNvSpPr txBox="1"/>
          <p:nvPr/>
        </p:nvSpPr>
        <p:spPr>
          <a:xfrm>
            <a:off x="1097280" y="1280160"/>
            <a:ext cx="1371600" cy="246888"/>
          </a:xfrm>
          <a:prstGeom prst="rect">
            <a:avLst/>
          </a:prstGeom>
          <a:noFill/>
          <a:ln/>
        </p:spPr>
        <p:txBody>
          <a:bodyPr wrap="square" lIns="0" tIns="0" rIns="0" bIns="0" rtlCol="0" anchor="ctr"/>
          <a:lstStyle/>
          <a:p>
            <a:pPr indent="0" marL="0">
              <a:buNone/>
            </a:pPr>
            <a:r>
              <a:rPr lang="en-US" sz="1100" b="1" dirty="0">
                <a:solidFill>
                  <a:srgbClr val="E1B07E"/>
                </a:solidFill>
                <a:latin typeface="Courier New" pitchFamily="34" charset="0"/>
                <a:ea typeface="Courier New" pitchFamily="34" charset="-122"/>
                <a:cs typeface="Courier New" pitchFamily="34" charset="-120"/>
              </a:rPr>
              <a:t>LOAD 1</a:t>
            </a:r>
            <a:endParaRPr lang="en-US" sz="1100" dirty="0"/>
          </a:p>
        </p:txBody>
      </p:sp>
      <p:sp>
        <p:nvSpPr>
          <p:cNvPr id="9" name="Text 7"/>
          <p:cNvSpPr txBox="1"/>
          <p:nvPr/>
        </p:nvSpPr>
        <p:spPr>
          <a:xfrm>
            <a:off x="2514600" y="1280160"/>
            <a:ext cx="1463040" cy="246888"/>
          </a:xfrm>
          <a:prstGeom prst="rect">
            <a:avLst/>
          </a:prstGeom>
          <a:noFill/>
          <a:ln/>
        </p:spPr>
        <p:txBody>
          <a:bodyPr wrap="square" lIns="0" tIns="0" rIns="0" bIns="0" rtlCol="0" anchor="ctr"/>
          <a:lstStyle/>
          <a:p>
            <a:pPr indent="0" marL="0">
              <a:buNone/>
            </a:pPr>
            <a:r>
              <a:rPr lang="en-US" sz="1000" i="1" dirty="0">
                <a:solidFill>
                  <a:srgbClr val="E1B07E"/>
                </a:solidFill>
                <a:latin typeface="Calibri" pitchFamily="34" charset="0"/>
                <a:ea typeface="Calibri" pitchFamily="34" charset="-122"/>
                <a:cs typeface="Calibri" pitchFamily="34" charset="-120"/>
              </a:rPr>
              <a:t>← loop head: i</a:t>
            </a:r>
            <a:endParaRPr lang="en-US" sz="1000" dirty="0"/>
          </a:p>
        </p:txBody>
      </p:sp>
      <p:sp>
        <p:nvSpPr>
          <p:cNvPr id="10" name="Text 8"/>
          <p:cNvSpPr txBox="1"/>
          <p:nvPr/>
        </p:nvSpPr>
        <p:spPr>
          <a:xfrm>
            <a:off x="640080" y="1545336"/>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5</a:t>
            </a:r>
            <a:endParaRPr lang="en-US" sz="1050" dirty="0"/>
          </a:p>
        </p:txBody>
      </p:sp>
      <p:sp>
        <p:nvSpPr>
          <p:cNvPr id="11" name="Text 9"/>
          <p:cNvSpPr txBox="1"/>
          <p:nvPr/>
        </p:nvSpPr>
        <p:spPr>
          <a:xfrm>
            <a:off x="1097280" y="1545336"/>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PUSH 20</a:t>
            </a:r>
            <a:endParaRPr lang="en-US" sz="1100" dirty="0"/>
          </a:p>
        </p:txBody>
      </p:sp>
      <p:sp>
        <p:nvSpPr>
          <p:cNvPr id="12" name="Text 10"/>
          <p:cNvSpPr txBox="1"/>
          <p:nvPr/>
        </p:nvSpPr>
        <p:spPr>
          <a:xfrm>
            <a:off x="2514600" y="1545336"/>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items.length</a:t>
            </a:r>
            <a:endParaRPr lang="en-US" sz="1000" dirty="0"/>
          </a:p>
        </p:txBody>
      </p:sp>
      <p:sp>
        <p:nvSpPr>
          <p:cNvPr id="13" name="Text 11"/>
          <p:cNvSpPr txBox="1"/>
          <p:nvPr/>
        </p:nvSpPr>
        <p:spPr>
          <a:xfrm>
            <a:off x="640080" y="1810512"/>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6</a:t>
            </a:r>
            <a:endParaRPr lang="en-US" sz="1050" dirty="0"/>
          </a:p>
        </p:txBody>
      </p:sp>
      <p:sp>
        <p:nvSpPr>
          <p:cNvPr id="14" name="Text 12"/>
          <p:cNvSpPr txBox="1"/>
          <p:nvPr/>
        </p:nvSpPr>
        <p:spPr>
          <a:xfrm>
            <a:off x="1097280" y="1810512"/>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LT</a:t>
            </a:r>
            <a:endParaRPr lang="en-US" sz="1100" dirty="0"/>
          </a:p>
        </p:txBody>
      </p:sp>
      <p:sp>
        <p:nvSpPr>
          <p:cNvPr id="15" name="Text 13"/>
          <p:cNvSpPr txBox="1"/>
          <p:nvPr/>
        </p:nvSpPr>
        <p:spPr>
          <a:xfrm>
            <a:off x="2514600" y="1810512"/>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i &lt; length ?</a:t>
            </a:r>
            <a:endParaRPr lang="en-US" sz="1000" dirty="0"/>
          </a:p>
        </p:txBody>
      </p:sp>
      <p:sp>
        <p:nvSpPr>
          <p:cNvPr id="16" name="Text 14"/>
          <p:cNvSpPr txBox="1"/>
          <p:nvPr/>
        </p:nvSpPr>
        <p:spPr>
          <a:xfrm>
            <a:off x="640080" y="2075688"/>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7</a:t>
            </a:r>
            <a:endParaRPr lang="en-US" sz="1050" dirty="0"/>
          </a:p>
        </p:txBody>
      </p:sp>
      <p:sp>
        <p:nvSpPr>
          <p:cNvPr id="17" name="Text 15"/>
          <p:cNvSpPr txBox="1"/>
          <p:nvPr/>
        </p:nvSpPr>
        <p:spPr>
          <a:xfrm>
            <a:off x="1097280" y="2075688"/>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JZ 21</a:t>
            </a:r>
            <a:endParaRPr lang="en-US" sz="1100" dirty="0"/>
          </a:p>
        </p:txBody>
      </p:sp>
      <p:sp>
        <p:nvSpPr>
          <p:cNvPr id="18" name="Text 16"/>
          <p:cNvSpPr txBox="1"/>
          <p:nvPr/>
        </p:nvSpPr>
        <p:spPr>
          <a:xfrm>
            <a:off x="2514600" y="2075688"/>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exit loop</a:t>
            </a:r>
            <a:endParaRPr lang="en-US" sz="1000" dirty="0"/>
          </a:p>
        </p:txBody>
      </p:sp>
      <p:sp>
        <p:nvSpPr>
          <p:cNvPr id="19" name="Text 17"/>
          <p:cNvSpPr txBox="1"/>
          <p:nvPr/>
        </p:nvSpPr>
        <p:spPr>
          <a:xfrm>
            <a:off x="640080" y="2340864"/>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8</a:t>
            </a:r>
            <a:endParaRPr lang="en-US" sz="1050" dirty="0"/>
          </a:p>
        </p:txBody>
      </p:sp>
      <p:sp>
        <p:nvSpPr>
          <p:cNvPr id="20" name="Text 18"/>
          <p:cNvSpPr txBox="1"/>
          <p:nvPr/>
        </p:nvSpPr>
        <p:spPr>
          <a:xfrm>
            <a:off x="1097280" y="2340864"/>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LOAD 0</a:t>
            </a:r>
            <a:endParaRPr lang="en-US" sz="1100" dirty="0"/>
          </a:p>
        </p:txBody>
      </p:sp>
      <p:sp>
        <p:nvSpPr>
          <p:cNvPr id="21" name="Text 19"/>
          <p:cNvSpPr txBox="1"/>
          <p:nvPr/>
        </p:nvSpPr>
        <p:spPr>
          <a:xfrm>
            <a:off x="2514600" y="2340864"/>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total</a:t>
            </a:r>
            <a:endParaRPr lang="en-US" sz="1000" dirty="0"/>
          </a:p>
        </p:txBody>
      </p:sp>
      <p:sp>
        <p:nvSpPr>
          <p:cNvPr id="22" name="Text 20"/>
          <p:cNvSpPr txBox="1"/>
          <p:nvPr/>
        </p:nvSpPr>
        <p:spPr>
          <a:xfrm>
            <a:off x="640080" y="2606040"/>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 9</a:t>
            </a:r>
            <a:endParaRPr lang="en-US" sz="1050" dirty="0"/>
          </a:p>
        </p:txBody>
      </p:sp>
      <p:sp>
        <p:nvSpPr>
          <p:cNvPr id="23" name="Text 21"/>
          <p:cNvSpPr txBox="1"/>
          <p:nvPr/>
        </p:nvSpPr>
        <p:spPr>
          <a:xfrm>
            <a:off x="1097280" y="2606040"/>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PUSH 0</a:t>
            </a:r>
            <a:endParaRPr lang="en-US" sz="1100" dirty="0"/>
          </a:p>
        </p:txBody>
      </p:sp>
      <p:sp>
        <p:nvSpPr>
          <p:cNvPr id="24" name="Text 22"/>
          <p:cNvSpPr txBox="1"/>
          <p:nvPr/>
        </p:nvSpPr>
        <p:spPr>
          <a:xfrm>
            <a:off x="2514600" y="2606040"/>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items starts at 0</a:t>
            </a:r>
            <a:endParaRPr lang="en-US" sz="1000" dirty="0"/>
          </a:p>
        </p:txBody>
      </p:sp>
      <p:sp>
        <p:nvSpPr>
          <p:cNvPr id="25" name="Text 23"/>
          <p:cNvSpPr txBox="1"/>
          <p:nvPr/>
        </p:nvSpPr>
        <p:spPr>
          <a:xfrm>
            <a:off x="640080" y="2871216"/>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10</a:t>
            </a:r>
            <a:endParaRPr lang="en-US" sz="1050" dirty="0"/>
          </a:p>
        </p:txBody>
      </p:sp>
      <p:sp>
        <p:nvSpPr>
          <p:cNvPr id="26" name="Text 24"/>
          <p:cNvSpPr txBox="1"/>
          <p:nvPr/>
        </p:nvSpPr>
        <p:spPr>
          <a:xfrm>
            <a:off x="1097280" y="2871216"/>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LOAD 1</a:t>
            </a:r>
            <a:endParaRPr lang="en-US" sz="1100" dirty="0"/>
          </a:p>
        </p:txBody>
      </p:sp>
      <p:sp>
        <p:nvSpPr>
          <p:cNvPr id="27" name="Text 25"/>
          <p:cNvSpPr txBox="1"/>
          <p:nvPr/>
        </p:nvSpPr>
        <p:spPr>
          <a:xfrm>
            <a:off x="2514600" y="2871216"/>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i</a:t>
            </a:r>
            <a:endParaRPr lang="en-US" sz="1000" dirty="0"/>
          </a:p>
        </p:txBody>
      </p:sp>
      <p:sp>
        <p:nvSpPr>
          <p:cNvPr id="28" name="Text 26"/>
          <p:cNvSpPr txBox="1"/>
          <p:nvPr/>
        </p:nvSpPr>
        <p:spPr>
          <a:xfrm>
            <a:off x="640080" y="3136392"/>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11</a:t>
            </a:r>
            <a:endParaRPr lang="en-US" sz="1050" dirty="0"/>
          </a:p>
        </p:txBody>
      </p:sp>
      <p:sp>
        <p:nvSpPr>
          <p:cNvPr id="29" name="Text 27"/>
          <p:cNvSpPr txBox="1"/>
          <p:nvPr/>
        </p:nvSpPr>
        <p:spPr>
          <a:xfrm>
            <a:off x="1097280" y="3136392"/>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ADD</a:t>
            </a:r>
            <a:endParaRPr lang="en-US" sz="1100" dirty="0"/>
          </a:p>
        </p:txBody>
      </p:sp>
      <p:sp>
        <p:nvSpPr>
          <p:cNvPr id="30" name="Text 28"/>
          <p:cNvSpPr txBox="1"/>
          <p:nvPr/>
        </p:nvSpPr>
        <p:spPr>
          <a:xfrm>
            <a:off x="2514600" y="3136392"/>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base + i</a:t>
            </a:r>
            <a:endParaRPr lang="en-US" sz="1000" dirty="0"/>
          </a:p>
        </p:txBody>
      </p:sp>
      <p:sp>
        <p:nvSpPr>
          <p:cNvPr id="31" name="Text 29"/>
          <p:cNvSpPr txBox="1"/>
          <p:nvPr/>
        </p:nvSpPr>
        <p:spPr>
          <a:xfrm>
            <a:off x="640080" y="3401568"/>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12</a:t>
            </a:r>
            <a:endParaRPr lang="en-US" sz="1050" dirty="0"/>
          </a:p>
        </p:txBody>
      </p:sp>
      <p:sp>
        <p:nvSpPr>
          <p:cNvPr id="32" name="Text 30"/>
          <p:cNvSpPr txBox="1"/>
          <p:nvPr/>
        </p:nvSpPr>
        <p:spPr>
          <a:xfrm>
            <a:off x="1097280" y="3401568"/>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LOADOBJ</a:t>
            </a:r>
            <a:endParaRPr lang="en-US" sz="1100" dirty="0"/>
          </a:p>
        </p:txBody>
      </p:sp>
      <p:sp>
        <p:nvSpPr>
          <p:cNvPr id="33" name="Text 31"/>
          <p:cNvSpPr txBox="1"/>
          <p:nvPr/>
        </p:nvSpPr>
        <p:spPr>
          <a:xfrm>
            <a:off x="2514600" y="3401568"/>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items[i]</a:t>
            </a:r>
            <a:endParaRPr lang="en-US" sz="1000" dirty="0"/>
          </a:p>
        </p:txBody>
      </p:sp>
      <p:sp>
        <p:nvSpPr>
          <p:cNvPr id="34" name="Text 32"/>
          <p:cNvSpPr txBox="1"/>
          <p:nvPr/>
        </p:nvSpPr>
        <p:spPr>
          <a:xfrm>
            <a:off x="640080" y="3666744"/>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13</a:t>
            </a:r>
            <a:endParaRPr lang="en-US" sz="1050" dirty="0"/>
          </a:p>
        </p:txBody>
      </p:sp>
      <p:sp>
        <p:nvSpPr>
          <p:cNvPr id="35" name="Text 33"/>
          <p:cNvSpPr txBox="1"/>
          <p:nvPr/>
        </p:nvSpPr>
        <p:spPr>
          <a:xfrm>
            <a:off x="1097280" y="3666744"/>
            <a:ext cx="1371600" cy="246888"/>
          </a:xfrm>
          <a:prstGeom prst="rect">
            <a:avLst/>
          </a:prstGeom>
          <a:noFill/>
          <a:ln/>
        </p:spPr>
        <p:txBody>
          <a:bodyPr wrap="square" lIns="0" tIns="0" rIns="0" bIns="0" rtlCol="0" anchor="ctr"/>
          <a:lstStyle/>
          <a:p>
            <a:pPr indent="0" marL="0">
              <a:buNone/>
            </a:pPr>
            <a:r>
              <a:rPr lang="en-US" sz="1100" b="1" dirty="0">
                <a:solidFill>
                  <a:srgbClr val="E1B07E"/>
                </a:solidFill>
                <a:latin typeface="Courier New" pitchFamily="34" charset="0"/>
                <a:ea typeface="Courier New" pitchFamily="34" charset="-122"/>
                <a:cs typeface="Courier New" pitchFamily="34" charset="-120"/>
              </a:rPr>
              <a:t>GETFIELD x</a:t>
            </a:r>
            <a:endParaRPr lang="en-US" sz="1100" dirty="0"/>
          </a:p>
        </p:txBody>
      </p:sp>
      <p:sp>
        <p:nvSpPr>
          <p:cNvPr id="36" name="Text 34"/>
          <p:cNvSpPr txBox="1"/>
          <p:nvPr/>
        </p:nvSpPr>
        <p:spPr>
          <a:xfrm>
            <a:off x="2514600" y="3666744"/>
            <a:ext cx="1463040" cy="246888"/>
          </a:xfrm>
          <a:prstGeom prst="rect">
            <a:avLst/>
          </a:prstGeom>
          <a:noFill/>
          <a:ln/>
        </p:spPr>
        <p:txBody>
          <a:bodyPr wrap="square" lIns="0" tIns="0" rIns="0" bIns="0" rtlCol="0" anchor="ctr"/>
          <a:lstStyle/>
          <a:p>
            <a:pPr indent="0" marL="0">
              <a:buNone/>
            </a:pPr>
            <a:r>
              <a:rPr lang="en-US" sz="1000" i="1" dirty="0">
                <a:solidFill>
                  <a:srgbClr val="E1B07E"/>
                </a:solidFill>
                <a:latin typeface="Calibri" pitchFamily="34" charset="0"/>
                <a:ea typeface="Calibri" pitchFamily="34" charset="-122"/>
                <a:cs typeface="Calibri" pitchFamily="34" charset="-120"/>
              </a:rPr>
              <a:t>.x  ← cached site</a:t>
            </a:r>
            <a:endParaRPr lang="en-US" sz="1000" dirty="0"/>
          </a:p>
        </p:txBody>
      </p:sp>
      <p:sp>
        <p:nvSpPr>
          <p:cNvPr id="37" name="Text 35"/>
          <p:cNvSpPr txBox="1"/>
          <p:nvPr/>
        </p:nvSpPr>
        <p:spPr>
          <a:xfrm>
            <a:off x="640080" y="3931920"/>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14</a:t>
            </a:r>
            <a:endParaRPr lang="en-US" sz="1050" dirty="0"/>
          </a:p>
        </p:txBody>
      </p:sp>
      <p:sp>
        <p:nvSpPr>
          <p:cNvPr id="38" name="Text 36"/>
          <p:cNvSpPr txBox="1"/>
          <p:nvPr/>
        </p:nvSpPr>
        <p:spPr>
          <a:xfrm>
            <a:off x="1097280" y="3931920"/>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ADD</a:t>
            </a:r>
            <a:endParaRPr lang="en-US" sz="1100" dirty="0"/>
          </a:p>
        </p:txBody>
      </p:sp>
      <p:sp>
        <p:nvSpPr>
          <p:cNvPr id="39" name="Text 37"/>
          <p:cNvSpPr txBox="1"/>
          <p:nvPr/>
        </p:nvSpPr>
        <p:spPr>
          <a:xfrm>
            <a:off x="2514600" y="3931920"/>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total + …</a:t>
            </a:r>
            <a:endParaRPr lang="en-US" sz="1000" dirty="0"/>
          </a:p>
        </p:txBody>
      </p:sp>
      <p:sp>
        <p:nvSpPr>
          <p:cNvPr id="40" name="Text 38"/>
          <p:cNvSpPr txBox="1"/>
          <p:nvPr/>
        </p:nvSpPr>
        <p:spPr>
          <a:xfrm>
            <a:off x="640080" y="4197096"/>
            <a:ext cx="320040" cy="246888"/>
          </a:xfrm>
          <a:prstGeom prst="rect">
            <a:avLst/>
          </a:prstGeom>
          <a:noFill/>
          <a:ln/>
        </p:spPr>
        <p:txBody>
          <a:bodyPr wrap="square" lIns="0" tIns="0" rIns="0" bIns="0" rtlCol="0" anchor="ctr"/>
          <a:lstStyle/>
          <a:p>
            <a:pPr algn="r" indent="0" marL="0">
              <a:buNone/>
            </a:pPr>
            <a:r>
              <a:rPr lang="en-US" sz="1050" dirty="0">
                <a:solidFill>
                  <a:srgbClr val="E5BE9E"/>
                </a:solidFill>
                <a:latin typeface="Courier New" pitchFamily="34" charset="0"/>
                <a:ea typeface="Courier New" pitchFamily="34" charset="-122"/>
                <a:cs typeface="Courier New" pitchFamily="34" charset="-120"/>
              </a:rPr>
              <a:t>15</a:t>
            </a:r>
            <a:endParaRPr lang="en-US" sz="1050" dirty="0"/>
          </a:p>
        </p:txBody>
      </p:sp>
      <p:sp>
        <p:nvSpPr>
          <p:cNvPr id="41" name="Text 39"/>
          <p:cNvSpPr txBox="1"/>
          <p:nvPr/>
        </p:nvSpPr>
        <p:spPr>
          <a:xfrm>
            <a:off x="1097280" y="4197096"/>
            <a:ext cx="1371600" cy="246888"/>
          </a:xfrm>
          <a:prstGeom prst="rect">
            <a:avLst/>
          </a:prstGeom>
          <a:noFill/>
          <a:ln/>
        </p:spPr>
        <p:txBody>
          <a:bodyPr wrap="square" lIns="0" tIns="0" rIns="0" bIns="0" rtlCol="0" anchor="ctr"/>
          <a:lstStyle/>
          <a:p>
            <a:pPr indent="0" marL="0">
              <a:buNone/>
            </a:pPr>
            <a:r>
              <a:rPr lang="en-US" sz="1100" dirty="0">
                <a:solidFill>
                  <a:srgbClr val="C1EEFF"/>
                </a:solidFill>
                <a:latin typeface="Courier New" pitchFamily="34" charset="0"/>
                <a:ea typeface="Courier New" pitchFamily="34" charset="-122"/>
                <a:cs typeface="Courier New" pitchFamily="34" charset="-120"/>
              </a:rPr>
              <a:t>STORE 0</a:t>
            </a:r>
            <a:endParaRPr lang="en-US" sz="1100" dirty="0"/>
          </a:p>
        </p:txBody>
      </p:sp>
      <p:sp>
        <p:nvSpPr>
          <p:cNvPr id="42" name="Text 40"/>
          <p:cNvSpPr txBox="1"/>
          <p:nvPr/>
        </p:nvSpPr>
        <p:spPr>
          <a:xfrm>
            <a:off x="2514600" y="4197096"/>
            <a:ext cx="1463040" cy="246888"/>
          </a:xfrm>
          <a:prstGeom prst="rect">
            <a:avLst/>
          </a:prstGeom>
          <a:noFill/>
          <a:ln/>
        </p:spPr>
        <p:txBody>
          <a:bodyPr wrap="square" lIns="0" tIns="0" rIns="0" bIns="0" rtlCol="0" anchor="ctr"/>
          <a:lstStyle/>
          <a:p>
            <a:pPr indent="0" marL="0">
              <a:buNone/>
            </a:pPr>
            <a:r>
              <a:rPr lang="en-US" sz="1000" i="1" dirty="0">
                <a:solidFill>
                  <a:srgbClr val="B9A9AA"/>
                </a:solidFill>
                <a:latin typeface="Calibri" pitchFamily="34" charset="0"/>
                <a:ea typeface="Calibri" pitchFamily="34" charset="-122"/>
                <a:cs typeface="Calibri" pitchFamily="34" charset="-120"/>
              </a:rPr>
              <a:t>total = …</a:t>
            </a:r>
            <a:endParaRPr lang="en-US" sz="1000" dirty="0"/>
          </a:p>
        </p:txBody>
      </p:sp>
      <p:sp>
        <p:nvSpPr>
          <p:cNvPr id="43" name="Shape 41"/>
          <p:cNvSpPr/>
          <p:nvPr/>
        </p:nvSpPr>
        <p:spPr>
          <a:xfrm>
            <a:off x="4480560" y="1188720"/>
            <a:ext cx="457200" cy="457200"/>
          </a:xfrm>
          <a:prstGeom prst="ellipse">
            <a:avLst/>
          </a:prstGeom>
          <a:solidFill>
            <a:srgbClr val="548687"/>
          </a:solidFill>
          <a:ln w="12700">
            <a:solidFill>
              <a:srgbClr val="548687"/>
            </a:solidFill>
            <a:prstDash val="solid"/>
          </a:ln>
        </p:spPr>
      </p:sp>
      <p:sp>
        <p:nvSpPr>
          <p:cNvPr id="44" name="Text 42"/>
          <p:cNvSpPr txBox="1"/>
          <p:nvPr/>
        </p:nvSpPr>
        <p:spPr>
          <a:xfrm>
            <a:off x="4480560" y="11887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45" name="Text 43"/>
          <p:cNvSpPr txBox="1"/>
          <p:nvPr/>
        </p:nvSpPr>
        <p:spPr>
          <a:xfrm>
            <a:off x="5120640" y="1170432"/>
            <a:ext cx="3566160" cy="27432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Tokenize</a:t>
            </a:r>
            <a:endParaRPr lang="en-US" sz="1400" dirty="0"/>
          </a:p>
        </p:txBody>
      </p:sp>
      <p:sp>
        <p:nvSpPr>
          <p:cNvPr id="46" name="Text 44"/>
          <p:cNvSpPr txBox="1"/>
          <p:nvPr/>
        </p:nvSpPr>
        <p:spPr>
          <a:xfrm>
            <a:off x="5120640" y="1444752"/>
            <a:ext cx="3566160" cy="548640"/>
          </a:xfrm>
          <a:prstGeom prst="rect">
            <a:avLst/>
          </a:prstGeom>
          <a:noFill/>
          <a:ln/>
        </p:spPr>
        <p:txBody>
          <a:bodyPr wrap="square" lIns="0" tIns="0" rIns="0" bIns="0" rtlCol="0" anchor="t"/>
          <a:lstStyle/>
          <a:p>
            <a:pPr indent="0" marL="0">
              <a:buNone/>
            </a:pPr>
            <a:r>
              <a:rPr lang="en-US" sz="1150" dirty="0">
                <a:solidFill>
                  <a:srgbClr val="513B3C"/>
                </a:solidFill>
                <a:latin typeface="Calibri" pitchFamily="34" charset="0"/>
                <a:ea typeface="Calibri" pitchFamily="34" charset="-122"/>
                <a:cs typeface="Calibri" pitchFamily="34" charset="-120"/>
              </a:rPr>
              <a:t>A regex lexer splits the source into numbers, names and operators.</a:t>
            </a:r>
            <a:endParaRPr lang="en-US" sz="1150" dirty="0"/>
          </a:p>
        </p:txBody>
      </p:sp>
      <p:sp>
        <p:nvSpPr>
          <p:cNvPr id="47" name="Shape 45"/>
          <p:cNvSpPr/>
          <p:nvPr/>
        </p:nvSpPr>
        <p:spPr>
          <a:xfrm>
            <a:off x="4480560" y="2057400"/>
            <a:ext cx="457200" cy="457200"/>
          </a:xfrm>
          <a:prstGeom prst="ellipse">
            <a:avLst/>
          </a:prstGeom>
          <a:solidFill>
            <a:srgbClr val="548687"/>
          </a:solidFill>
          <a:ln w="12700">
            <a:solidFill>
              <a:srgbClr val="548687"/>
            </a:solidFill>
            <a:prstDash val="solid"/>
          </a:ln>
        </p:spPr>
      </p:sp>
      <p:sp>
        <p:nvSpPr>
          <p:cNvPr id="48" name="Text 46"/>
          <p:cNvSpPr txBox="1"/>
          <p:nvPr/>
        </p:nvSpPr>
        <p:spPr>
          <a:xfrm>
            <a:off x="4480560" y="2057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49" name="Text 47"/>
          <p:cNvSpPr txBox="1"/>
          <p:nvPr/>
        </p:nvSpPr>
        <p:spPr>
          <a:xfrm>
            <a:off x="5120640" y="2039112"/>
            <a:ext cx="3566160" cy="27432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Parse &amp; emit</a:t>
            </a:r>
            <a:endParaRPr lang="en-US" sz="1400" dirty="0"/>
          </a:p>
        </p:txBody>
      </p:sp>
      <p:sp>
        <p:nvSpPr>
          <p:cNvPr id="50" name="Text 48"/>
          <p:cNvSpPr txBox="1"/>
          <p:nvPr/>
        </p:nvSpPr>
        <p:spPr>
          <a:xfrm>
            <a:off x="5120640" y="2313432"/>
            <a:ext cx="3566160" cy="548640"/>
          </a:xfrm>
          <a:prstGeom prst="rect">
            <a:avLst/>
          </a:prstGeom>
          <a:noFill/>
          <a:ln/>
        </p:spPr>
        <p:txBody>
          <a:bodyPr wrap="square" lIns="0" tIns="0" rIns="0" bIns="0" rtlCol="0" anchor="t"/>
          <a:lstStyle/>
          <a:p>
            <a:pPr indent="0" marL="0">
              <a:buNone/>
            </a:pPr>
            <a:r>
              <a:rPr lang="en-US" sz="1150" dirty="0">
                <a:solidFill>
                  <a:srgbClr val="513B3C"/>
                </a:solidFill>
                <a:latin typeface="Calibri" pitchFamily="34" charset="0"/>
                <a:ea typeface="Calibri" pitchFamily="34" charset="-122"/>
                <a:cs typeface="Calibri" pitchFamily="34" charset="-120"/>
              </a:rPr>
              <a:t>A recursive-descent parser writes bytecode in one pass; jump targets are back-patched.</a:t>
            </a:r>
            <a:endParaRPr lang="en-US" sz="1150" dirty="0"/>
          </a:p>
        </p:txBody>
      </p:sp>
      <p:sp>
        <p:nvSpPr>
          <p:cNvPr id="51" name="Shape 49"/>
          <p:cNvSpPr/>
          <p:nvPr/>
        </p:nvSpPr>
        <p:spPr>
          <a:xfrm>
            <a:off x="4480560" y="2926080"/>
            <a:ext cx="457200" cy="457200"/>
          </a:xfrm>
          <a:prstGeom prst="ellipse">
            <a:avLst/>
          </a:prstGeom>
          <a:solidFill>
            <a:srgbClr val="548687"/>
          </a:solidFill>
          <a:ln w="12700">
            <a:solidFill>
              <a:srgbClr val="548687"/>
            </a:solidFill>
            <a:prstDash val="solid"/>
          </a:ln>
        </p:spPr>
      </p:sp>
      <p:sp>
        <p:nvSpPr>
          <p:cNvPr id="52" name="Text 50"/>
          <p:cNvSpPr txBox="1"/>
          <p:nvPr/>
        </p:nvSpPr>
        <p:spPr>
          <a:xfrm>
            <a:off x="4480560" y="2926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53" name="Text 51"/>
          <p:cNvSpPr txBox="1"/>
          <p:nvPr/>
        </p:nvSpPr>
        <p:spPr>
          <a:xfrm>
            <a:off x="5120640" y="2907792"/>
            <a:ext cx="3566160" cy="274320"/>
          </a:xfrm>
          <a:prstGeom prst="rect">
            <a:avLst/>
          </a:prstGeom>
          <a:noFill/>
          <a:ln/>
        </p:spPr>
        <p:txBody>
          <a:bodyPr wrap="square" lIns="0" tIns="0" rIns="0" bIns="0" rtlCol="0" anchor="ctr"/>
          <a:lstStyle/>
          <a:p>
            <a:pPr indent="0" marL="0">
              <a:buNone/>
            </a:pPr>
            <a:r>
              <a:rPr lang="en-US" sz="1400" b="1" dirty="0">
                <a:solidFill>
                  <a:srgbClr val="513B3C"/>
                </a:solidFill>
                <a:latin typeface="Calibri" pitchFamily="34" charset="0"/>
                <a:ea typeface="Calibri" pitchFamily="34" charset="-122"/>
                <a:cs typeface="Calibri" pitchFamily="34" charset="-120"/>
              </a:rPr>
              <a:t>Lower</a:t>
            </a:r>
            <a:endParaRPr lang="en-US" sz="1400" dirty="0"/>
          </a:p>
        </p:txBody>
      </p:sp>
      <p:sp>
        <p:nvSpPr>
          <p:cNvPr id="54" name="Text 52"/>
          <p:cNvSpPr txBox="1"/>
          <p:nvPr/>
        </p:nvSpPr>
        <p:spPr>
          <a:xfrm>
            <a:off x="5120640" y="3182112"/>
            <a:ext cx="3566160" cy="548640"/>
          </a:xfrm>
          <a:prstGeom prst="rect">
            <a:avLst/>
          </a:prstGeom>
          <a:noFill/>
          <a:ln/>
        </p:spPr>
        <p:txBody>
          <a:bodyPr wrap="square" lIns="0" tIns="0" rIns="0" bIns="0" rtlCol="0" anchor="t"/>
          <a:lstStyle/>
          <a:p>
            <a:pPr indent="0" marL="0">
              <a:buNone/>
            </a:pPr>
            <a:r>
              <a:rPr lang="en-US" sz="1150" dirty="0">
                <a:solidFill>
                  <a:srgbClr val="513B3C"/>
                </a:solidFill>
                <a:latin typeface="Calibri" pitchFamily="34" charset="0"/>
                <a:ea typeface="Calibri" pitchFamily="34" charset="-122"/>
                <a:cs typeface="Calibri" pitchFamily="34" charset="-120"/>
              </a:rPr>
              <a:t>Our ISA has no &gt;, == or %: they become LT / ADD / SUB / DIV with temp locals.</a:t>
            </a:r>
            <a:endParaRPr lang="en-US" sz="1150" dirty="0"/>
          </a:p>
        </p:txBody>
      </p:sp>
      <p:sp>
        <p:nvSpPr>
          <p:cNvPr id="55" name="Shape 53"/>
          <p:cNvSpPr/>
          <p:nvPr/>
        </p:nvSpPr>
        <p:spPr>
          <a:xfrm>
            <a:off x="4480560" y="3840480"/>
            <a:ext cx="4206240" cy="685800"/>
          </a:xfrm>
          <a:prstGeom prst="roundRect">
            <a:avLst>
              <a:gd name="adj" fmla="val 10667"/>
            </a:avLst>
          </a:prstGeom>
          <a:solidFill>
            <a:srgbClr val="C1EEFF"/>
          </a:solidFill>
          <a:ln w="12700">
            <a:solidFill>
              <a:srgbClr val="C1EEFF"/>
            </a:solidFill>
            <a:prstDash val="solid"/>
          </a:ln>
        </p:spPr>
      </p:sp>
      <p:sp>
        <p:nvSpPr>
          <p:cNvPr id="56" name="Text 54"/>
          <p:cNvSpPr txBox="1"/>
          <p:nvPr/>
        </p:nvSpPr>
        <p:spPr>
          <a:xfrm>
            <a:off x="4663440" y="3840480"/>
            <a:ext cx="3931920" cy="685800"/>
          </a:xfrm>
          <a:prstGeom prst="rect">
            <a:avLst/>
          </a:prstGeom>
          <a:noFill/>
          <a:ln/>
        </p:spPr>
        <p:txBody>
          <a:bodyPr wrap="square" lIns="0" tIns="0" rIns="0" bIns="0" rtlCol="0" anchor="ctr"/>
          <a:lstStyle/>
          <a:p>
            <a:pPr indent="0" marL="0">
              <a:buNone/>
            </a:pPr>
            <a:r>
              <a:rPr lang="en-US" sz="1150" b="1" dirty="0">
                <a:solidFill>
                  <a:srgbClr val="513B3C"/>
                </a:solidFill>
                <a:latin typeface="Calibri" pitchFamily="34" charset="0"/>
                <a:ea typeface="Calibri" pitchFamily="34" charset="-122"/>
                <a:cs typeface="Calibri" pitchFamily="34" charset="-120"/>
              </a:rPr>
              <a:t>jsc.py: </a:t>
            </a:r>
            <a:pPr indent="0" marL="0">
              <a:buNone/>
            </a:pPr>
            <a:r>
              <a:rPr lang="en-US" sz="1150" dirty="0">
                <a:solidFill>
                  <a:srgbClr val="513B3C"/>
                </a:solidFill>
                <a:latin typeface="Calibri" pitchFamily="34" charset="0"/>
                <a:ea typeface="Calibri" pitchFamily="34" charset="-122"/>
                <a:cs typeface="Calibri" pitchFamily="34" charset="-120"/>
              </a:rPr>
              <a:t>total += items[i].x;  inside a for loop (examples/deopt.js)</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19</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Every program checked against Node</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4 · EHSAN</a:t>
            </a:r>
            <a:endParaRPr lang="en-US" sz="1000" dirty="0"/>
          </a:p>
        </p:txBody>
      </p:sp>
      <p:sp>
        <p:nvSpPr>
          <p:cNvPr id="6" name="Shape 4"/>
          <p:cNvSpPr/>
          <p:nvPr/>
        </p:nvSpPr>
        <p:spPr>
          <a:xfrm>
            <a:off x="457200" y="1737360"/>
            <a:ext cx="1828800" cy="914400"/>
          </a:xfrm>
          <a:prstGeom prst="roundRect">
            <a:avLst>
              <a:gd name="adj" fmla="val 8000"/>
            </a:avLst>
          </a:prstGeom>
          <a:solidFill>
            <a:srgbClr val="F6E7DB"/>
          </a:solidFill>
          <a:ln w="12700">
            <a:solidFill>
              <a:srgbClr val="F6E7DB"/>
            </a:solidFill>
            <a:prstDash val="solid"/>
          </a:ln>
        </p:spPr>
      </p:sp>
      <p:sp>
        <p:nvSpPr>
          <p:cNvPr id="7" name="Text 5"/>
          <p:cNvSpPr txBox="1"/>
          <p:nvPr/>
        </p:nvSpPr>
        <p:spPr>
          <a:xfrm>
            <a:off x="548640" y="1737360"/>
            <a:ext cx="1645920" cy="91440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examples/*.js</a:t>
            </a:r>
            <a:endParaRPr lang="en-US" sz="1200" dirty="0"/>
          </a:p>
          <a:p>
            <a:pPr algn="ctr" indent="0" marL="0">
              <a:buNone/>
            </a:pPr>
            <a:r>
              <a:rPr lang="en-US" sz="1050" dirty="0">
                <a:solidFill>
                  <a:srgbClr val="513B3C"/>
                </a:solidFill>
                <a:latin typeface="Calibri" pitchFamily="34" charset="0"/>
                <a:ea typeface="Calibri" pitchFamily="34" charset="-122"/>
                <a:cs typeface="Calibri" pitchFamily="34" charset="-120"/>
              </a:rPr>
              <a:t>6 JavaScript programs</a:t>
            </a:r>
            <a:endParaRPr lang="en-US" sz="1200" dirty="0"/>
          </a:p>
        </p:txBody>
      </p:sp>
      <p:sp>
        <p:nvSpPr>
          <p:cNvPr id="8" name="Shape 6"/>
          <p:cNvSpPr/>
          <p:nvPr/>
        </p:nvSpPr>
        <p:spPr>
          <a:xfrm>
            <a:off x="2926080" y="1188720"/>
            <a:ext cx="2011680" cy="731520"/>
          </a:xfrm>
          <a:prstGeom prst="roundRect">
            <a:avLst>
              <a:gd name="adj" fmla="val 10000"/>
            </a:avLst>
          </a:prstGeom>
          <a:solidFill>
            <a:srgbClr val="E6F8FF"/>
          </a:solidFill>
          <a:ln w="12700">
            <a:solidFill>
              <a:srgbClr val="E6F8FF"/>
            </a:solidFill>
            <a:prstDash val="solid"/>
          </a:ln>
        </p:spPr>
      </p:sp>
      <p:sp>
        <p:nvSpPr>
          <p:cNvPr id="9" name="Text 7"/>
          <p:cNvSpPr txBox="1"/>
          <p:nvPr/>
        </p:nvSpPr>
        <p:spPr>
          <a:xfrm>
            <a:off x="2926080" y="1188720"/>
            <a:ext cx="2011680" cy="73152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Node.js (V8): reference</a:t>
            </a:r>
            <a:endParaRPr lang="en-US" sz="1200" dirty="0"/>
          </a:p>
        </p:txBody>
      </p:sp>
      <p:sp>
        <p:nvSpPr>
          <p:cNvPr id="10" name="Shape 8"/>
          <p:cNvSpPr/>
          <p:nvPr/>
        </p:nvSpPr>
        <p:spPr>
          <a:xfrm>
            <a:off x="2926080" y="2468880"/>
            <a:ext cx="2011680" cy="731520"/>
          </a:xfrm>
          <a:prstGeom prst="roundRect">
            <a:avLst>
              <a:gd name="adj" fmla="val 10000"/>
            </a:avLst>
          </a:prstGeom>
          <a:solidFill>
            <a:srgbClr val="548687"/>
          </a:solidFill>
          <a:ln w="12700">
            <a:solidFill>
              <a:srgbClr val="548687"/>
            </a:solidFill>
            <a:prstDash val="solid"/>
          </a:ln>
        </p:spPr>
      </p:sp>
      <p:sp>
        <p:nvSpPr>
          <p:cNvPr id="11" name="Text 9"/>
          <p:cNvSpPr txBox="1"/>
          <p:nvPr/>
        </p:nvSpPr>
        <p:spPr>
          <a:xfrm>
            <a:off x="2926080" y="2468880"/>
            <a:ext cx="201168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jsc.py → our VM, 3 modes</a:t>
            </a:r>
            <a:endParaRPr lang="en-US" sz="1200" dirty="0"/>
          </a:p>
        </p:txBody>
      </p:sp>
      <p:sp>
        <p:nvSpPr>
          <p:cNvPr id="12" name="Shape 10"/>
          <p:cNvSpPr/>
          <p:nvPr/>
        </p:nvSpPr>
        <p:spPr>
          <a:xfrm flipV="1">
            <a:off x="2286000" y="1554480"/>
            <a:ext cx="640080" cy="502920"/>
          </a:xfrm>
          <a:prstGeom prst="line">
            <a:avLst/>
          </a:prstGeom>
          <a:noFill/>
          <a:ln w="22225">
            <a:solidFill>
              <a:srgbClr val="7D6A6B"/>
            </a:solidFill>
            <a:prstDash val="solid"/>
            <a:tailEnd type="triangle"/>
          </a:ln>
        </p:spPr>
      </p:sp>
      <p:sp>
        <p:nvSpPr>
          <p:cNvPr id="13" name="Shape 11"/>
          <p:cNvSpPr/>
          <p:nvPr/>
        </p:nvSpPr>
        <p:spPr>
          <a:xfrm>
            <a:off x="2286000" y="2240280"/>
            <a:ext cx="640080" cy="594360"/>
          </a:xfrm>
          <a:prstGeom prst="line">
            <a:avLst/>
          </a:prstGeom>
          <a:noFill/>
          <a:ln w="22225">
            <a:solidFill>
              <a:srgbClr val="7D6A6B"/>
            </a:solidFill>
            <a:prstDash val="solid"/>
            <a:tailEnd type="triangle"/>
          </a:ln>
        </p:spPr>
      </p:sp>
      <p:sp>
        <p:nvSpPr>
          <p:cNvPr id="14" name="Shape 12"/>
          <p:cNvSpPr/>
          <p:nvPr/>
        </p:nvSpPr>
        <p:spPr>
          <a:xfrm>
            <a:off x="5577840" y="1737360"/>
            <a:ext cx="1371600" cy="914400"/>
          </a:xfrm>
          <a:prstGeom prst="roundRect">
            <a:avLst>
              <a:gd name="adj" fmla="val 8000"/>
            </a:avLst>
          </a:prstGeom>
          <a:solidFill>
            <a:srgbClr val="F6E7DB"/>
          </a:solidFill>
          <a:ln w="12700">
            <a:solidFill>
              <a:srgbClr val="F6E7DB"/>
            </a:solidFill>
            <a:prstDash val="solid"/>
          </a:ln>
        </p:spPr>
      </p:sp>
      <p:sp>
        <p:nvSpPr>
          <p:cNvPr id="15" name="Text 13"/>
          <p:cNvSpPr txBox="1"/>
          <p:nvPr/>
        </p:nvSpPr>
        <p:spPr>
          <a:xfrm>
            <a:off x="5577840" y="1737360"/>
            <a:ext cx="1371600" cy="91440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Compare</a:t>
            </a:r>
            <a:endParaRPr lang="en-US" sz="1200" dirty="0"/>
          </a:p>
          <a:p>
            <a:pPr algn="ctr" indent="0" marL="0">
              <a:buNone/>
            </a:pPr>
            <a:r>
              <a:rPr lang="en-US" sz="1050" dirty="0">
                <a:solidFill>
                  <a:srgbClr val="513B3C"/>
                </a:solidFill>
                <a:latin typeface="Calibri" pitchFamily="34" charset="0"/>
                <a:ea typeface="Calibri" pitchFamily="34" charset="-122"/>
                <a:cs typeface="Calibri" pitchFamily="34" charset="-120"/>
              </a:rPr>
              <a:t>every printed line</a:t>
            </a:r>
            <a:endParaRPr lang="en-US" sz="1200" dirty="0"/>
          </a:p>
        </p:txBody>
      </p:sp>
      <p:sp>
        <p:nvSpPr>
          <p:cNvPr id="16" name="Shape 14"/>
          <p:cNvSpPr/>
          <p:nvPr/>
        </p:nvSpPr>
        <p:spPr>
          <a:xfrm>
            <a:off x="4937760" y="1554480"/>
            <a:ext cx="640080" cy="502920"/>
          </a:xfrm>
          <a:prstGeom prst="line">
            <a:avLst/>
          </a:prstGeom>
          <a:noFill/>
          <a:ln w="22225">
            <a:solidFill>
              <a:srgbClr val="7D6A6B"/>
            </a:solidFill>
            <a:prstDash val="solid"/>
            <a:tailEnd type="triangle"/>
          </a:ln>
        </p:spPr>
      </p:sp>
      <p:sp>
        <p:nvSpPr>
          <p:cNvPr id="17" name="Shape 15"/>
          <p:cNvSpPr/>
          <p:nvPr/>
        </p:nvSpPr>
        <p:spPr>
          <a:xfrm flipV="1">
            <a:off x="4937760" y="2240280"/>
            <a:ext cx="640080" cy="594360"/>
          </a:xfrm>
          <a:prstGeom prst="line">
            <a:avLst/>
          </a:prstGeom>
          <a:noFill/>
          <a:ln w="22225">
            <a:solidFill>
              <a:srgbClr val="7D6A6B"/>
            </a:solidFill>
            <a:prstDash val="solid"/>
            <a:tailEnd type="triangle"/>
          </a:ln>
        </p:spPr>
      </p:sp>
      <p:sp>
        <p:nvSpPr>
          <p:cNvPr id="18" name="Shape 16"/>
          <p:cNvSpPr/>
          <p:nvPr/>
        </p:nvSpPr>
        <p:spPr>
          <a:xfrm>
            <a:off x="7406640" y="1600200"/>
            <a:ext cx="1188720" cy="1188720"/>
          </a:xfrm>
          <a:prstGeom prst="ellipse">
            <a:avLst/>
          </a:prstGeom>
          <a:solidFill>
            <a:srgbClr val="548687"/>
          </a:solidFill>
          <a:ln w="12700">
            <a:solidFill>
              <a:srgbClr val="548687"/>
            </a:solidFill>
            <a:prstDash val="solid"/>
          </a:ln>
        </p:spPr>
      </p:sp>
      <p:sp>
        <p:nvSpPr>
          <p:cNvPr id="19" name="Text 17"/>
          <p:cNvSpPr txBox="1"/>
          <p:nvPr/>
        </p:nvSpPr>
        <p:spPr>
          <a:xfrm>
            <a:off x="7406640" y="16002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0</a:t>
            </a:r>
            <a:endParaRPr lang="en-US" sz="4000" dirty="0"/>
          </a:p>
        </p:txBody>
      </p:sp>
      <p:sp>
        <p:nvSpPr>
          <p:cNvPr id="20" name="Shape 18"/>
          <p:cNvSpPr/>
          <p:nvPr/>
        </p:nvSpPr>
        <p:spPr>
          <a:xfrm>
            <a:off x="6949440" y="2194560"/>
            <a:ext cx="457200" cy="0"/>
          </a:xfrm>
          <a:prstGeom prst="line">
            <a:avLst/>
          </a:prstGeom>
          <a:noFill/>
          <a:ln w="22225">
            <a:solidFill>
              <a:srgbClr val="7D6A6B"/>
            </a:solidFill>
            <a:prstDash val="solid"/>
            <a:tailEnd type="triangle"/>
          </a:ln>
        </p:spPr>
      </p:sp>
      <p:sp>
        <p:nvSpPr>
          <p:cNvPr id="21" name="Text 19"/>
          <p:cNvSpPr txBox="1"/>
          <p:nvPr/>
        </p:nvSpPr>
        <p:spPr>
          <a:xfrm>
            <a:off x="7178040" y="2834640"/>
            <a:ext cx="1645920" cy="274320"/>
          </a:xfrm>
          <a:prstGeom prst="rect">
            <a:avLst/>
          </a:prstGeom>
          <a:noFill/>
          <a:ln/>
        </p:spPr>
        <p:txBody>
          <a:bodyPr wrap="square" lIns="0" tIns="0" rIns="0" bIns="0" rtlCol="0" anchor="ctr"/>
          <a:lstStyle/>
          <a:p>
            <a:pPr algn="ctr" indent="0" marL="0">
              <a:buNone/>
            </a:pPr>
            <a:r>
              <a:rPr lang="en-US" sz="1200" b="1" dirty="0">
                <a:solidFill>
                  <a:srgbClr val="513B3C"/>
                </a:solidFill>
                <a:latin typeface="Calibri" pitchFamily="34" charset="0"/>
                <a:ea typeface="Calibri" pitchFamily="34" charset="-122"/>
                <a:cs typeface="Calibri" pitchFamily="34" charset="-120"/>
              </a:rPr>
              <a:t>differences</a:t>
            </a:r>
            <a:endParaRPr lang="en-US" sz="1200" dirty="0"/>
          </a:p>
        </p:txBody>
      </p:sp>
      <p:sp>
        <p:nvSpPr>
          <p:cNvPr id="22" name="Shape 20"/>
          <p:cNvSpPr/>
          <p:nvPr/>
        </p:nvSpPr>
        <p:spPr>
          <a:xfrm>
            <a:off x="457200" y="3520440"/>
            <a:ext cx="2606040" cy="1005840"/>
          </a:xfrm>
          <a:prstGeom prst="roundRect">
            <a:avLst>
              <a:gd name="adj" fmla="val 7273"/>
            </a:avLst>
          </a:prstGeom>
          <a:solidFill>
            <a:srgbClr val="E6F8FF"/>
          </a:solidFill>
          <a:ln w="12700">
            <a:solidFill>
              <a:srgbClr val="E6F8FF"/>
            </a:solidFill>
            <a:prstDash val="solid"/>
          </a:ln>
        </p:spPr>
      </p:sp>
      <p:sp>
        <p:nvSpPr>
          <p:cNvPr id="23" name="Text 21"/>
          <p:cNvSpPr txBox="1"/>
          <p:nvPr/>
        </p:nvSpPr>
        <p:spPr>
          <a:xfrm>
            <a:off x="640080" y="3584448"/>
            <a:ext cx="2286000" cy="548640"/>
          </a:xfrm>
          <a:prstGeom prst="rect">
            <a:avLst/>
          </a:prstGeom>
          <a:noFill/>
          <a:ln/>
        </p:spPr>
        <p:txBody>
          <a:bodyPr wrap="square" lIns="0" tIns="0" rIns="0" bIns="0" rtlCol="0" anchor="ctr"/>
          <a:lstStyle/>
          <a:p>
            <a:pPr indent="0" marL="0">
              <a:buNone/>
            </a:pPr>
            <a:r>
              <a:rPr lang="en-US" sz="2600" b="1" dirty="0">
                <a:solidFill>
                  <a:srgbClr val="548687"/>
                </a:solidFill>
                <a:latin typeface="Cambria" pitchFamily="34" charset="0"/>
                <a:ea typeface="Cambria" pitchFamily="34" charset="-122"/>
                <a:cs typeface="Cambria" pitchFamily="34" charset="-120"/>
              </a:rPr>
              <a:t>18 / 18</a:t>
            </a:r>
            <a:endParaRPr lang="en-US" sz="2600" dirty="0"/>
          </a:p>
        </p:txBody>
      </p:sp>
      <p:sp>
        <p:nvSpPr>
          <p:cNvPr id="24" name="Text 22"/>
          <p:cNvSpPr txBox="1"/>
          <p:nvPr/>
        </p:nvSpPr>
        <p:spPr>
          <a:xfrm>
            <a:off x="640080" y="4114800"/>
            <a:ext cx="2286000" cy="320040"/>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runs identical to Node</a:t>
            </a:r>
            <a:endParaRPr lang="en-US" sz="1200" dirty="0"/>
          </a:p>
        </p:txBody>
      </p:sp>
      <p:sp>
        <p:nvSpPr>
          <p:cNvPr id="25" name="Shape 23"/>
          <p:cNvSpPr/>
          <p:nvPr/>
        </p:nvSpPr>
        <p:spPr>
          <a:xfrm>
            <a:off x="3246120" y="3520440"/>
            <a:ext cx="2606040" cy="1005840"/>
          </a:xfrm>
          <a:prstGeom prst="roundRect">
            <a:avLst>
              <a:gd name="adj" fmla="val 7273"/>
            </a:avLst>
          </a:prstGeom>
          <a:solidFill>
            <a:srgbClr val="E6F8FF"/>
          </a:solidFill>
          <a:ln w="12700">
            <a:solidFill>
              <a:srgbClr val="E6F8FF"/>
            </a:solidFill>
            <a:prstDash val="solid"/>
          </a:ln>
        </p:spPr>
      </p:sp>
      <p:sp>
        <p:nvSpPr>
          <p:cNvPr id="26" name="Text 24"/>
          <p:cNvSpPr txBox="1"/>
          <p:nvPr/>
        </p:nvSpPr>
        <p:spPr>
          <a:xfrm>
            <a:off x="3429000" y="3584448"/>
            <a:ext cx="2286000" cy="548640"/>
          </a:xfrm>
          <a:prstGeom prst="rect">
            <a:avLst/>
          </a:prstGeom>
          <a:noFill/>
          <a:ln/>
        </p:spPr>
        <p:txBody>
          <a:bodyPr wrap="square" lIns="0" tIns="0" rIns="0" bIns="0" rtlCol="0" anchor="ctr"/>
          <a:lstStyle/>
          <a:p>
            <a:pPr indent="0" marL="0">
              <a:buNone/>
            </a:pPr>
            <a:r>
              <a:rPr lang="en-US" sz="2600" b="1" dirty="0">
                <a:solidFill>
                  <a:srgbClr val="548687"/>
                </a:solidFill>
                <a:latin typeface="Cambria" pitchFamily="34" charset="0"/>
                <a:ea typeface="Cambria" pitchFamily="34" charset="-122"/>
                <a:cs typeface="Cambria" pitchFamily="34" charset="-120"/>
              </a:rPr>
              <a:t>3</a:t>
            </a:r>
            <a:endParaRPr lang="en-US" sz="2600" dirty="0"/>
          </a:p>
        </p:txBody>
      </p:sp>
      <p:sp>
        <p:nvSpPr>
          <p:cNvPr id="27" name="Text 25"/>
          <p:cNvSpPr txBox="1"/>
          <p:nvPr/>
        </p:nvSpPr>
        <p:spPr>
          <a:xfrm>
            <a:off x="3429000" y="4114800"/>
            <a:ext cx="2286000" cy="320040"/>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modes: baseline, + IC, + tier 2</a:t>
            </a:r>
            <a:endParaRPr lang="en-US" sz="1200" dirty="0"/>
          </a:p>
        </p:txBody>
      </p:sp>
      <p:sp>
        <p:nvSpPr>
          <p:cNvPr id="28" name="Shape 26"/>
          <p:cNvSpPr/>
          <p:nvPr/>
        </p:nvSpPr>
        <p:spPr>
          <a:xfrm>
            <a:off x="6035040" y="3520440"/>
            <a:ext cx="2606040" cy="1005840"/>
          </a:xfrm>
          <a:prstGeom prst="roundRect">
            <a:avLst>
              <a:gd name="adj" fmla="val 7273"/>
            </a:avLst>
          </a:prstGeom>
          <a:solidFill>
            <a:srgbClr val="E6F8FF"/>
          </a:solidFill>
          <a:ln w="12700">
            <a:solidFill>
              <a:srgbClr val="E6F8FF"/>
            </a:solidFill>
            <a:prstDash val="solid"/>
          </a:ln>
        </p:spPr>
      </p:sp>
      <p:sp>
        <p:nvSpPr>
          <p:cNvPr id="29" name="Text 27"/>
          <p:cNvSpPr txBox="1"/>
          <p:nvPr/>
        </p:nvSpPr>
        <p:spPr>
          <a:xfrm>
            <a:off x="6217920" y="3584448"/>
            <a:ext cx="2286000" cy="548640"/>
          </a:xfrm>
          <a:prstGeom prst="rect">
            <a:avLst/>
          </a:prstGeom>
          <a:noFill/>
          <a:ln/>
        </p:spPr>
        <p:txBody>
          <a:bodyPr wrap="square" lIns="0" tIns="0" rIns="0" bIns="0" rtlCol="0" anchor="ctr"/>
          <a:lstStyle/>
          <a:p>
            <a:pPr indent="0" marL="0">
              <a:buNone/>
            </a:pPr>
            <a:r>
              <a:rPr lang="en-US" sz="2600" b="1" dirty="0">
                <a:solidFill>
                  <a:srgbClr val="548687"/>
                </a:solidFill>
                <a:latin typeface="Cambria" pitchFamily="34" charset="0"/>
                <a:ea typeface="Cambria" pitchFamily="34" charset="-122"/>
                <a:cs typeface="Cambria" pitchFamily="34" charset="-120"/>
              </a:rPr>
              <a:t>4.1×</a:t>
            </a:r>
            <a:endParaRPr lang="en-US" sz="2600" dirty="0"/>
          </a:p>
        </p:txBody>
      </p:sp>
      <p:sp>
        <p:nvSpPr>
          <p:cNvPr id="30" name="Text 28"/>
          <p:cNvSpPr txBox="1"/>
          <p:nvPr/>
        </p:nvSpPr>
        <p:spPr>
          <a:xfrm>
            <a:off x="6217920" y="4114800"/>
            <a:ext cx="2286000" cy="320040"/>
          </a:xfrm>
          <a:prstGeom prst="rect">
            <a:avLst/>
          </a:prstGeom>
          <a:noFill/>
          <a:ln/>
        </p:spPr>
        <p:txBody>
          <a:bodyPr wrap="square" lIns="0" tIns="0" rIns="0" bIns="0" rtlCol="0" anchor="ctr"/>
          <a:lstStyle/>
          <a:p>
            <a:pPr indent="0" marL="0">
              <a:buNone/>
            </a:pPr>
            <a:r>
              <a:rPr lang="en-US" sz="1200" dirty="0">
                <a:solidFill>
                  <a:srgbClr val="513B3C"/>
                </a:solidFill>
                <a:latin typeface="Calibri" pitchFamily="34" charset="0"/>
                <a:ea typeface="Calibri" pitchFamily="34" charset="-122"/>
                <a:cs typeface="Calibri" pitchFamily="34" charset="-120"/>
              </a:rPr>
              <a:t>V8's own mega slowdown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0" y="4754880"/>
            <a:ext cx="1828800" cy="228600"/>
          </a:xfrm>
          <a:prstGeom prst="rect">
            <a:avLst/>
          </a:prstGeom>
          <a:noFill/>
          <a:ln/>
        </p:spPr>
        <p:txBody>
          <a:bodyPr wrap="square" lIns="0" tIns="0" rIns="0" bIns="0" rtlCol="0" anchor="ctr"/>
          <a:lstStyle/>
          <a:p>
            <a:pPr algn="r" indent="0" marL="0">
              <a:buNone/>
            </a:pPr>
            <a:r>
              <a:rPr lang="en-US" sz="900" dirty="0">
                <a:solidFill>
                  <a:srgbClr val="7D6A6B"/>
                </a:solidFill>
                <a:latin typeface="Calibri" pitchFamily="34" charset="0"/>
                <a:ea typeface="Calibri" pitchFamily="34" charset="-122"/>
                <a:cs typeface="Calibri" pitchFamily="34" charset="-120"/>
              </a:rPr>
              <a:t>A4 · Review 2  |  20</a:t>
            </a:r>
            <a:endParaRPr lang="en-US" sz="900" dirty="0"/>
          </a:p>
        </p:txBody>
      </p:sp>
      <p:sp>
        <p:nvSpPr>
          <p:cNvPr id="3" name="Text 1"/>
          <p:cNvSpPr txBox="1"/>
          <p:nvPr/>
        </p:nvSpPr>
        <p:spPr>
          <a:xfrm>
            <a:off x="457200" y="320040"/>
            <a:ext cx="6400800" cy="640080"/>
          </a:xfrm>
          <a:prstGeom prst="rect">
            <a:avLst/>
          </a:prstGeom>
          <a:noFill/>
          <a:ln/>
        </p:spPr>
        <p:txBody>
          <a:bodyPr wrap="square" lIns="0" tIns="0" rIns="0" bIns="0" rtlCol="0" anchor="ctr"/>
          <a:lstStyle/>
          <a:p>
            <a:pPr indent="0" marL="0">
              <a:buNone/>
            </a:pPr>
            <a:r>
              <a:rPr lang="en-US" sz="2800" b="1" dirty="0">
                <a:solidFill>
                  <a:srgbClr val="513B3C"/>
                </a:solidFill>
                <a:latin typeface="Cambria" pitchFamily="34" charset="0"/>
                <a:ea typeface="Cambria" pitchFamily="34" charset="-122"/>
                <a:cs typeface="Cambria" pitchFamily="34" charset="-120"/>
              </a:rPr>
              <a:t>Results: 6 JavaScript programs</a:t>
            </a:r>
            <a:endParaRPr lang="en-US" sz="2800" dirty="0"/>
          </a:p>
        </p:txBody>
      </p:sp>
      <p:sp>
        <p:nvSpPr>
          <p:cNvPr id="4" name="Shape 2"/>
          <p:cNvSpPr/>
          <p:nvPr/>
        </p:nvSpPr>
        <p:spPr>
          <a:xfrm>
            <a:off x="7040880" y="429768"/>
            <a:ext cx="1645920" cy="384048"/>
          </a:xfrm>
          <a:prstGeom prst="roundRect">
            <a:avLst>
              <a:gd name="adj" fmla="val 50000"/>
            </a:avLst>
          </a:prstGeom>
          <a:solidFill>
            <a:srgbClr val="548687"/>
          </a:solidFill>
          <a:ln w="12700">
            <a:solidFill>
              <a:srgbClr val="548687"/>
            </a:solidFill>
            <a:prstDash val="solid"/>
          </a:ln>
        </p:spPr>
      </p:sp>
      <p:sp>
        <p:nvSpPr>
          <p:cNvPr id="5" name="Text 3"/>
          <p:cNvSpPr txBox="1"/>
          <p:nvPr/>
        </p:nvSpPr>
        <p:spPr>
          <a:xfrm>
            <a:off x="7040880" y="429768"/>
            <a:ext cx="16459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MEMBER 4 · EHSAN</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834640"/>
                <a:gridCol w="1188720"/>
                <a:gridCol w="4206240"/>
              </a:tblGrid>
              <a:tr h="42976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Program</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 Node?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Hit rate · speed vs our baseline (IC / IC + tier 2)</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13B3C"/>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basics.js: language features</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Match</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33% · too short to time</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points_mono.js: 1 shape, 6 fields</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Match</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100% · 0.86× / 1.12×</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points_poly.js: 3 shapes, 6 fields</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Match</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100% · 0.85× / 0.84×</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points_mega.js: 16 shapes</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Match</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0% · 0.69× / 0.68×</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points_wide.js: 1 shape, 32 fields</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Match</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100% · 1.13× / 1.46×</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deopt.js: shape A → B mid-loop</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Match</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548687"/>
                    </a:solidFill>
                  </a:tcPr>
                </a:tc>
                <a:tc>
                  <a:txBody>
                    <a:bodyPr/>
                    <a:lstStyle/>
                    <a:p>
                      <a:pPr indent="0" marL="0">
                        <a:buNone/>
                      </a:pPr>
                      <a:r>
                        <a:rPr lang="en-US" sz="1200" dirty="0">
                          <a:solidFill>
                            <a:srgbClr val="513B3C"/>
                          </a:solidFill>
                          <a:latin typeface="Calibri" pitchFamily="34" charset="0"/>
                          <a:ea typeface="Calibri" pitchFamily="34" charset="-122"/>
                          <a:cs typeface="Calibri" pitchFamily="34" charset="-120"/>
                        </a:rPr>
                        <a:t>90% · 1 deopt, every total correct</a:t>
                      </a:r>
                      <a:endParaRPr lang="en-US" sz="1200" dirty="0">
                        <a:latin typeface="Calibri" charset="0"/>
                        <a:ea typeface="Calibri" charset="0"/>
                        <a:cs typeface="Calibri" charset="0"/>
                      </a:endParaRPr>
                    </a:p>
                  </a:txBody>
                  <a:tcPr marL="91440" marR="91440" marT="36576" marB="36576" anchor="ctr">
                    <a:lnL w="9525" cap="flat" cmpd="sng" algn="ctr">
                      <a:solidFill>
                        <a:srgbClr val="D9CFCF"/>
                      </a:solidFill>
                      <a:prstDash val="solid"/>
                      <a:round/>
                      <a:headEnd type="none" w="med" len="med"/>
                      <a:tailEnd type="none" w="med" len="med"/>
                    </a:lnL>
                    <a:lnR w="9525" cap="flat" cmpd="sng" algn="ctr">
                      <a:solidFill>
                        <a:srgbClr val="D9CFCF"/>
                      </a:solidFill>
                      <a:prstDash val="solid"/>
                      <a:round/>
                      <a:headEnd type="none" w="med" len="med"/>
                      <a:tailEnd type="none" w="med" len="med"/>
                    </a:lnR>
                    <a:lnT w="9525" cap="flat" cmpd="sng" algn="ctr">
                      <a:solidFill>
                        <a:srgbClr val="D9CFCF"/>
                      </a:solidFill>
                      <a:prstDash val="solid"/>
                      <a:round/>
                      <a:headEnd type="none" w="med" len="med"/>
                      <a:tailEnd type="none" w="med" len="med"/>
                    </a:lnT>
                    <a:lnB w="9525" cap="flat" cmpd="sng" algn="ctr">
                      <a:solidFill>
                        <a:srgbClr val="D9CFCF"/>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200" i="1" dirty="0">
                <a:solidFill>
                  <a:srgbClr val="7D6A6B"/>
                </a:solidFill>
                <a:latin typeface="Calibri" pitchFamily="34" charset="0"/>
                <a:ea typeface="Calibri" pitchFamily="34" charset="-122"/>
                <a:cs typeface="Calibri" pitchFamily="34" charset="-120"/>
              </a:rPr>
              <a:t>Takeaway: on 6-field objects the cache costs more than the scan it saves; on wide objects it wins (1.46×).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A4 Review 2 — Bytecode JIT Compiler with Inline Caching</dc:title>
  <dc:subject>PptxGenJS Presentation</dc:subject>
  <dc:creator>PptxGenJS</dc:creator>
  <cp:lastModifiedBy>PptxGenJS</cp:lastModifiedBy>
  <cp:revision>1</cp:revision>
  <dcterms:created xsi:type="dcterms:W3CDTF">2026-09-23T04:25:32Z</dcterms:created>
  <dcterms:modified xsi:type="dcterms:W3CDTF">2026-09-23T04:25:32Z</dcterms:modified>
</cp:coreProperties>
</file>