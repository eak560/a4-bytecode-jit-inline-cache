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Hit rate</c:v>
                </c:pt>
              </c:strCache>
            </c:strRef>
          </c:tx>
          <c:spPr>
            <a:solidFill>
              <a:srgbClr val="548687"/>
            </a:solidFill>
            <a:effectLst/>
          </c:spPr>
          <c:invertIfNegative val="0"/>
          <c:dLbls>
            <c:numFmt formatCode="0.0&quot;%&quot;" sourceLinked="0"/>
            <c:txPr>
              <a:bodyPr/>
              <a:lstStyle/>
              <a:p>
                <a:pPr>
                  <a:defRPr b="1" i="0" strike="noStrike" sz="1200" u="none">
                    <a:solidFill>
                      <a:srgbClr val="513B3C"/>
                    </a:solidFill>
                    <a:latin typeface="Arial"/>
                  </a:defRPr>
                </a:pPr>
              </a:p>
            </c:txPr>
            <c:showLegendKey val="0"/>
            <c:showVal val="1"/>
            <c:showCatName val="0"/>
            <c:showSerName val="0"/>
            <c:showPercent val="0"/>
            <c:showBubbleSize val="0"/>
            <c:showLeaderLines val="0"/>
          </c:dLbls>
          <c:dPt>
            <c:idx val="0"/>
            <c:invertIfNegative val="0"/>
            <c:bubble3D val="0"/>
            <c:spPr>
              <a:solidFill>
                <a:srgbClr val="548687"/>
              </a:solidFill>
              <a:effectLst/>
            </c:spPr>
          </c:dPt>
          <c:dPt>
            <c:idx val="1"/>
            <c:invertIfNegative val="0"/>
            <c:bubble3D val="0"/>
            <c:spPr>
              <a:solidFill>
                <a:srgbClr val="548687"/>
              </a:solidFill>
              <a:effectLst/>
            </c:spPr>
          </c:dPt>
          <c:dPt>
            <c:idx val="2"/>
            <c:invertIfNegative val="0"/>
            <c:bubble3D val="0"/>
            <c:spPr>
              <a:solidFill>
                <a:srgbClr val="E1B07E"/>
              </a:solidFill>
              <a:effectLst/>
            </c:spPr>
          </c:dPt>
          <c:cat>
            <c:multiLvlStrRef>
              <c:f>Sheet1!$A$2:$A$4</c:f>
              <c:multiLvlStrCache>
                <c:ptCount val="3"/>
                <c:lvl>
                  <c:pt idx="0">
                    <c:v>Monomorphic
1 shape</c:v>
                  </c:pt>
                  <c:pt idx="1">
                    <c:v>Polymorphic
3 shapes</c:v>
                  </c:pt>
                  <c:pt idx="2">
                    <c:v>Megamorphic
16 shapes, 4 slots</c:v>
                  </c:pt>
                </c:lvl>
              </c:multiLvlStrCache>
            </c:multiLvlStrRef>
          </c:cat>
          <c:val>
            <c:numRef>
              <c:f>Sheet1!$B$2:$B$4</c:f>
              <c:numCache>
                <c:formatCode>General</c:formatCode>
                <c:ptCount val="3"/>
                <c:pt idx="0">
                  <c:v>100</c:v>
                </c:pt>
                <c:pt idx="1">
                  <c:v>100</c:v>
                </c:pt>
                <c:pt idx="2">
                  <c:v>24.9</c:v>
                </c:pt>
              </c:numCache>
            </c:numRef>
          </c:val>
        </c:ser>
        <c:dLbls>
          <c:numFmt formatCode="0.0&quot;%&quot;" sourceLinked="0"/>
          <c:txPr>
            <a:bodyPr/>
            <a:lstStyle/>
            <a:p>
              <a:pPr>
                <a:defRPr b="1" i="0" strike="noStrike" sz="1200" u="none">
                  <a:solidFill>
                    <a:srgbClr val="513B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13B3C"/>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Speedup</c:v>
                </c:pt>
              </c:strCache>
            </c:strRef>
          </c:tx>
          <c:spPr>
            <a:solidFill>
              <a:srgbClr val="548687"/>
            </a:solidFill>
            <a:effectLst/>
          </c:spPr>
          <c:invertIfNegative val="0"/>
          <c:dLbls>
            <c:numFmt formatCode="0.00&quot;×&quot;" sourceLinked="0"/>
            <c:txPr>
              <a:bodyPr/>
              <a:lstStyle/>
              <a:p>
                <a:pPr>
                  <a:defRPr b="1" i="0" strike="noStrike" sz="1300" u="none">
                    <a:solidFill>
                      <a:srgbClr val="513B3C"/>
                    </a:solidFill>
                    <a:latin typeface="Arial"/>
                  </a:defRPr>
                </a:pPr>
              </a:p>
            </c:txPr>
            <c:showLegendKey val="0"/>
            <c:showVal val="1"/>
            <c:showCatName val="0"/>
            <c:showSerName val="0"/>
            <c:showPercent val="0"/>
            <c:showBubbleSize val="0"/>
            <c:showLeaderLines val="0"/>
          </c:dLbls>
          <c:dPt>
            <c:idx val="0"/>
            <c:invertIfNegative val="0"/>
            <c:bubble3D val="0"/>
            <c:spPr>
              <a:solidFill>
                <a:srgbClr val="548687"/>
              </a:solidFill>
              <a:effectLst/>
            </c:spPr>
          </c:dPt>
          <c:dPt>
            <c:idx val="1"/>
            <c:invertIfNegative val="0"/>
            <c:bubble3D val="0"/>
            <c:spPr>
              <a:solidFill>
                <a:srgbClr val="548687"/>
              </a:solidFill>
              <a:effectLst/>
            </c:spPr>
          </c:dPt>
          <c:dPt>
            <c:idx val="2"/>
            <c:invertIfNegative val="0"/>
            <c:bubble3D val="0"/>
            <c:spPr>
              <a:solidFill>
                <a:srgbClr val="E1B07E"/>
              </a:solidFill>
              <a:effectLst/>
            </c:spPr>
          </c:dPt>
          <c:cat>
            <c:multiLvlStrRef>
              <c:f>Sheet1!$A$2:$A$4</c:f>
              <c:multiLvlStrCache>
                <c:ptCount val="3"/>
                <c:lvl>
                  <c:pt idx="0">
                    <c:v>Monomorphic</c:v>
                  </c:pt>
                  <c:pt idx="1">
                    <c:v>Polymorphic</c:v>
                  </c:pt>
                  <c:pt idx="2">
                    <c:v>Megamorphic</c:v>
                  </c:pt>
                </c:lvl>
              </c:multiLvlStrCache>
            </c:multiLvlStrRef>
          </c:cat>
          <c:val>
            <c:numRef>
              <c:f>Sheet1!$B$2:$B$4</c:f>
              <c:numCache>
                <c:formatCode>General</c:formatCode>
                <c:ptCount val="3"/>
                <c:pt idx="0">
                  <c:v>2.23</c:v>
                </c:pt>
                <c:pt idx="1">
                  <c:v>1.53</c:v>
                </c:pt>
                <c:pt idx="2">
                  <c:v>0.89</c:v>
                </c:pt>
              </c:numCache>
            </c:numRef>
          </c:val>
        </c:ser>
        <c:dLbls>
          <c:numFmt formatCode="0.00&quot;×&quot;" sourceLinked="0"/>
          <c:txPr>
            <a:bodyPr/>
            <a:lstStyle/>
            <a:p>
              <a:pPr>
                <a:defRPr b="1" i="0" strike="noStrike" sz="1300" u="none">
                  <a:solidFill>
                    <a:srgbClr val="513B3C"/>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13B3C"/>
                </a:solidFill>
                <a:latin typeface="Calibri"/>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(any member, ~20 s): We are team A4. Our project is a bytecode virtual machine with a JIT compiler and inline caching — the same core ideas used in engines like V8. This is Review 2: what we have built since Review 1 and our first measured results. Each of us will present our own module for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Here is how we split the talk. Charith covers the VM, Vatsal the profiler and testing, Mayan the inline cache and results, and Ehsan the tier-2 compiler, deoptimisation and our next steps. Review 2 covers milestones M1 and M2 and early work toward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(~10 s): I'll cover where the project stands overall, how our virtual machine works, and the tests that prove the interpreter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(~45 s): This is our scorecard against the objectives from Review 1. The VM and bytecode format, the baseline interpreter, and hot-code detection are done. Inline caching works in all states and is being tuned for the megamorphic case. Tier-2 native code generation is in progress — arithmetic is done, and the guard and deoptimisation logic has been modelled and tested. Differential testing shows zero mismatches.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(~60 s): Programs are compiled to bytecode — a list of simple instructions. The VM keeps a stack of values and a program counter, and loops forever: fetch the instruction at pc, decode which opcode it is, execute it, and move on until HALT. For example PUSH 10, PUSH 20, ADD leaves 30 on the stack. The full Review 1 instruction set is now implemented: stack, arithmetic, locals, jumps and comparison, and I/O. We added two opcodes, LOADOBJ and GETFIELD, so we can test property access — that is what the inline cache speeds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(~60 s): Each test is a tiny program with a known answer. TC1 to TC6 were in Review 1: arithmetic, sequencing and divide-by-zero. We added TC7 to TC12: variables, both kinds of jump, comparisons including the equal case, a real loop that must be flagged hot, and a 1000-deep stack stress test. All 12 pass. This matters because the baseline interpreter is our reference — everything faster must produce exactly the same output. Vatsal will now explain how we detect hot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(~10 s): I'll explain how we find hot code, how we prove the cache never changes program output, and where we are on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(~60 s): A JIT only pays off if it compiles the code that actually runs a lot — and that is almost always loops. On the left is the bytecode for 'while i &lt; 10: i += 1'. The JMP at address 10 jumps backwards to address 2 — that is a back-edge. Every time we see a backward jump we increment a counter for its target. When the counter reaches the threshold, the loop head is flagged hot and becomes a candidate for tier-2 compilation. TC11 checks this: the loop runs 10 times and address 2 is flagged. The threshold is currently a constant; we will make it configurable so we can tune it per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(~60 s): Speed is worthless if the answers change. So we use differential testing. The same generated workload is run twice: once on the plain baseline interpreter and once with the inline cache enabled. Then we compare every single output value. Across three workload types and 300,000 field accesses, we see zero mismatches. The same comparison is built into each of the 17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(~50 s): Against our 12-week plan: weeks 1 to 7 are complete, including milestone M1, the inline cache design, and M2, the interpreter with the cache working. M3, the tier-2 compiled path with deoptimisation, is in progress and slightly behind. We are at week 10, Review 2. Mayan will now present the inline cache and our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(~10 s): I'll explain what an inline cache is, how it moves between states, and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(~60 s): Reading obj.x naively means scanning the object's field names every time. Objects with the same fields in the same order share a shape, so a GETFIELD site can remember: for shape S, x is in slot k. That memory is the inline cache. It starts UNINIT. After the first shape it is MONOmorphic — one check and a direct read. With 2 to 4 shapes it is POLYmorphic, a short list. Beyond that it goes MEGAmorphic and uses a small shared table with first-in-first-out eviction. Tests IC1 to IC3 confirm each state is reached with no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(~50 s): These are measured, not estimated. Monomorphic and polymorphic sites hit 100% of the time after warm-up — only 1 and 3 misses respectively in 100,000 accesses. The megamorphic case hits only 24.9%: 16 shapes compete for 4 slots, and first-in-first-out eviction keeps throwing out entries just before they are needed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(~60 s): Timing the same workloads, the cache gives 2.23 times speedup on monomorphic and 1.53 times on polymorphic sites. On megamorphic sites it is slightly slower, 0.89 times, because the cache thrashes and its bookkeeping costs more than the scan it replaces. That is an expected trade-off, not a bug, and it is why we will tune the megamorphic capacity and eviction policy. Note these timings come from our Python reference model, so they show algorithmic savings; final numbers will come from the native tier-2 compiler, which Ehsan will now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(~10 s): I'll cover two correctness problems a JIT must solve — stale caches and wrong assumptions — then tier-2 status and our plan for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(~60 s): The first correctness problem is a stale cache. The cache learned that x lives in slot 2. If the shape itself is changed — here a field is added at the front — x moves to slot 3, but it is still the same shape. Without protection, the cache would read slot 2 and return b, which is 2: the wrong answer. So every shape now carries a version number, and the cache stores the version together with the slot. After the change the versions don't match, the access is treated as a miss, and the lookup finds slot 3. Test IC4 checks exactly this: it proves the stale slot would give the wrong value, and that the cache misses once and then returns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(~60 s): The second problem is a wrong assumption. Once a loop is hot and a field site has seen only one shape, tier-2 compiles a fast path that assumes that shape — guarded by a single check. If the guard holds, we read the slot directly with no cache lookup at all. If a different shape arrives, the guard fails and we deoptimise: throw away the compiled code, hard-reset that site's cache to UNINIT, and redo the access through the interpreter, so the answer is still correct. In IC5, 50 objects of shape A are followed by 50 of shape B. We see exactly one deopt at the first B, the cache is UNINIT right after the reset, 92 reads went through the fast path, and zero mismatches. This logic is modelled in Python — it is the reference our native asmjit code must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(~50 s): Where tier-2 stands: native code generation with asmjit works for arithmetic hot paths. The guard and deoptimisation logic is designed and tested in the reference model. What is not done yet is emitting cache guards in native code, and the native deopt path is only a stub — so compiled code currently falls back to the interpreter for field access. That puts milestone M3 slightly behind. Our mitigation: port the logic we have already tested directly, and if native guards slip, use threaded code, the contingency we agreed in Review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(~40 s): Before Review 3, the top priorities — our critical path for M3 — are emitting cache guards in native code and exercising the native deopt path end to end. We will also tune the megamorphic cache, make the hot threshold configurable, run the full benchmark on our nominated machine, and start drafting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(~15 s): That is our Review 2 progress. We are happy to take questions, and we can run the reference model live — it runs all 17 tests and the benchmark in about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640080"/>
            <a:ext cx="5120640" cy="274320"/>
          </a:xfrm>
          <a:prstGeom prst="rect">
            <a:avLst/>
          </a:prstGeom>
          <a:noFill/>
          <a:ln/>
        </p:spPr>
        <p:txBody>
          <a:bodyPr wrap="square" lIns="0" tIns="0" rIns="0" bIns="0" rtlCol="0" anchor="ctr"/>
          <a:lstStyle/>
          <a:p>
            <a:pPr indent="0" marL="0">
              <a:buNone/>
            </a:pPr>
            <a:r>
              <a:rPr lang="en-US" sz="1200" b="1" spc="300" kern="0" dirty="0">
                <a:solidFill>
                  <a:srgbClr val="E1B07E"/>
                </a:solidFill>
                <a:latin typeface="Calibri" pitchFamily="34" charset="0"/>
                <a:ea typeface="Calibri" pitchFamily="34" charset="-122"/>
                <a:cs typeface="Calibri" pitchFamily="34" charset="-120"/>
              </a:rPr>
              <a:t>BCSE307 · COMPILER DESIGN · PROJECT A4</a:t>
            </a:r>
            <a:endParaRPr lang="en-US" sz="1200" dirty="0"/>
          </a:p>
        </p:txBody>
      </p:sp>
      <p:sp>
        <p:nvSpPr>
          <p:cNvPr id="3" name="Text 1"/>
          <p:cNvSpPr txBox="1"/>
          <p:nvPr/>
        </p:nvSpPr>
        <p:spPr>
          <a:xfrm>
            <a:off x="548640" y="1051560"/>
            <a:ext cx="493776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Bytecode JIT Compiler with Inline Caching</a:t>
            </a:r>
            <a:endParaRPr lang="en-US" sz="3600" dirty="0"/>
          </a:p>
        </p:txBody>
      </p:sp>
      <p:sp>
        <p:nvSpPr>
          <p:cNvPr id="4" name="Text 2"/>
          <p:cNvSpPr txBox="1"/>
          <p:nvPr/>
        </p:nvSpPr>
        <p:spPr>
          <a:xfrm>
            <a:off x="548640" y="2606040"/>
            <a:ext cx="4754880" cy="64008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Project Review 2 — Interim Implementation and Preliminary Results</a:t>
            </a:r>
            <a:endParaRPr lang="en-US" sz="1600" dirty="0"/>
          </a:p>
        </p:txBody>
      </p:sp>
      <p:sp>
        <p:nvSpPr>
          <p:cNvPr id="5" name="Text 3"/>
          <p:cNvSpPr txBox="1"/>
          <p:nvPr/>
        </p:nvSpPr>
        <p:spPr>
          <a:xfrm>
            <a:off x="548640" y="4206240"/>
            <a:ext cx="5486400" cy="274320"/>
          </a:xfrm>
          <a:prstGeom prst="rect">
            <a:avLst/>
          </a:prstGeom>
          <a:noFill/>
          <a:ln/>
        </p:spPr>
        <p:txBody>
          <a:bodyPr wrap="square" lIns="0" tIns="0" rIns="0" bIns="0" rtlCol="0" anchor="ctr"/>
          <a:lstStyle/>
          <a:p>
            <a:pPr indent="0" marL="0">
              <a:buNone/>
            </a:pPr>
            <a:r>
              <a:rPr lang="en-US" sz="1100" dirty="0">
                <a:solidFill>
                  <a:srgbClr val="C1EEFF"/>
                </a:solidFill>
                <a:latin typeface="Calibri" pitchFamily="34" charset="0"/>
                <a:ea typeface="Calibri" pitchFamily="34" charset="-122"/>
                <a:cs typeface="Calibri" pitchFamily="34" charset="-120"/>
              </a:rPr>
              <a:t>Chilukuri Charith Reddy  ·  Vatsal Sharma  ·  Mayan Manit  ·  Ehsan Abdulkhader</a:t>
            </a:r>
            <a:endParaRPr lang="en-US" sz="1100" dirty="0"/>
          </a:p>
        </p:txBody>
      </p:sp>
      <p:sp>
        <p:nvSpPr>
          <p:cNvPr id="6" name="Shape 4"/>
          <p:cNvSpPr/>
          <p:nvPr/>
        </p:nvSpPr>
        <p:spPr>
          <a:xfrm>
            <a:off x="7383780" y="822960"/>
            <a:ext cx="0" cy="3108960"/>
          </a:xfrm>
          <a:prstGeom prst="line">
            <a:avLst/>
          </a:prstGeom>
          <a:noFill/>
          <a:ln w="19050">
            <a:solidFill>
              <a:srgbClr val="7D6A6B"/>
            </a:solidFill>
            <a:prstDash val="dash"/>
          </a:ln>
        </p:spPr>
      </p:sp>
      <p:sp>
        <p:nvSpPr>
          <p:cNvPr id="7" name="Shape 5"/>
          <p:cNvSpPr/>
          <p:nvPr/>
        </p:nvSpPr>
        <p:spPr>
          <a:xfrm>
            <a:off x="6949440" y="685800"/>
            <a:ext cx="868680" cy="868680"/>
          </a:xfrm>
          <a:prstGeom prst="ellipse">
            <a:avLst/>
          </a:prstGeom>
          <a:solidFill>
            <a:srgbClr val="C1EEFF"/>
          </a:solidFill>
          <a:ln w="12700">
            <a:solidFill>
              <a:srgbClr val="C1EEFF"/>
            </a:solidFill>
            <a:prstDash val="solid"/>
          </a:ln>
        </p:spPr>
      </p:sp>
      <p:sp>
        <p:nvSpPr>
          <p:cNvPr id="8" name="Text 6"/>
          <p:cNvSpPr txBox="1"/>
          <p:nvPr/>
        </p:nvSpPr>
        <p:spPr>
          <a:xfrm>
            <a:off x="6949440" y="68580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UNINIT</a:t>
            </a:r>
            <a:endParaRPr lang="en-US" sz="1100" dirty="0"/>
          </a:p>
        </p:txBody>
      </p:sp>
      <p:sp>
        <p:nvSpPr>
          <p:cNvPr id="9" name="Shape 7"/>
          <p:cNvSpPr/>
          <p:nvPr/>
        </p:nvSpPr>
        <p:spPr>
          <a:xfrm>
            <a:off x="6949440" y="1645920"/>
            <a:ext cx="868680" cy="868680"/>
          </a:xfrm>
          <a:prstGeom prst="ellipse">
            <a:avLst/>
          </a:prstGeom>
          <a:solidFill>
            <a:srgbClr val="548687"/>
          </a:solidFill>
          <a:ln w="12700">
            <a:solidFill>
              <a:srgbClr val="548687"/>
            </a:solidFill>
            <a:prstDash val="solid"/>
          </a:ln>
        </p:spPr>
      </p:sp>
      <p:sp>
        <p:nvSpPr>
          <p:cNvPr id="10" name="Text 8"/>
          <p:cNvSpPr txBox="1"/>
          <p:nvPr/>
        </p:nvSpPr>
        <p:spPr>
          <a:xfrm>
            <a:off x="6949440" y="1645920"/>
            <a:ext cx="86868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MONO</a:t>
            </a:r>
            <a:endParaRPr lang="en-US" sz="1100" dirty="0"/>
          </a:p>
        </p:txBody>
      </p:sp>
      <p:sp>
        <p:nvSpPr>
          <p:cNvPr id="11" name="Shape 9"/>
          <p:cNvSpPr/>
          <p:nvPr/>
        </p:nvSpPr>
        <p:spPr>
          <a:xfrm>
            <a:off x="6949440" y="2606040"/>
            <a:ext cx="868680" cy="868680"/>
          </a:xfrm>
          <a:prstGeom prst="ellipse">
            <a:avLst/>
          </a:prstGeom>
          <a:solidFill>
            <a:srgbClr val="E1B07E"/>
          </a:solidFill>
          <a:ln w="12700">
            <a:solidFill>
              <a:srgbClr val="E1B07E"/>
            </a:solidFill>
            <a:prstDash val="solid"/>
          </a:ln>
        </p:spPr>
      </p:sp>
      <p:sp>
        <p:nvSpPr>
          <p:cNvPr id="12" name="Text 10"/>
          <p:cNvSpPr txBox="1"/>
          <p:nvPr/>
        </p:nvSpPr>
        <p:spPr>
          <a:xfrm>
            <a:off x="6949440" y="260604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POLY</a:t>
            </a:r>
            <a:endParaRPr lang="en-US" sz="1100" dirty="0"/>
          </a:p>
        </p:txBody>
      </p:sp>
      <p:sp>
        <p:nvSpPr>
          <p:cNvPr id="13" name="Shape 11"/>
          <p:cNvSpPr/>
          <p:nvPr/>
        </p:nvSpPr>
        <p:spPr>
          <a:xfrm>
            <a:off x="6949440" y="3566160"/>
            <a:ext cx="868680" cy="868680"/>
          </a:xfrm>
          <a:prstGeom prst="ellipse">
            <a:avLst/>
          </a:prstGeom>
          <a:solidFill>
            <a:srgbClr val="E5BE9E"/>
          </a:solidFill>
          <a:ln w="12700">
            <a:solidFill>
              <a:srgbClr val="E5BE9E"/>
            </a:solidFill>
            <a:prstDash val="solid"/>
          </a:ln>
        </p:spPr>
      </p:sp>
      <p:sp>
        <p:nvSpPr>
          <p:cNvPr id="14" name="Text 12"/>
          <p:cNvSpPr txBox="1"/>
          <p:nvPr/>
        </p:nvSpPr>
        <p:spPr>
          <a:xfrm>
            <a:off x="6949440" y="356616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MEGA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Who presents what</a:t>
            </a:r>
            <a:endParaRPr lang="en-US" sz="2800" dirty="0"/>
          </a:p>
        </p:txBody>
      </p:sp>
      <p:sp>
        <p:nvSpPr>
          <p:cNvPr id="4" name="Shape 2"/>
          <p:cNvSpPr/>
          <p:nvPr/>
        </p:nvSpPr>
        <p:spPr>
          <a:xfrm>
            <a:off x="45720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40080" y="1463040"/>
            <a:ext cx="502920" cy="502920"/>
          </a:xfrm>
          <a:prstGeom prst="ellipse">
            <a:avLst/>
          </a:prstGeom>
          <a:solidFill>
            <a:srgbClr val="548687"/>
          </a:solidFill>
          <a:ln w="12700">
            <a:solidFill>
              <a:srgbClr val="548687"/>
            </a:solidFill>
            <a:prstDash val="solid"/>
          </a:ln>
        </p:spPr>
      </p:sp>
      <p:sp>
        <p:nvSpPr>
          <p:cNvPr id="6" name="Text 4"/>
          <p:cNvSpPr txBox="1"/>
          <p:nvPr/>
        </p:nvSpPr>
        <p:spPr>
          <a:xfrm>
            <a:off x="64008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28016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8" name="Text 6"/>
          <p:cNvSpPr txBox="1"/>
          <p:nvPr/>
        </p:nvSpPr>
        <p:spPr>
          <a:xfrm>
            <a:off x="64008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Chilukuri Charith Reddy</a:t>
            </a:r>
            <a:endParaRPr lang="en-US" sz="1400" dirty="0"/>
          </a:p>
        </p:txBody>
      </p:sp>
      <p:sp>
        <p:nvSpPr>
          <p:cNvPr id="9" name="Text 7"/>
          <p:cNvSpPr txBox="1"/>
          <p:nvPr/>
        </p:nvSpPr>
        <p:spPr>
          <a:xfrm>
            <a:off x="64008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24BCT0093</a:t>
            </a:r>
            <a:endParaRPr lang="en-US" sz="1000" dirty="0"/>
          </a:p>
        </p:txBody>
      </p:sp>
      <p:sp>
        <p:nvSpPr>
          <p:cNvPr id="10" name="Text 8"/>
          <p:cNvSpPr txBox="1"/>
          <p:nvPr/>
        </p:nvSpPr>
        <p:spPr>
          <a:xfrm>
            <a:off x="64008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VM &amp; hot-path integration</a:t>
            </a:r>
            <a:endParaRPr lang="en-US" sz="1200" dirty="0"/>
          </a:p>
        </p:txBody>
      </p:sp>
      <p:sp>
        <p:nvSpPr>
          <p:cNvPr id="11" name="Text 9"/>
          <p:cNvSpPr txBox="1"/>
          <p:nvPr/>
        </p:nvSpPr>
        <p:spPr>
          <a:xfrm>
            <a:off x="64008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Objectives · stack VM · baseline tests</a:t>
            </a:r>
            <a:endParaRPr lang="en-US" sz="1050" dirty="0"/>
          </a:p>
        </p:txBody>
      </p:sp>
      <p:sp>
        <p:nvSpPr>
          <p:cNvPr id="12" name="Shape 10"/>
          <p:cNvSpPr/>
          <p:nvPr/>
        </p:nvSpPr>
        <p:spPr>
          <a:xfrm>
            <a:off x="256032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2743200" y="1463040"/>
            <a:ext cx="502920" cy="502920"/>
          </a:xfrm>
          <a:prstGeom prst="ellipse">
            <a:avLst/>
          </a:prstGeom>
          <a:solidFill>
            <a:srgbClr val="548687"/>
          </a:solidFill>
          <a:ln w="12700">
            <a:solidFill>
              <a:srgbClr val="548687"/>
            </a:solidFill>
            <a:prstDash val="solid"/>
          </a:ln>
        </p:spPr>
      </p:sp>
      <p:sp>
        <p:nvSpPr>
          <p:cNvPr id="14" name="Text 12"/>
          <p:cNvSpPr txBox="1"/>
          <p:nvPr/>
        </p:nvSpPr>
        <p:spPr>
          <a:xfrm>
            <a:off x="274320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338328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16" name="Text 14"/>
          <p:cNvSpPr txBox="1"/>
          <p:nvPr/>
        </p:nvSpPr>
        <p:spPr>
          <a:xfrm>
            <a:off x="274320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Vatsal Sharma</a:t>
            </a:r>
            <a:endParaRPr lang="en-US" sz="1400" dirty="0"/>
          </a:p>
        </p:txBody>
      </p:sp>
      <p:sp>
        <p:nvSpPr>
          <p:cNvPr id="17" name="Text 15"/>
          <p:cNvSpPr txBox="1"/>
          <p:nvPr/>
        </p:nvSpPr>
        <p:spPr>
          <a:xfrm>
            <a:off x="274320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24BCE0334</a:t>
            </a:r>
            <a:endParaRPr lang="en-US" sz="1000" dirty="0"/>
          </a:p>
        </p:txBody>
      </p:sp>
      <p:sp>
        <p:nvSpPr>
          <p:cNvPr id="18" name="Text 16"/>
          <p:cNvSpPr txBox="1"/>
          <p:nvPr/>
        </p:nvSpPr>
        <p:spPr>
          <a:xfrm>
            <a:off x="274320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Profiler &amp; hot-code detection</a:t>
            </a:r>
            <a:endParaRPr lang="en-US" sz="1200" dirty="0"/>
          </a:p>
        </p:txBody>
      </p:sp>
      <p:sp>
        <p:nvSpPr>
          <p:cNvPr id="19" name="Text 17"/>
          <p:cNvSpPr txBox="1"/>
          <p:nvPr/>
        </p:nvSpPr>
        <p:spPr>
          <a:xfrm>
            <a:off x="274320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Back-edge counters · differential testing · timeline</a:t>
            </a:r>
            <a:endParaRPr lang="en-US" sz="1050" dirty="0"/>
          </a:p>
        </p:txBody>
      </p:sp>
      <p:sp>
        <p:nvSpPr>
          <p:cNvPr id="20" name="Shape 18"/>
          <p:cNvSpPr/>
          <p:nvPr/>
        </p:nvSpPr>
        <p:spPr>
          <a:xfrm>
            <a:off x="466344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4846320" y="1463040"/>
            <a:ext cx="502920" cy="502920"/>
          </a:xfrm>
          <a:prstGeom prst="ellipse">
            <a:avLst/>
          </a:prstGeom>
          <a:solidFill>
            <a:srgbClr val="548687"/>
          </a:solidFill>
          <a:ln w="12700">
            <a:solidFill>
              <a:srgbClr val="548687"/>
            </a:solidFill>
            <a:prstDash val="solid"/>
          </a:ln>
        </p:spPr>
      </p:sp>
      <p:sp>
        <p:nvSpPr>
          <p:cNvPr id="22" name="Text 20"/>
          <p:cNvSpPr txBox="1"/>
          <p:nvPr/>
        </p:nvSpPr>
        <p:spPr>
          <a:xfrm>
            <a:off x="484632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21"/>
          <p:cNvSpPr txBox="1"/>
          <p:nvPr/>
        </p:nvSpPr>
        <p:spPr>
          <a:xfrm>
            <a:off x="548640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24" name="Text 22"/>
          <p:cNvSpPr txBox="1"/>
          <p:nvPr/>
        </p:nvSpPr>
        <p:spPr>
          <a:xfrm>
            <a:off x="484632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Mayan Manit</a:t>
            </a:r>
            <a:endParaRPr lang="en-US" sz="1400" dirty="0"/>
          </a:p>
        </p:txBody>
      </p:sp>
      <p:sp>
        <p:nvSpPr>
          <p:cNvPr id="25" name="Text 23"/>
          <p:cNvSpPr txBox="1"/>
          <p:nvPr/>
        </p:nvSpPr>
        <p:spPr>
          <a:xfrm>
            <a:off x="484632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24BCE0506</a:t>
            </a:r>
            <a:endParaRPr lang="en-US" sz="1000" dirty="0"/>
          </a:p>
        </p:txBody>
      </p:sp>
      <p:sp>
        <p:nvSpPr>
          <p:cNvPr id="26" name="Text 24"/>
          <p:cNvSpPr txBox="1"/>
          <p:nvPr/>
        </p:nvSpPr>
        <p:spPr>
          <a:xfrm>
            <a:off x="484632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Inline cache &amp; hit rate</a:t>
            </a:r>
            <a:endParaRPr lang="en-US" sz="1200" dirty="0"/>
          </a:p>
        </p:txBody>
      </p:sp>
      <p:sp>
        <p:nvSpPr>
          <p:cNvPr id="27" name="Text 25"/>
          <p:cNvSpPr txBox="1"/>
          <p:nvPr/>
        </p:nvSpPr>
        <p:spPr>
          <a:xfrm>
            <a:off x="484632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State machine · hit rate · performance</a:t>
            </a:r>
            <a:endParaRPr lang="en-US" sz="1050" dirty="0"/>
          </a:p>
        </p:txBody>
      </p:sp>
      <p:sp>
        <p:nvSpPr>
          <p:cNvPr id="28" name="Shape 26"/>
          <p:cNvSpPr/>
          <p:nvPr/>
        </p:nvSpPr>
        <p:spPr>
          <a:xfrm>
            <a:off x="676656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6949440" y="1463040"/>
            <a:ext cx="502920" cy="502920"/>
          </a:xfrm>
          <a:prstGeom prst="ellipse">
            <a:avLst/>
          </a:prstGeom>
          <a:solidFill>
            <a:srgbClr val="548687"/>
          </a:solidFill>
          <a:ln w="12700">
            <a:solidFill>
              <a:srgbClr val="548687"/>
            </a:solidFill>
            <a:prstDash val="solid"/>
          </a:ln>
        </p:spPr>
      </p:sp>
      <p:sp>
        <p:nvSpPr>
          <p:cNvPr id="30" name="Text 28"/>
          <p:cNvSpPr txBox="1"/>
          <p:nvPr/>
        </p:nvSpPr>
        <p:spPr>
          <a:xfrm>
            <a:off x="694944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1" name="Text 29"/>
          <p:cNvSpPr txBox="1"/>
          <p:nvPr/>
        </p:nvSpPr>
        <p:spPr>
          <a:xfrm>
            <a:off x="758952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32" name="Text 30"/>
          <p:cNvSpPr txBox="1"/>
          <p:nvPr/>
        </p:nvSpPr>
        <p:spPr>
          <a:xfrm>
            <a:off x="694944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Ehsan Abdulkhader</a:t>
            </a:r>
            <a:endParaRPr lang="en-US" sz="1400" dirty="0"/>
          </a:p>
        </p:txBody>
      </p:sp>
      <p:sp>
        <p:nvSpPr>
          <p:cNvPr id="33" name="Text 31"/>
          <p:cNvSpPr txBox="1"/>
          <p:nvPr/>
        </p:nvSpPr>
        <p:spPr>
          <a:xfrm>
            <a:off x="694944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24BCT0089</a:t>
            </a:r>
            <a:endParaRPr lang="en-US" sz="1000" dirty="0"/>
          </a:p>
        </p:txBody>
      </p:sp>
      <p:sp>
        <p:nvSpPr>
          <p:cNvPr id="34" name="Text 32"/>
          <p:cNvSpPr txBox="1"/>
          <p:nvPr/>
        </p:nvSpPr>
        <p:spPr>
          <a:xfrm>
            <a:off x="694944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Tier-2 codegen &amp; deopt</a:t>
            </a:r>
            <a:endParaRPr lang="en-US" sz="1200" dirty="0"/>
          </a:p>
        </p:txBody>
      </p:sp>
      <p:sp>
        <p:nvSpPr>
          <p:cNvPr id="35" name="Text 33"/>
          <p:cNvSpPr txBox="1"/>
          <p:nvPr/>
        </p:nvSpPr>
        <p:spPr>
          <a:xfrm>
            <a:off x="694944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Shape versioning · deopt · next steps</a:t>
            </a:r>
            <a:endParaRPr lang="en-US" sz="1050" dirty="0"/>
          </a:p>
        </p:txBody>
      </p:sp>
      <p:sp>
        <p:nvSpPr>
          <p:cNvPr id="36" name="Text 34"/>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Scope: milestone M1 (IC design frozen) and M2 (interpreter + IC working), with early work toward M3 (tier-2).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01</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Chilukuri Charith Reddy</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VM &amp; Hot-Path Integration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Objective status since Review 1</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The stack-based bytecode VM</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Baseline interpreter: TC1–TC12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4</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Objective status since Review 1</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834640"/>
                <a:gridCol w="1188720"/>
                <a:gridCol w="420624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Stack-based VM &amp; bytecode format</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Full instruction set frozen and implemented</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Baseline interpreter</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TC1–TC12 passing (extended from TC1–TC6)</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Hot-code detection / profiling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Loop back-edge counters live (TC11)</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Inline caching (mono / poly / mega)</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13B3C"/>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E1B07E"/>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All states + invalidation tested (IC1–IC4); mega capacity being tuned</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JIT / native codegen (tier-2)</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13B3C"/>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E1B07E"/>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Arithmetic codegen; guard + deopt logic modelled (IC5)</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Benchmark &amp; differential testing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13B3C"/>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E1B07E"/>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0 mismatches across 3 workload types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3 of 6 objectives complete; the remaining 3 are on track for Review 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5</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A stack-based bytecode VM</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sp>
        <p:nvSpPr>
          <p:cNvPr id="6" name="Shape 4"/>
          <p:cNvSpPr/>
          <p:nvPr/>
        </p:nvSpPr>
        <p:spPr>
          <a:xfrm>
            <a:off x="822960" y="1188720"/>
            <a:ext cx="2926080" cy="658368"/>
          </a:xfrm>
          <a:prstGeom prst="roundRect">
            <a:avLst>
              <a:gd name="adj" fmla="val 11111"/>
            </a:avLst>
          </a:prstGeom>
          <a:solidFill>
            <a:srgbClr val="E6F8FF"/>
          </a:solidFill>
          <a:ln w="12700">
            <a:solidFill>
              <a:srgbClr val="E6F8FF"/>
            </a:solidFill>
            <a:prstDash val="solid"/>
          </a:ln>
        </p:spPr>
      </p:sp>
      <p:sp>
        <p:nvSpPr>
          <p:cNvPr id="7" name="Text 5"/>
          <p:cNvSpPr txBox="1"/>
          <p:nvPr/>
        </p:nvSpPr>
        <p:spPr>
          <a:xfrm>
            <a:off x="1005840" y="1261872"/>
            <a:ext cx="2560320" cy="27432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FETCH</a:t>
            </a:r>
            <a:endParaRPr lang="en-US" sz="1300" dirty="0"/>
          </a:p>
        </p:txBody>
      </p:sp>
      <p:sp>
        <p:nvSpPr>
          <p:cNvPr id="8" name="Text 6"/>
          <p:cNvSpPr txBox="1"/>
          <p:nvPr/>
        </p:nvSpPr>
        <p:spPr>
          <a:xfrm>
            <a:off x="1005840" y="1536192"/>
            <a:ext cx="2560320" cy="256032"/>
          </a:xfrm>
          <a:prstGeom prst="rect">
            <a:avLst/>
          </a:prstGeom>
          <a:noFill/>
          <a:ln/>
        </p:spPr>
        <p:txBody>
          <a:bodyPr wrap="square" lIns="0" tIns="0" rIns="0" bIns="0" rtlCol="0" anchor="ctr"/>
          <a:lstStyle/>
          <a:p>
            <a:pPr indent="0" marL="0">
              <a:buNone/>
            </a:pPr>
            <a:r>
              <a:rPr lang="en-US" sz="1100" dirty="0">
                <a:solidFill>
                  <a:srgbClr val="513B3C"/>
                </a:solidFill>
                <a:latin typeface="Courier New" pitchFamily="34" charset="0"/>
                <a:ea typeface="Courier New" pitchFamily="34" charset="-122"/>
                <a:cs typeface="Courier New" pitchFamily="34" charset="-120"/>
              </a:rPr>
              <a:t>op, arg = program[pc]</a:t>
            </a:r>
            <a:endParaRPr lang="en-US" sz="1100" dirty="0"/>
          </a:p>
        </p:txBody>
      </p:sp>
      <p:sp>
        <p:nvSpPr>
          <p:cNvPr id="9" name="Shape 7"/>
          <p:cNvSpPr/>
          <p:nvPr/>
        </p:nvSpPr>
        <p:spPr>
          <a:xfrm>
            <a:off x="2286000" y="1865376"/>
            <a:ext cx="0" cy="274320"/>
          </a:xfrm>
          <a:prstGeom prst="line">
            <a:avLst/>
          </a:prstGeom>
          <a:noFill/>
          <a:ln w="22225">
            <a:solidFill>
              <a:srgbClr val="7D6A6B"/>
            </a:solidFill>
            <a:prstDash val="solid"/>
            <a:tailEnd type="triangle"/>
          </a:ln>
        </p:spPr>
      </p:sp>
      <p:sp>
        <p:nvSpPr>
          <p:cNvPr id="10" name="Shape 8"/>
          <p:cNvSpPr/>
          <p:nvPr/>
        </p:nvSpPr>
        <p:spPr>
          <a:xfrm>
            <a:off x="822960" y="2148840"/>
            <a:ext cx="2926080" cy="658368"/>
          </a:xfrm>
          <a:prstGeom prst="roundRect">
            <a:avLst>
              <a:gd name="adj" fmla="val 11111"/>
            </a:avLst>
          </a:prstGeom>
          <a:solidFill>
            <a:srgbClr val="E6F8FF"/>
          </a:solidFill>
          <a:ln w="12700">
            <a:solidFill>
              <a:srgbClr val="E6F8FF"/>
            </a:solidFill>
            <a:prstDash val="solid"/>
          </a:ln>
        </p:spPr>
      </p:sp>
      <p:sp>
        <p:nvSpPr>
          <p:cNvPr id="11" name="Text 9"/>
          <p:cNvSpPr txBox="1"/>
          <p:nvPr/>
        </p:nvSpPr>
        <p:spPr>
          <a:xfrm>
            <a:off x="1005840" y="2221992"/>
            <a:ext cx="2560320" cy="27432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DECODE</a:t>
            </a:r>
            <a:endParaRPr lang="en-US" sz="1300" dirty="0"/>
          </a:p>
        </p:txBody>
      </p:sp>
      <p:sp>
        <p:nvSpPr>
          <p:cNvPr id="12" name="Text 10"/>
          <p:cNvSpPr txBox="1"/>
          <p:nvPr/>
        </p:nvSpPr>
        <p:spPr>
          <a:xfrm>
            <a:off x="1005840" y="2496312"/>
            <a:ext cx="2560320" cy="256032"/>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which opcode is it?</a:t>
            </a:r>
            <a:endParaRPr lang="en-US" sz="1100" dirty="0"/>
          </a:p>
        </p:txBody>
      </p:sp>
      <p:sp>
        <p:nvSpPr>
          <p:cNvPr id="13" name="Shape 11"/>
          <p:cNvSpPr/>
          <p:nvPr/>
        </p:nvSpPr>
        <p:spPr>
          <a:xfrm>
            <a:off x="2286000" y="2825496"/>
            <a:ext cx="0" cy="274320"/>
          </a:xfrm>
          <a:prstGeom prst="line">
            <a:avLst/>
          </a:prstGeom>
          <a:noFill/>
          <a:ln w="22225">
            <a:solidFill>
              <a:srgbClr val="7D6A6B"/>
            </a:solidFill>
            <a:prstDash val="solid"/>
            <a:tailEnd type="triangle"/>
          </a:ln>
        </p:spPr>
      </p:sp>
      <p:sp>
        <p:nvSpPr>
          <p:cNvPr id="14" name="Shape 12"/>
          <p:cNvSpPr/>
          <p:nvPr/>
        </p:nvSpPr>
        <p:spPr>
          <a:xfrm>
            <a:off x="822960" y="3108960"/>
            <a:ext cx="2926080" cy="658368"/>
          </a:xfrm>
          <a:prstGeom prst="roundRect">
            <a:avLst>
              <a:gd name="adj" fmla="val 11111"/>
            </a:avLst>
          </a:prstGeom>
          <a:solidFill>
            <a:srgbClr val="548687"/>
          </a:solidFill>
          <a:ln w="12700">
            <a:solidFill>
              <a:srgbClr val="548687"/>
            </a:solidFill>
            <a:prstDash val="solid"/>
          </a:ln>
        </p:spPr>
      </p:sp>
      <p:sp>
        <p:nvSpPr>
          <p:cNvPr id="15" name="Text 13"/>
          <p:cNvSpPr txBox="1"/>
          <p:nvPr/>
        </p:nvSpPr>
        <p:spPr>
          <a:xfrm>
            <a:off x="1005840" y="3182112"/>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EXECUTE</a:t>
            </a:r>
            <a:endParaRPr lang="en-US" sz="1300" dirty="0"/>
          </a:p>
        </p:txBody>
      </p:sp>
      <p:sp>
        <p:nvSpPr>
          <p:cNvPr id="16" name="Text 14"/>
          <p:cNvSpPr txBox="1"/>
          <p:nvPr/>
        </p:nvSpPr>
        <p:spPr>
          <a:xfrm>
            <a:off x="1005840" y="3456432"/>
            <a:ext cx="25603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update stack, locals, pc</a:t>
            </a:r>
            <a:endParaRPr lang="en-US" sz="1100" dirty="0"/>
          </a:p>
        </p:txBody>
      </p:sp>
      <p:sp>
        <p:nvSpPr>
          <p:cNvPr id="17" name="Shape 15"/>
          <p:cNvSpPr/>
          <p:nvPr/>
        </p:nvSpPr>
        <p:spPr>
          <a:xfrm>
            <a:off x="548640" y="1517904"/>
            <a:ext cx="0" cy="1920240"/>
          </a:xfrm>
          <a:prstGeom prst="line">
            <a:avLst/>
          </a:prstGeom>
          <a:noFill/>
          <a:ln w="22225">
            <a:solidFill>
              <a:srgbClr val="E1B07E"/>
            </a:solidFill>
            <a:prstDash val="solid"/>
          </a:ln>
        </p:spPr>
      </p:sp>
      <p:sp>
        <p:nvSpPr>
          <p:cNvPr id="18" name="Shape 16"/>
          <p:cNvSpPr/>
          <p:nvPr/>
        </p:nvSpPr>
        <p:spPr>
          <a:xfrm>
            <a:off x="548640" y="3438144"/>
            <a:ext cx="274320" cy="0"/>
          </a:xfrm>
          <a:prstGeom prst="line">
            <a:avLst/>
          </a:prstGeom>
          <a:noFill/>
          <a:ln w="22225">
            <a:solidFill>
              <a:srgbClr val="E1B07E"/>
            </a:solidFill>
            <a:prstDash val="solid"/>
          </a:ln>
        </p:spPr>
      </p:sp>
      <p:sp>
        <p:nvSpPr>
          <p:cNvPr id="19" name="Shape 17"/>
          <p:cNvSpPr/>
          <p:nvPr/>
        </p:nvSpPr>
        <p:spPr>
          <a:xfrm>
            <a:off x="548640" y="1517904"/>
            <a:ext cx="274320" cy="0"/>
          </a:xfrm>
          <a:prstGeom prst="line">
            <a:avLst/>
          </a:prstGeom>
          <a:noFill/>
          <a:ln w="22225">
            <a:solidFill>
              <a:srgbClr val="E1B07E"/>
            </a:solidFill>
            <a:prstDash val="solid"/>
            <a:tailEnd type="triangle"/>
          </a:ln>
        </p:spPr>
      </p:sp>
      <p:sp>
        <p:nvSpPr>
          <p:cNvPr id="20" name="Text 18"/>
          <p:cNvSpPr txBox="1"/>
          <p:nvPr/>
        </p:nvSpPr>
        <p:spPr>
          <a:xfrm>
            <a:off x="822960" y="4114800"/>
            <a:ext cx="2926080" cy="274320"/>
          </a:xfrm>
          <a:prstGeom prst="rect">
            <a:avLst/>
          </a:prstGeom>
          <a:noFill/>
          <a:ln/>
        </p:spPr>
        <p:txBody>
          <a:bodyPr wrap="square" lIns="0" tIns="0" rIns="0" bIns="0" rtlCol="0" anchor="ctr"/>
          <a:lstStyle/>
          <a:p>
            <a:pPr indent="0" marL="0">
              <a:buNone/>
            </a:pPr>
            <a:r>
              <a:rPr lang="en-US" sz="1100" i="1" dirty="0">
                <a:solidFill>
                  <a:srgbClr val="7D6A6B"/>
                </a:solidFill>
                <a:latin typeface="Calibri" pitchFamily="34" charset="0"/>
                <a:ea typeface="Calibri" pitchFamily="34" charset="-122"/>
                <a:cs typeface="Calibri" pitchFamily="34" charset="-120"/>
              </a:rPr>
              <a:t>repeat until HALT</a:t>
            </a:r>
            <a:endParaRPr lang="en-US" sz="1100" dirty="0"/>
          </a:p>
        </p:txBody>
      </p:sp>
      <p:sp>
        <p:nvSpPr>
          <p:cNvPr id="21" name="Text 19"/>
          <p:cNvSpPr txBox="1"/>
          <p:nvPr/>
        </p:nvSpPr>
        <p:spPr>
          <a:xfrm>
            <a:off x="4389120" y="1188720"/>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Stack</a:t>
            </a:r>
            <a:endParaRPr lang="en-US" sz="1200" dirty="0"/>
          </a:p>
        </p:txBody>
      </p:sp>
      <p:sp>
        <p:nvSpPr>
          <p:cNvPr id="22" name="Shape 20"/>
          <p:cNvSpPr/>
          <p:nvPr/>
        </p:nvSpPr>
        <p:spPr>
          <a:xfrm>
            <a:off x="5486400" y="1225296"/>
            <a:ext cx="548640" cy="292608"/>
          </a:xfrm>
          <a:prstGeom prst="roundRect">
            <a:avLst>
              <a:gd name="adj" fmla="val 25000"/>
            </a:avLst>
          </a:prstGeom>
          <a:solidFill>
            <a:srgbClr val="F6E7DB"/>
          </a:solidFill>
          <a:ln w="12700">
            <a:solidFill>
              <a:srgbClr val="F6E7DB"/>
            </a:solidFill>
            <a:prstDash val="solid"/>
          </a:ln>
        </p:spPr>
      </p:sp>
      <p:sp>
        <p:nvSpPr>
          <p:cNvPr id="23" name="Text 21"/>
          <p:cNvSpPr txBox="1"/>
          <p:nvPr/>
        </p:nvSpPr>
        <p:spPr>
          <a:xfrm>
            <a:off x="5486400" y="1225296"/>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PUSH</a:t>
            </a:r>
            <a:endParaRPr lang="en-US" sz="1050" dirty="0"/>
          </a:p>
        </p:txBody>
      </p:sp>
      <p:sp>
        <p:nvSpPr>
          <p:cNvPr id="24" name="Shape 22"/>
          <p:cNvSpPr/>
          <p:nvPr/>
        </p:nvSpPr>
        <p:spPr>
          <a:xfrm>
            <a:off x="6126480" y="1225296"/>
            <a:ext cx="457200" cy="292608"/>
          </a:xfrm>
          <a:prstGeom prst="roundRect">
            <a:avLst>
              <a:gd name="adj" fmla="val 25000"/>
            </a:avLst>
          </a:prstGeom>
          <a:solidFill>
            <a:srgbClr val="F6E7DB"/>
          </a:solidFill>
          <a:ln w="12700">
            <a:solidFill>
              <a:srgbClr val="F6E7DB"/>
            </a:solidFill>
            <a:prstDash val="solid"/>
          </a:ln>
        </p:spPr>
      </p:sp>
      <p:sp>
        <p:nvSpPr>
          <p:cNvPr id="25" name="Text 23"/>
          <p:cNvSpPr txBox="1"/>
          <p:nvPr/>
        </p:nvSpPr>
        <p:spPr>
          <a:xfrm>
            <a:off x="6126480" y="1225296"/>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POP</a:t>
            </a:r>
            <a:endParaRPr lang="en-US" sz="1050" dirty="0"/>
          </a:p>
        </p:txBody>
      </p:sp>
      <p:sp>
        <p:nvSpPr>
          <p:cNvPr id="26" name="Text 24"/>
          <p:cNvSpPr txBox="1"/>
          <p:nvPr/>
        </p:nvSpPr>
        <p:spPr>
          <a:xfrm>
            <a:off x="4389120" y="1664208"/>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Arithmetic</a:t>
            </a:r>
            <a:endParaRPr lang="en-US" sz="1200" dirty="0"/>
          </a:p>
        </p:txBody>
      </p:sp>
      <p:sp>
        <p:nvSpPr>
          <p:cNvPr id="27" name="Shape 25"/>
          <p:cNvSpPr/>
          <p:nvPr/>
        </p:nvSpPr>
        <p:spPr>
          <a:xfrm>
            <a:off x="5486400" y="1700784"/>
            <a:ext cx="457200" cy="292608"/>
          </a:xfrm>
          <a:prstGeom prst="roundRect">
            <a:avLst>
              <a:gd name="adj" fmla="val 25000"/>
            </a:avLst>
          </a:prstGeom>
          <a:solidFill>
            <a:srgbClr val="F6E7DB"/>
          </a:solidFill>
          <a:ln w="12700">
            <a:solidFill>
              <a:srgbClr val="F6E7DB"/>
            </a:solidFill>
            <a:prstDash val="solid"/>
          </a:ln>
        </p:spPr>
      </p:sp>
      <p:sp>
        <p:nvSpPr>
          <p:cNvPr id="28" name="Text 26"/>
          <p:cNvSpPr txBox="1"/>
          <p:nvPr/>
        </p:nvSpPr>
        <p:spPr>
          <a:xfrm>
            <a:off x="548640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ADD</a:t>
            </a:r>
            <a:endParaRPr lang="en-US" sz="1050" dirty="0"/>
          </a:p>
        </p:txBody>
      </p:sp>
      <p:sp>
        <p:nvSpPr>
          <p:cNvPr id="29" name="Shape 27"/>
          <p:cNvSpPr/>
          <p:nvPr/>
        </p:nvSpPr>
        <p:spPr>
          <a:xfrm>
            <a:off x="6035040" y="1700784"/>
            <a:ext cx="457200" cy="292608"/>
          </a:xfrm>
          <a:prstGeom prst="roundRect">
            <a:avLst>
              <a:gd name="adj" fmla="val 25000"/>
            </a:avLst>
          </a:prstGeom>
          <a:solidFill>
            <a:srgbClr val="F6E7DB"/>
          </a:solidFill>
          <a:ln w="12700">
            <a:solidFill>
              <a:srgbClr val="F6E7DB"/>
            </a:solidFill>
            <a:prstDash val="solid"/>
          </a:ln>
        </p:spPr>
      </p:sp>
      <p:sp>
        <p:nvSpPr>
          <p:cNvPr id="30" name="Text 28"/>
          <p:cNvSpPr txBox="1"/>
          <p:nvPr/>
        </p:nvSpPr>
        <p:spPr>
          <a:xfrm>
            <a:off x="603504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SUB</a:t>
            </a:r>
            <a:endParaRPr lang="en-US" sz="1050" dirty="0"/>
          </a:p>
        </p:txBody>
      </p:sp>
      <p:sp>
        <p:nvSpPr>
          <p:cNvPr id="31" name="Shape 29"/>
          <p:cNvSpPr/>
          <p:nvPr/>
        </p:nvSpPr>
        <p:spPr>
          <a:xfrm>
            <a:off x="6583680" y="1700784"/>
            <a:ext cx="457200" cy="292608"/>
          </a:xfrm>
          <a:prstGeom prst="roundRect">
            <a:avLst>
              <a:gd name="adj" fmla="val 25000"/>
            </a:avLst>
          </a:prstGeom>
          <a:solidFill>
            <a:srgbClr val="F6E7DB"/>
          </a:solidFill>
          <a:ln w="12700">
            <a:solidFill>
              <a:srgbClr val="F6E7DB"/>
            </a:solidFill>
            <a:prstDash val="solid"/>
          </a:ln>
        </p:spPr>
      </p:sp>
      <p:sp>
        <p:nvSpPr>
          <p:cNvPr id="32" name="Text 30"/>
          <p:cNvSpPr txBox="1"/>
          <p:nvPr/>
        </p:nvSpPr>
        <p:spPr>
          <a:xfrm>
            <a:off x="658368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MUL</a:t>
            </a:r>
            <a:endParaRPr lang="en-US" sz="1050" dirty="0"/>
          </a:p>
        </p:txBody>
      </p:sp>
      <p:sp>
        <p:nvSpPr>
          <p:cNvPr id="33" name="Shape 31"/>
          <p:cNvSpPr/>
          <p:nvPr/>
        </p:nvSpPr>
        <p:spPr>
          <a:xfrm>
            <a:off x="7132320" y="1700784"/>
            <a:ext cx="457200" cy="292608"/>
          </a:xfrm>
          <a:prstGeom prst="roundRect">
            <a:avLst>
              <a:gd name="adj" fmla="val 25000"/>
            </a:avLst>
          </a:prstGeom>
          <a:solidFill>
            <a:srgbClr val="F6E7DB"/>
          </a:solidFill>
          <a:ln w="12700">
            <a:solidFill>
              <a:srgbClr val="F6E7DB"/>
            </a:solidFill>
            <a:prstDash val="solid"/>
          </a:ln>
        </p:spPr>
      </p:sp>
      <p:sp>
        <p:nvSpPr>
          <p:cNvPr id="34" name="Text 32"/>
          <p:cNvSpPr txBox="1"/>
          <p:nvPr/>
        </p:nvSpPr>
        <p:spPr>
          <a:xfrm>
            <a:off x="713232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DIV</a:t>
            </a:r>
            <a:endParaRPr lang="en-US" sz="1050" dirty="0"/>
          </a:p>
        </p:txBody>
      </p:sp>
      <p:sp>
        <p:nvSpPr>
          <p:cNvPr id="35" name="Text 33"/>
          <p:cNvSpPr txBox="1"/>
          <p:nvPr/>
        </p:nvSpPr>
        <p:spPr>
          <a:xfrm>
            <a:off x="4389120" y="2139696"/>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Locals</a:t>
            </a:r>
            <a:endParaRPr lang="en-US" sz="1200" dirty="0"/>
          </a:p>
        </p:txBody>
      </p:sp>
      <p:sp>
        <p:nvSpPr>
          <p:cNvPr id="36" name="Shape 34"/>
          <p:cNvSpPr/>
          <p:nvPr/>
        </p:nvSpPr>
        <p:spPr>
          <a:xfrm>
            <a:off x="5486400" y="2176272"/>
            <a:ext cx="548640" cy="292608"/>
          </a:xfrm>
          <a:prstGeom prst="roundRect">
            <a:avLst>
              <a:gd name="adj" fmla="val 25000"/>
            </a:avLst>
          </a:prstGeom>
          <a:solidFill>
            <a:srgbClr val="F6E7DB"/>
          </a:solidFill>
          <a:ln w="12700">
            <a:solidFill>
              <a:srgbClr val="F6E7DB"/>
            </a:solidFill>
            <a:prstDash val="solid"/>
          </a:ln>
        </p:spPr>
      </p:sp>
      <p:sp>
        <p:nvSpPr>
          <p:cNvPr id="37" name="Text 35"/>
          <p:cNvSpPr txBox="1"/>
          <p:nvPr/>
        </p:nvSpPr>
        <p:spPr>
          <a:xfrm>
            <a:off x="5486400" y="2176272"/>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LOAD</a:t>
            </a:r>
            <a:endParaRPr lang="en-US" sz="1050" dirty="0"/>
          </a:p>
        </p:txBody>
      </p:sp>
      <p:sp>
        <p:nvSpPr>
          <p:cNvPr id="38" name="Shape 36"/>
          <p:cNvSpPr/>
          <p:nvPr/>
        </p:nvSpPr>
        <p:spPr>
          <a:xfrm>
            <a:off x="6126480" y="2176272"/>
            <a:ext cx="640080" cy="292608"/>
          </a:xfrm>
          <a:prstGeom prst="roundRect">
            <a:avLst>
              <a:gd name="adj" fmla="val 25000"/>
            </a:avLst>
          </a:prstGeom>
          <a:solidFill>
            <a:srgbClr val="F6E7DB"/>
          </a:solidFill>
          <a:ln w="12700">
            <a:solidFill>
              <a:srgbClr val="F6E7DB"/>
            </a:solidFill>
            <a:prstDash val="solid"/>
          </a:ln>
        </p:spPr>
      </p:sp>
      <p:sp>
        <p:nvSpPr>
          <p:cNvPr id="39" name="Text 37"/>
          <p:cNvSpPr txBox="1"/>
          <p:nvPr/>
        </p:nvSpPr>
        <p:spPr>
          <a:xfrm>
            <a:off x="6126480" y="2176272"/>
            <a:ext cx="64008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STORE</a:t>
            </a:r>
            <a:endParaRPr lang="en-US" sz="1050" dirty="0"/>
          </a:p>
        </p:txBody>
      </p:sp>
      <p:sp>
        <p:nvSpPr>
          <p:cNvPr id="40" name="Text 38"/>
          <p:cNvSpPr txBox="1"/>
          <p:nvPr/>
        </p:nvSpPr>
        <p:spPr>
          <a:xfrm>
            <a:off x="4389120" y="2615184"/>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Control</a:t>
            </a:r>
            <a:endParaRPr lang="en-US" sz="1200" dirty="0"/>
          </a:p>
        </p:txBody>
      </p:sp>
      <p:sp>
        <p:nvSpPr>
          <p:cNvPr id="41" name="Shape 39"/>
          <p:cNvSpPr/>
          <p:nvPr/>
        </p:nvSpPr>
        <p:spPr>
          <a:xfrm>
            <a:off x="5486400" y="2651760"/>
            <a:ext cx="457200" cy="292608"/>
          </a:xfrm>
          <a:prstGeom prst="roundRect">
            <a:avLst>
              <a:gd name="adj" fmla="val 25000"/>
            </a:avLst>
          </a:prstGeom>
          <a:solidFill>
            <a:srgbClr val="F6E7DB"/>
          </a:solidFill>
          <a:ln w="12700">
            <a:solidFill>
              <a:srgbClr val="F6E7DB"/>
            </a:solidFill>
            <a:prstDash val="solid"/>
          </a:ln>
        </p:spPr>
      </p:sp>
      <p:sp>
        <p:nvSpPr>
          <p:cNvPr id="42" name="Text 40"/>
          <p:cNvSpPr txBox="1"/>
          <p:nvPr/>
        </p:nvSpPr>
        <p:spPr>
          <a:xfrm>
            <a:off x="5486400" y="2651760"/>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JMP</a:t>
            </a:r>
            <a:endParaRPr lang="en-US" sz="1050" dirty="0"/>
          </a:p>
        </p:txBody>
      </p:sp>
      <p:sp>
        <p:nvSpPr>
          <p:cNvPr id="43" name="Shape 41"/>
          <p:cNvSpPr/>
          <p:nvPr/>
        </p:nvSpPr>
        <p:spPr>
          <a:xfrm>
            <a:off x="6035040" y="2651760"/>
            <a:ext cx="365760" cy="292608"/>
          </a:xfrm>
          <a:prstGeom prst="roundRect">
            <a:avLst>
              <a:gd name="adj" fmla="val 25000"/>
            </a:avLst>
          </a:prstGeom>
          <a:solidFill>
            <a:srgbClr val="F6E7DB"/>
          </a:solidFill>
          <a:ln w="12700">
            <a:solidFill>
              <a:srgbClr val="F6E7DB"/>
            </a:solidFill>
            <a:prstDash val="solid"/>
          </a:ln>
        </p:spPr>
      </p:sp>
      <p:sp>
        <p:nvSpPr>
          <p:cNvPr id="44" name="Text 42"/>
          <p:cNvSpPr txBox="1"/>
          <p:nvPr/>
        </p:nvSpPr>
        <p:spPr>
          <a:xfrm>
            <a:off x="6035040" y="2651760"/>
            <a:ext cx="3657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JZ</a:t>
            </a:r>
            <a:endParaRPr lang="en-US" sz="1050" dirty="0"/>
          </a:p>
        </p:txBody>
      </p:sp>
      <p:sp>
        <p:nvSpPr>
          <p:cNvPr id="45" name="Shape 43"/>
          <p:cNvSpPr/>
          <p:nvPr/>
        </p:nvSpPr>
        <p:spPr>
          <a:xfrm>
            <a:off x="6492240" y="2651760"/>
            <a:ext cx="365760" cy="292608"/>
          </a:xfrm>
          <a:prstGeom prst="roundRect">
            <a:avLst>
              <a:gd name="adj" fmla="val 25000"/>
            </a:avLst>
          </a:prstGeom>
          <a:solidFill>
            <a:srgbClr val="F6E7DB"/>
          </a:solidFill>
          <a:ln w="12700">
            <a:solidFill>
              <a:srgbClr val="F6E7DB"/>
            </a:solidFill>
            <a:prstDash val="solid"/>
          </a:ln>
        </p:spPr>
      </p:sp>
      <p:sp>
        <p:nvSpPr>
          <p:cNvPr id="46" name="Text 44"/>
          <p:cNvSpPr txBox="1"/>
          <p:nvPr/>
        </p:nvSpPr>
        <p:spPr>
          <a:xfrm>
            <a:off x="6492240" y="2651760"/>
            <a:ext cx="3657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LT</a:t>
            </a:r>
            <a:endParaRPr lang="en-US" sz="1050" dirty="0"/>
          </a:p>
        </p:txBody>
      </p:sp>
      <p:sp>
        <p:nvSpPr>
          <p:cNvPr id="47" name="Text 45"/>
          <p:cNvSpPr txBox="1"/>
          <p:nvPr/>
        </p:nvSpPr>
        <p:spPr>
          <a:xfrm>
            <a:off x="4389120" y="3090672"/>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I/O</a:t>
            </a:r>
            <a:endParaRPr lang="en-US" sz="1200" dirty="0"/>
          </a:p>
        </p:txBody>
      </p:sp>
      <p:sp>
        <p:nvSpPr>
          <p:cNvPr id="48" name="Shape 46"/>
          <p:cNvSpPr/>
          <p:nvPr/>
        </p:nvSpPr>
        <p:spPr>
          <a:xfrm>
            <a:off x="5486400" y="3127248"/>
            <a:ext cx="640080" cy="292608"/>
          </a:xfrm>
          <a:prstGeom prst="roundRect">
            <a:avLst>
              <a:gd name="adj" fmla="val 25000"/>
            </a:avLst>
          </a:prstGeom>
          <a:solidFill>
            <a:srgbClr val="F6E7DB"/>
          </a:solidFill>
          <a:ln w="12700">
            <a:solidFill>
              <a:srgbClr val="F6E7DB"/>
            </a:solidFill>
            <a:prstDash val="solid"/>
          </a:ln>
        </p:spPr>
      </p:sp>
      <p:sp>
        <p:nvSpPr>
          <p:cNvPr id="49" name="Text 47"/>
          <p:cNvSpPr txBox="1"/>
          <p:nvPr/>
        </p:nvSpPr>
        <p:spPr>
          <a:xfrm>
            <a:off x="5486400" y="3127248"/>
            <a:ext cx="64008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PRINT</a:t>
            </a:r>
            <a:endParaRPr lang="en-US" sz="1050" dirty="0"/>
          </a:p>
        </p:txBody>
      </p:sp>
      <p:sp>
        <p:nvSpPr>
          <p:cNvPr id="50" name="Shape 48"/>
          <p:cNvSpPr/>
          <p:nvPr/>
        </p:nvSpPr>
        <p:spPr>
          <a:xfrm>
            <a:off x="6217920" y="3127248"/>
            <a:ext cx="548640" cy="292608"/>
          </a:xfrm>
          <a:prstGeom prst="roundRect">
            <a:avLst>
              <a:gd name="adj" fmla="val 25000"/>
            </a:avLst>
          </a:prstGeom>
          <a:solidFill>
            <a:srgbClr val="F6E7DB"/>
          </a:solidFill>
          <a:ln w="12700">
            <a:solidFill>
              <a:srgbClr val="F6E7DB"/>
            </a:solidFill>
            <a:prstDash val="solid"/>
          </a:ln>
        </p:spPr>
      </p:sp>
      <p:sp>
        <p:nvSpPr>
          <p:cNvPr id="51" name="Text 49"/>
          <p:cNvSpPr txBox="1"/>
          <p:nvPr/>
        </p:nvSpPr>
        <p:spPr>
          <a:xfrm>
            <a:off x="6217920" y="3127248"/>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HALT</a:t>
            </a:r>
            <a:endParaRPr lang="en-US" sz="1050" dirty="0"/>
          </a:p>
        </p:txBody>
      </p:sp>
      <p:sp>
        <p:nvSpPr>
          <p:cNvPr id="52" name="Text 50"/>
          <p:cNvSpPr txBox="1"/>
          <p:nvPr/>
        </p:nvSpPr>
        <p:spPr>
          <a:xfrm>
            <a:off x="4389120" y="3566160"/>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Objects</a:t>
            </a:r>
            <a:endParaRPr lang="en-US" sz="1200" dirty="0"/>
          </a:p>
        </p:txBody>
      </p:sp>
      <p:sp>
        <p:nvSpPr>
          <p:cNvPr id="53" name="Shape 51"/>
          <p:cNvSpPr/>
          <p:nvPr/>
        </p:nvSpPr>
        <p:spPr>
          <a:xfrm>
            <a:off x="5486400" y="3602736"/>
            <a:ext cx="822960" cy="292608"/>
          </a:xfrm>
          <a:prstGeom prst="roundRect">
            <a:avLst>
              <a:gd name="adj" fmla="val 25000"/>
            </a:avLst>
          </a:prstGeom>
          <a:solidFill>
            <a:srgbClr val="E1B07E"/>
          </a:solidFill>
          <a:ln w="12700">
            <a:solidFill>
              <a:srgbClr val="E1B07E"/>
            </a:solidFill>
            <a:prstDash val="solid"/>
          </a:ln>
        </p:spPr>
      </p:sp>
      <p:sp>
        <p:nvSpPr>
          <p:cNvPr id="54" name="Text 52"/>
          <p:cNvSpPr txBox="1"/>
          <p:nvPr/>
        </p:nvSpPr>
        <p:spPr>
          <a:xfrm>
            <a:off x="5486400" y="3602736"/>
            <a:ext cx="8229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LOADOBJ</a:t>
            </a:r>
            <a:endParaRPr lang="en-US" sz="1050" dirty="0"/>
          </a:p>
        </p:txBody>
      </p:sp>
      <p:sp>
        <p:nvSpPr>
          <p:cNvPr id="55" name="Shape 53"/>
          <p:cNvSpPr/>
          <p:nvPr/>
        </p:nvSpPr>
        <p:spPr>
          <a:xfrm>
            <a:off x="6400800" y="3602736"/>
            <a:ext cx="914400" cy="292608"/>
          </a:xfrm>
          <a:prstGeom prst="roundRect">
            <a:avLst>
              <a:gd name="adj" fmla="val 25000"/>
            </a:avLst>
          </a:prstGeom>
          <a:solidFill>
            <a:srgbClr val="E1B07E"/>
          </a:solidFill>
          <a:ln w="12700">
            <a:solidFill>
              <a:srgbClr val="E1B07E"/>
            </a:solidFill>
            <a:prstDash val="solid"/>
          </a:ln>
        </p:spPr>
      </p:sp>
      <p:sp>
        <p:nvSpPr>
          <p:cNvPr id="56" name="Text 54"/>
          <p:cNvSpPr txBox="1"/>
          <p:nvPr/>
        </p:nvSpPr>
        <p:spPr>
          <a:xfrm>
            <a:off x="6400800" y="3602736"/>
            <a:ext cx="9144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GETFIELD</a:t>
            </a:r>
            <a:endParaRPr lang="en-US" sz="1050" dirty="0"/>
          </a:p>
        </p:txBody>
      </p:sp>
      <p:sp>
        <p:nvSpPr>
          <p:cNvPr id="57" name="Text 55"/>
          <p:cNvSpPr txBox="1"/>
          <p:nvPr/>
        </p:nvSpPr>
        <p:spPr>
          <a:xfrm>
            <a:off x="4389120" y="4114800"/>
            <a:ext cx="4297680" cy="457200"/>
          </a:xfrm>
          <a:prstGeom prst="rect">
            <a:avLst/>
          </a:prstGeom>
          <a:noFill/>
          <a:ln/>
        </p:spPr>
        <p:txBody>
          <a:bodyPr wrap="square" lIns="0" tIns="0" rIns="0" bIns="0" rtlCol="0" anchor="t"/>
          <a:lstStyle/>
          <a:p>
            <a:pPr indent="0" marL="0">
              <a:buNone/>
            </a:pPr>
            <a:r>
              <a:rPr lang="en-US" sz="1100" i="1" dirty="0">
                <a:solidFill>
                  <a:srgbClr val="7D6A6B"/>
                </a:solidFill>
                <a:latin typeface="Calibri" pitchFamily="34" charset="0"/>
                <a:ea typeface="Calibri" pitchFamily="34" charset="-122"/>
                <a:cs typeface="Calibri" pitchFamily="34" charset="-120"/>
              </a:rPr>
              <a:t>13 core opcodes from Review 1, plus LOADOBJ / GETFIELD for property access (used by the inline cache).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6</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Baseline interpreter: correctness first</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sp>
        <p:nvSpPr>
          <p:cNvPr id="6" name="Text 4"/>
          <p:cNvSpPr txBox="1"/>
          <p:nvPr/>
        </p:nvSpPr>
        <p:spPr>
          <a:xfrm>
            <a:off x="457200" y="1371600"/>
            <a:ext cx="2743200" cy="1005840"/>
          </a:xfrm>
          <a:prstGeom prst="rect">
            <a:avLst/>
          </a:prstGeom>
          <a:noFill/>
          <a:ln/>
        </p:spPr>
        <p:txBody>
          <a:bodyPr wrap="square" lIns="0" tIns="0" rIns="0" bIns="0" rtlCol="0" anchor="ctr"/>
          <a:lstStyle/>
          <a:p>
            <a:pPr indent="0" marL="0">
              <a:buNone/>
            </a:pPr>
            <a:r>
              <a:rPr lang="en-US" sz="6000" b="1" dirty="0">
                <a:solidFill>
                  <a:srgbClr val="548687"/>
                </a:solidFill>
                <a:latin typeface="Cambria" pitchFamily="34" charset="0"/>
                <a:ea typeface="Cambria" pitchFamily="34" charset="-122"/>
                <a:cs typeface="Cambria" pitchFamily="34" charset="-120"/>
              </a:rPr>
              <a:t>12 / 12</a:t>
            </a:r>
            <a:endParaRPr lang="en-US" sz="6000" dirty="0"/>
          </a:p>
        </p:txBody>
      </p:sp>
      <p:sp>
        <p:nvSpPr>
          <p:cNvPr id="7" name="Text 5"/>
          <p:cNvSpPr txBox="1"/>
          <p:nvPr/>
        </p:nvSpPr>
        <p:spPr>
          <a:xfrm>
            <a:off x="457200" y="2377440"/>
            <a:ext cx="274320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baseline test cases passing</a:t>
            </a:r>
            <a:endParaRPr lang="en-US" sz="1400" dirty="0"/>
          </a:p>
        </p:txBody>
      </p:sp>
      <p:sp>
        <p:nvSpPr>
          <p:cNvPr id="8" name="Text 6"/>
          <p:cNvSpPr txBox="1"/>
          <p:nvPr/>
        </p:nvSpPr>
        <p:spPr>
          <a:xfrm>
            <a:off x="457200" y="2880360"/>
            <a:ext cx="2651760" cy="1005840"/>
          </a:xfrm>
          <a:prstGeom prst="rect">
            <a:avLst/>
          </a:prstGeom>
          <a:noFill/>
          <a:ln/>
        </p:spPr>
        <p:txBody>
          <a:bodyPr wrap="square" lIns="0" tIns="0" rIns="0" bIns="0" rtlCol="0" anchor="t"/>
          <a:lstStyle/>
          <a:p>
            <a:pPr indent="0" marL="0">
              <a:buNone/>
            </a:pPr>
            <a:r>
              <a:rPr lang="en-US" sz="1200" dirty="0">
                <a:solidFill>
                  <a:srgbClr val="7D6A6B"/>
                </a:solidFill>
                <a:latin typeface="Calibri" pitchFamily="34" charset="0"/>
                <a:ea typeface="Calibri" pitchFamily="34" charset="-122"/>
                <a:cs typeface="Calibri" pitchFamily="34" charset="-120"/>
              </a:rPr>
              <a:t>The baseline interpreter is our correctness oracle: every cached or compiled result is diffed against it.</a:t>
            </a:r>
            <a:endParaRPr lang="en-US" sz="1200" dirty="0"/>
          </a:p>
        </p:txBody>
      </p:sp>
      <p:sp>
        <p:nvSpPr>
          <p:cNvPr id="9" name="Shape 7"/>
          <p:cNvSpPr/>
          <p:nvPr/>
        </p:nvSpPr>
        <p:spPr>
          <a:xfrm>
            <a:off x="3474720" y="1234440"/>
            <a:ext cx="1645920" cy="640080"/>
          </a:xfrm>
          <a:prstGeom prst="roundRect">
            <a:avLst>
              <a:gd name="adj" fmla="val 11429"/>
            </a:avLst>
          </a:prstGeom>
          <a:solidFill>
            <a:srgbClr val="E6F8FF"/>
          </a:solidFill>
          <a:ln w="12700">
            <a:solidFill>
              <a:srgbClr val="E6F8FF"/>
            </a:solidFill>
            <a:prstDash val="solid"/>
          </a:ln>
        </p:spPr>
      </p:sp>
      <p:sp>
        <p:nvSpPr>
          <p:cNvPr id="10" name="Text 8"/>
          <p:cNvSpPr txBox="1"/>
          <p:nvPr/>
        </p:nvSpPr>
        <p:spPr>
          <a:xfrm>
            <a:off x="3584448"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a:t>
            </a:r>
            <a:endParaRPr lang="en-US" sz="1100" dirty="0"/>
          </a:p>
        </p:txBody>
      </p:sp>
      <p:sp>
        <p:nvSpPr>
          <p:cNvPr id="11" name="Text 9"/>
          <p:cNvSpPr txBox="1"/>
          <p:nvPr/>
        </p:nvSpPr>
        <p:spPr>
          <a:xfrm>
            <a:off x="4709160"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3584448"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 + 20 = 30</a:t>
            </a:r>
            <a:endParaRPr lang="en-US" sz="1050" dirty="0"/>
          </a:p>
        </p:txBody>
      </p:sp>
      <p:sp>
        <p:nvSpPr>
          <p:cNvPr id="13" name="Shape 11"/>
          <p:cNvSpPr/>
          <p:nvPr/>
        </p:nvSpPr>
        <p:spPr>
          <a:xfrm>
            <a:off x="5230368" y="1234440"/>
            <a:ext cx="1645920" cy="640080"/>
          </a:xfrm>
          <a:prstGeom prst="roundRect">
            <a:avLst>
              <a:gd name="adj" fmla="val 11429"/>
            </a:avLst>
          </a:prstGeom>
          <a:solidFill>
            <a:srgbClr val="E6F8FF"/>
          </a:solidFill>
          <a:ln w="12700">
            <a:solidFill>
              <a:srgbClr val="E6F8FF"/>
            </a:solidFill>
            <a:prstDash val="solid"/>
          </a:ln>
        </p:spPr>
      </p:sp>
      <p:sp>
        <p:nvSpPr>
          <p:cNvPr id="14" name="Text 12"/>
          <p:cNvSpPr txBox="1"/>
          <p:nvPr/>
        </p:nvSpPr>
        <p:spPr>
          <a:xfrm>
            <a:off x="5340096"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TC2</a:t>
            </a:r>
            <a:endParaRPr lang="en-US" sz="1100" dirty="0"/>
          </a:p>
        </p:txBody>
      </p:sp>
      <p:sp>
        <p:nvSpPr>
          <p:cNvPr id="15" name="Text 13"/>
          <p:cNvSpPr txBox="1"/>
          <p:nvPr/>
        </p:nvSpPr>
        <p:spPr>
          <a:xfrm>
            <a:off x="6464808"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5340096"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20 − 5 = 15</a:t>
            </a:r>
            <a:endParaRPr lang="en-US" sz="1050" dirty="0"/>
          </a:p>
        </p:txBody>
      </p:sp>
      <p:sp>
        <p:nvSpPr>
          <p:cNvPr id="17" name="Shape 15"/>
          <p:cNvSpPr/>
          <p:nvPr/>
        </p:nvSpPr>
        <p:spPr>
          <a:xfrm>
            <a:off x="6986016" y="1234440"/>
            <a:ext cx="1645920" cy="640080"/>
          </a:xfrm>
          <a:prstGeom prst="roundRect">
            <a:avLst>
              <a:gd name="adj" fmla="val 11429"/>
            </a:avLst>
          </a:prstGeom>
          <a:solidFill>
            <a:srgbClr val="E6F8FF"/>
          </a:solidFill>
          <a:ln w="12700">
            <a:solidFill>
              <a:srgbClr val="E6F8FF"/>
            </a:solidFill>
            <a:prstDash val="solid"/>
          </a:ln>
        </p:spPr>
      </p:sp>
      <p:sp>
        <p:nvSpPr>
          <p:cNvPr id="18" name="Text 16"/>
          <p:cNvSpPr txBox="1"/>
          <p:nvPr/>
        </p:nvSpPr>
        <p:spPr>
          <a:xfrm>
            <a:off x="7095744"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TC3</a:t>
            </a:r>
            <a:endParaRPr lang="en-US" sz="1100" dirty="0"/>
          </a:p>
        </p:txBody>
      </p:sp>
      <p:sp>
        <p:nvSpPr>
          <p:cNvPr id="19" name="Text 17"/>
          <p:cNvSpPr txBox="1"/>
          <p:nvPr/>
        </p:nvSpPr>
        <p:spPr>
          <a:xfrm>
            <a:off x="8220456"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7095744"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 × 5 = 50</a:t>
            </a:r>
            <a:endParaRPr lang="en-US" sz="1050" dirty="0"/>
          </a:p>
        </p:txBody>
      </p:sp>
      <p:sp>
        <p:nvSpPr>
          <p:cNvPr id="21" name="Shape 19"/>
          <p:cNvSpPr/>
          <p:nvPr/>
        </p:nvSpPr>
        <p:spPr>
          <a:xfrm>
            <a:off x="3474720" y="2011680"/>
            <a:ext cx="1645920" cy="640080"/>
          </a:xfrm>
          <a:prstGeom prst="roundRect">
            <a:avLst>
              <a:gd name="adj" fmla="val 11429"/>
            </a:avLst>
          </a:prstGeom>
          <a:solidFill>
            <a:srgbClr val="E6F8FF"/>
          </a:solidFill>
          <a:ln w="12700">
            <a:solidFill>
              <a:srgbClr val="E6F8FF"/>
            </a:solidFill>
            <a:prstDash val="solid"/>
          </a:ln>
        </p:spPr>
      </p:sp>
      <p:sp>
        <p:nvSpPr>
          <p:cNvPr id="22" name="Text 20"/>
          <p:cNvSpPr txBox="1"/>
          <p:nvPr/>
        </p:nvSpPr>
        <p:spPr>
          <a:xfrm>
            <a:off x="3584448"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TC4</a:t>
            </a:r>
            <a:endParaRPr lang="en-US" sz="1100" dirty="0"/>
          </a:p>
        </p:txBody>
      </p:sp>
      <p:sp>
        <p:nvSpPr>
          <p:cNvPr id="23" name="Text 21"/>
          <p:cNvSpPr txBox="1"/>
          <p:nvPr/>
        </p:nvSpPr>
        <p:spPr>
          <a:xfrm>
            <a:off x="4709160"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3584448"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20 ÷ 4 = 5</a:t>
            </a:r>
            <a:endParaRPr lang="en-US" sz="1050" dirty="0"/>
          </a:p>
        </p:txBody>
      </p:sp>
      <p:sp>
        <p:nvSpPr>
          <p:cNvPr id="25" name="Shape 23"/>
          <p:cNvSpPr/>
          <p:nvPr/>
        </p:nvSpPr>
        <p:spPr>
          <a:xfrm>
            <a:off x="5230368" y="2011680"/>
            <a:ext cx="1645920" cy="640080"/>
          </a:xfrm>
          <a:prstGeom prst="roundRect">
            <a:avLst>
              <a:gd name="adj" fmla="val 11429"/>
            </a:avLst>
          </a:prstGeom>
          <a:solidFill>
            <a:srgbClr val="E6F8FF"/>
          </a:solidFill>
          <a:ln w="12700">
            <a:solidFill>
              <a:srgbClr val="E6F8FF"/>
            </a:solidFill>
            <a:prstDash val="solid"/>
          </a:ln>
        </p:spPr>
      </p:sp>
      <p:sp>
        <p:nvSpPr>
          <p:cNvPr id="26" name="Text 24"/>
          <p:cNvSpPr txBox="1"/>
          <p:nvPr/>
        </p:nvSpPr>
        <p:spPr>
          <a:xfrm>
            <a:off x="5340096"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TC5</a:t>
            </a:r>
            <a:endParaRPr lang="en-US" sz="1100" dirty="0"/>
          </a:p>
        </p:txBody>
      </p:sp>
      <p:sp>
        <p:nvSpPr>
          <p:cNvPr id="27" name="Text 25"/>
          <p:cNvSpPr txBox="1"/>
          <p:nvPr/>
        </p:nvSpPr>
        <p:spPr>
          <a:xfrm>
            <a:off x="6464808"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5340096"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(10+20) × 5 = 150</a:t>
            </a:r>
            <a:endParaRPr lang="en-US" sz="1050" dirty="0"/>
          </a:p>
        </p:txBody>
      </p:sp>
      <p:sp>
        <p:nvSpPr>
          <p:cNvPr id="29" name="Shape 27"/>
          <p:cNvSpPr/>
          <p:nvPr/>
        </p:nvSpPr>
        <p:spPr>
          <a:xfrm>
            <a:off x="6986016" y="2011680"/>
            <a:ext cx="1645920" cy="640080"/>
          </a:xfrm>
          <a:prstGeom prst="roundRect">
            <a:avLst>
              <a:gd name="adj" fmla="val 11429"/>
            </a:avLst>
          </a:prstGeom>
          <a:solidFill>
            <a:srgbClr val="E6F8FF"/>
          </a:solidFill>
          <a:ln w="12700">
            <a:solidFill>
              <a:srgbClr val="E6F8FF"/>
            </a:solidFill>
            <a:prstDash val="solid"/>
          </a:ln>
        </p:spPr>
      </p:sp>
      <p:sp>
        <p:nvSpPr>
          <p:cNvPr id="30" name="Text 28"/>
          <p:cNvSpPr txBox="1"/>
          <p:nvPr/>
        </p:nvSpPr>
        <p:spPr>
          <a:xfrm>
            <a:off x="7095744"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TC6</a:t>
            </a:r>
            <a:endParaRPr lang="en-US" sz="1100" dirty="0"/>
          </a:p>
        </p:txBody>
      </p:sp>
      <p:sp>
        <p:nvSpPr>
          <p:cNvPr id="31" name="Text 29"/>
          <p:cNvSpPr txBox="1"/>
          <p:nvPr/>
        </p:nvSpPr>
        <p:spPr>
          <a:xfrm>
            <a:off x="8220456"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7095744"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 0 raises error</a:t>
            </a:r>
            <a:endParaRPr lang="en-US" sz="1050" dirty="0"/>
          </a:p>
        </p:txBody>
      </p:sp>
      <p:sp>
        <p:nvSpPr>
          <p:cNvPr id="33" name="Shape 31"/>
          <p:cNvSpPr/>
          <p:nvPr/>
        </p:nvSpPr>
        <p:spPr>
          <a:xfrm>
            <a:off x="3474720" y="2788920"/>
            <a:ext cx="1645920" cy="640080"/>
          </a:xfrm>
          <a:prstGeom prst="roundRect">
            <a:avLst>
              <a:gd name="adj" fmla="val 11429"/>
            </a:avLst>
          </a:prstGeom>
          <a:solidFill>
            <a:srgbClr val="C1EEFF"/>
          </a:solidFill>
          <a:ln w="12700">
            <a:solidFill>
              <a:srgbClr val="C1EEFF"/>
            </a:solidFill>
            <a:prstDash val="solid"/>
          </a:ln>
        </p:spPr>
      </p:sp>
      <p:sp>
        <p:nvSpPr>
          <p:cNvPr id="34" name="Text 32"/>
          <p:cNvSpPr txBox="1"/>
          <p:nvPr/>
        </p:nvSpPr>
        <p:spPr>
          <a:xfrm>
            <a:off x="3584448"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TC7</a:t>
            </a:r>
            <a:endParaRPr lang="en-US" sz="1100" dirty="0"/>
          </a:p>
        </p:txBody>
      </p:sp>
      <p:sp>
        <p:nvSpPr>
          <p:cNvPr id="35" name="Text 33"/>
          <p:cNvSpPr txBox="1"/>
          <p:nvPr/>
        </p:nvSpPr>
        <p:spPr>
          <a:xfrm>
            <a:off x="4709160"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36" name="Text 34"/>
          <p:cNvSpPr txBox="1"/>
          <p:nvPr/>
        </p:nvSpPr>
        <p:spPr>
          <a:xfrm>
            <a:off x="3584448"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LOAD/STORE ×4 slots</a:t>
            </a:r>
            <a:endParaRPr lang="en-US" sz="1050" dirty="0"/>
          </a:p>
        </p:txBody>
      </p:sp>
      <p:sp>
        <p:nvSpPr>
          <p:cNvPr id="37" name="Shape 35"/>
          <p:cNvSpPr/>
          <p:nvPr/>
        </p:nvSpPr>
        <p:spPr>
          <a:xfrm>
            <a:off x="5230368" y="2788920"/>
            <a:ext cx="1645920" cy="640080"/>
          </a:xfrm>
          <a:prstGeom prst="roundRect">
            <a:avLst>
              <a:gd name="adj" fmla="val 11429"/>
            </a:avLst>
          </a:prstGeom>
          <a:solidFill>
            <a:srgbClr val="C1EEFF"/>
          </a:solidFill>
          <a:ln w="12700">
            <a:solidFill>
              <a:srgbClr val="C1EEFF"/>
            </a:solidFill>
            <a:prstDash val="solid"/>
          </a:ln>
        </p:spPr>
      </p:sp>
      <p:sp>
        <p:nvSpPr>
          <p:cNvPr id="38" name="Text 36"/>
          <p:cNvSpPr txBox="1"/>
          <p:nvPr/>
        </p:nvSpPr>
        <p:spPr>
          <a:xfrm>
            <a:off x="5340096"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TC8</a:t>
            </a:r>
            <a:endParaRPr lang="en-US" sz="1100" dirty="0"/>
          </a:p>
        </p:txBody>
      </p:sp>
      <p:sp>
        <p:nvSpPr>
          <p:cNvPr id="39" name="Text 37"/>
          <p:cNvSpPr txBox="1"/>
          <p:nvPr/>
        </p:nvSpPr>
        <p:spPr>
          <a:xfrm>
            <a:off x="6464808"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0" name="Text 38"/>
          <p:cNvSpPr txBox="1"/>
          <p:nvPr/>
        </p:nvSpPr>
        <p:spPr>
          <a:xfrm>
            <a:off x="5340096"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JMP skips PRINT</a:t>
            </a:r>
            <a:endParaRPr lang="en-US" sz="1050" dirty="0"/>
          </a:p>
        </p:txBody>
      </p:sp>
      <p:sp>
        <p:nvSpPr>
          <p:cNvPr id="41" name="Shape 39"/>
          <p:cNvSpPr/>
          <p:nvPr/>
        </p:nvSpPr>
        <p:spPr>
          <a:xfrm>
            <a:off x="6986016" y="2788920"/>
            <a:ext cx="1645920" cy="640080"/>
          </a:xfrm>
          <a:prstGeom prst="roundRect">
            <a:avLst>
              <a:gd name="adj" fmla="val 11429"/>
            </a:avLst>
          </a:prstGeom>
          <a:solidFill>
            <a:srgbClr val="C1EEFF"/>
          </a:solidFill>
          <a:ln w="12700">
            <a:solidFill>
              <a:srgbClr val="C1EEFF"/>
            </a:solidFill>
            <a:prstDash val="solid"/>
          </a:ln>
        </p:spPr>
      </p:sp>
      <p:sp>
        <p:nvSpPr>
          <p:cNvPr id="42" name="Text 40"/>
          <p:cNvSpPr txBox="1"/>
          <p:nvPr/>
        </p:nvSpPr>
        <p:spPr>
          <a:xfrm>
            <a:off x="7095744"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TC9</a:t>
            </a:r>
            <a:endParaRPr lang="en-US" sz="1100" dirty="0"/>
          </a:p>
        </p:txBody>
      </p:sp>
      <p:sp>
        <p:nvSpPr>
          <p:cNvPr id="43" name="Text 41"/>
          <p:cNvSpPr txBox="1"/>
          <p:nvPr/>
        </p:nvSpPr>
        <p:spPr>
          <a:xfrm>
            <a:off x="8220456"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4" name="Text 42"/>
          <p:cNvSpPr txBox="1"/>
          <p:nvPr/>
        </p:nvSpPr>
        <p:spPr>
          <a:xfrm>
            <a:off x="7095744"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JZ taken / not taken</a:t>
            </a:r>
            <a:endParaRPr lang="en-US" sz="1050" dirty="0"/>
          </a:p>
        </p:txBody>
      </p:sp>
      <p:sp>
        <p:nvSpPr>
          <p:cNvPr id="45" name="Shape 43"/>
          <p:cNvSpPr/>
          <p:nvPr/>
        </p:nvSpPr>
        <p:spPr>
          <a:xfrm>
            <a:off x="3474720" y="3566160"/>
            <a:ext cx="1645920" cy="640080"/>
          </a:xfrm>
          <a:prstGeom prst="roundRect">
            <a:avLst>
              <a:gd name="adj" fmla="val 11429"/>
            </a:avLst>
          </a:prstGeom>
          <a:solidFill>
            <a:srgbClr val="C1EEFF"/>
          </a:solidFill>
          <a:ln w="12700">
            <a:solidFill>
              <a:srgbClr val="C1EEFF"/>
            </a:solidFill>
            <a:prstDash val="solid"/>
          </a:ln>
        </p:spPr>
      </p:sp>
      <p:sp>
        <p:nvSpPr>
          <p:cNvPr id="46" name="Text 44"/>
          <p:cNvSpPr txBox="1"/>
          <p:nvPr/>
        </p:nvSpPr>
        <p:spPr>
          <a:xfrm>
            <a:off x="3584448"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TC10</a:t>
            </a:r>
            <a:endParaRPr lang="en-US" sz="1100" dirty="0"/>
          </a:p>
        </p:txBody>
      </p:sp>
      <p:sp>
        <p:nvSpPr>
          <p:cNvPr id="47" name="Text 45"/>
          <p:cNvSpPr txBox="1"/>
          <p:nvPr/>
        </p:nvSpPr>
        <p:spPr>
          <a:xfrm>
            <a:off x="4709160"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8" name="Text 46"/>
          <p:cNvSpPr txBox="1"/>
          <p:nvPr/>
        </p:nvSpPr>
        <p:spPr>
          <a:xfrm>
            <a:off x="3584448"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LT: &lt;, &gt;, =</a:t>
            </a:r>
            <a:endParaRPr lang="en-US" sz="1050" dirty="0"/>
          </a:p>
        </p:txBody>
      </p:sp>
      <p:sp>
        <p:nvSpPr>
          <p:cNvPr id="49" name="Shape 47"/>
          <p:cNvSpPr/>
          <p:nvPr/>
        </p:nvSpPr>
        <p:spPr>
          <a:xfrm>
            <a:off x="5230368" y="3566160"/>
            <a:ext cx="1645920" cy="640080"/>
          </a:xfrm>
          <a:prstGeom prst="roundRect">
            <a:avLst>
              <a:gd name="adj" fmla="val 11429"/>
            </a:avLst>
          </a:prstGeom>
          <a:solidFill>
            <a:srgbClr val="C1EEFF"/>
          </a:solidFill>
          <a:ln w="12700">
            <a:solidFill>
              <a:srgbClr val="C1EEFF"/>
            </a:solidFill>
            <a:prstDash val="solid"/>
          </a:ln>
        </p:spPr>
      </p:sp>
      <p:sp>
        <p:nvSpPr>
          <p:cNvPr id="50" name="Text 48"/>
          <p:cNvSpPr txBox="1"/>
          <p:nvPr/>
        </p:nvSpPr>
        <p:spPr>
          <a:xfrm>
            <a:off x="5340096"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TC11</a:t>
            </a:r>
            <a:endParaRPr lang="en-US" sz="1100" dirty="0"/>
          </a:p>
        </p:txBody>
      </p:sp>
      <p:sp>
        <p:nvSpPr>
          <p:cNvPr id="51" name="Text 49"/>
          <p:cNvSpPr txBox="1"/>
          <p:nvPr/>
        </p:nvSpPr>
        <p:spPr>
          <a:xfrm>
            <a:off x="6464808"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5340096"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Loop flagged hot</a:t>
            </a:r>
            <a:endParaRPr lang="en-US" sz="1050" dirty="0"/>
          </a:p>
        </p:txBody>
      </p:sp>
      <p:sp>
        <p:nvSpPr>
          <p:cNvPr id="53" name="Shape 51"/>
          <p:cNvSpPr/>
          <p:nvPr/>
        </p:nvSpPr>
        <p:spPr>
          <a:xfrm>
            <a:off x="6986016" y="3566160"/>
            <a:ext cx="1645920" cy="640080"/>
          </a:xfrm>
          <a:prstGeom prst="roundRect">
            <a:avLst>
              <a:gd name="adj" fmla="val 11429"/>
            </a:avLst>
          </a:prstGeom>
          <a:solidFill>
            <a:srgbClr val="C1EEFF"/>
          </a:solidFill>
          <a:ln w="12700">
            <a:solidFill>
              <a:srgbClr val="C1EEFF"/>
            </a:solidFill>
            <a:prstDash val="solid"/>
          </a:ln>
        </p:spPr>
      </p:sp>
      <p:sp>
        <p:nvSpPr>
          <p:cNvPr id="54" name="Text 52"/>
          <p:cNvSpPr txBox="1"/>
          <p:nvPr/>
        </p:nvSpPr>
        <p:spPr>
          <a:xfrm>
            <a:off x="7095744"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TC12</a:t>
            </a:r>
            <a:endParaRPr lang="en-US" sz="1100" dirty="0"/>
          </a:p>
        </p:txBody>
      </p:sp>
      <p:sp>
        <p:nvSpPr>
          <p:cNvPr id="55" name="Text 53"/>
          <p:cNvSpPr txBox="1"/>
          <p:nvPr/>
        </p:nvSpPr>
        <p:spPr>
          <a:xfrm>
            <a:off x="8220456"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7095744"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1000-deep push/pop</a:t>
            </a:r>
            <a:endParaRPr lang="en-US" sz="1050" dirty="0"/>
          </a:p>
        </p:txBody>
      </p:sp>
      <p:sp>
        <p:nvSpPr>
          <p:cNvPr id="57" name="Text 55"/>
          <p:cNvSpPr txBox="1"/>
          <p:nvPr/>
        </p:nvSpPr>
        <p:spPr>
          <a:xfrm>
            <a:off x="3474720" y="4389120"/>
            <a:ext cx="5212080" cy="274320"/>
          </a:xfrm>
          <a:prstGeom prst="rect">
            <a:avLst/>
          </a:prstGeom>
          <a:noFill/>
          <a:ln/>
        </p:spPr>
        <p:txBody>
          <a:bodyPr wrap="square" lIns="0" tIns="0" rIns="0" bIns="0" rtlCol="0" anchor="ctr"/>
          <a:lstStyle/>
          <a:p>
            <a:pPr indent="0" marL="0">
              <a:buNone/>
            </a:pPr>
            <a:r>
              <a:rPr lang="en-US" sz="1050" i="1" dirty="0">
                <a:solidFill>
                  <a:srgbClr val="7D6A6B"/>
                </a:solidFill>
                <a:latin typeface="Calibri" pitchFamily="34" charset="0"/>
                <a:ea typeface="Calibri" pitchFamily="34" charset="-122"/>
                <a:cs typeface="Calibri" pitchFamily="34" charset="-120"/>
              </a:rPr>
              <a:t>Darker tiles: TC7–TC12, new since Review 1 (control flow, hot-loop detection, stack stress).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02</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Vatsal Sharma</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Profiler &amp; Hot-Code Detection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How hot loops are detected</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Differential testing</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Timeline &amp; milestones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8</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Hot code via back-edge counters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457200" y="1143000"/>
            <a:ext cx="3657600" cy="3429000"/>
          </a:xfrm>
          <a:prstGeom prst="roundRect">
            <a:avLst>
              <a:gd name="adj" fmla="val 2133"/>
            </a:avLst>
          </a:prstGeom>
          <a:solidFill>
            <a:srgbClr val="513B3C"/>
          </a:solidFill>
          <a:ln w="12700">
            <a:solidFill>
              <a:srgbClr val="513B3C"/>
            </a:solidFill>
            <a:prstDash val="solid"/>
          </a:ln>
        </p:spPr>
      </p:sp>
      <p:sp>
        <p:nvSpPr>
          <p:cNvPr id="7" name="Text 5"/>
          <p:cNvSpPr txBox="1"/>
          <p:nvPr/>
        </p:nvSpPr>
        <p:spPr>
          <a:xfrm>
            <a:off x="640080" y="128016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0</a:t>
            </a:r>
            <a:endParaRPr lang="en-US" sz="1050" dirty="0"/>
          </a:p>
        </p:txBody>
      </p:sp>
      <p:sp>
        <p:nvSpPr>
          <p:cNvPr id="8" name="Text 6"/>
          <p:cNvSpPr txBox="1"/>
          <p:nvPr/>
        </p:nvSpPr>
        <p:spPr>
          <a:xfrm>
            <a:off x="1097280" y="128016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0</a:t>
            </a:r>
            <a:endParaRPr lang="en-US" sz="1100" dirty="0"/>
          </a:p>
        </p:txBody>
      </p:sp>
      <p:sp>
        <p:nvSpPr>
          <p:cNvPr id="9" name="Text 7"/>
          <p:cNvSpPr txBox="1"/>
          <p:nvPr/>
        </p:nvSpPr>
        <p:spPr>
          <a:xfrm>
            <a:off x="2514600" y="128016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 0</a:t>
            </a:r>
            <a:endParaRPr lang="en-US" sz="1000" dirty="0"/>
          </a:p>
        </p:txBody>
      </p:sp>
      <p:sp>
        <p:nvSpPr>
          <p:cNvPr id="10" name="Text 8"/>
          <p:cNvSpPr txBox="1"/>
          <p:nvPr/>
        </p:nvSpPr>
        <p:spPr>
          <a:xfrm>
            <a:off x="640080" y="154533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1</a:t>
            </a:r>
            <a:endParaRPr lang="en-US" sz="1050" dirty="0"/>
          </a:p>
        </p:txBody>
      </p:sp>
      <p:sp>
        <p:nvSpPr>
          <p:cNvPr id="11" name="Text 9"/>
          <p:cNvSpPr txBox="1"/>
          <p:nvPr/>
        </p:nvSpPr>
        <p:spPr>
          <a:xfrm>
            <a:off x="1097280" y="154533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12" name="Text 10"/>
          <p:cNvSpPr txBox="1"/>
          <p:nvPr/>
        </p:nvSpPr>
        <p:spPr>
          <a:xfrm>
            <a:off x="2514600" y="1545336"/>
            <a:ext cx="1463040" cy="246888"/>
          </a:xfrm>
          <a:prstGeom prst="rect">
            <a:avLst/>
          </a:prstGeom>
          <a:noFill/>
          <a:ln/>
        </p:spPr>
        <p:txBody>
          <a:bodyPr wrap="square" lIns="0" tIns="0" rIns="0" bIns="0" rtlCol="0" anchor="ctr"/>
          <a:lstStyle/>
          <a:p>
            <a:pPr indent="0" marL="0">
              <a:buNone/>
            </a:pPr>
            <a:endParaRPr lang="en-US" sz="1000" dirty="0"/>
          </a:p>
        </p:txBody>
      </p:sp>
      <p:sp>
        <p:nvSpPr>
          <p:cNvPr id="13" name="Text 11"/>
          <p:cNvSpPr txBox="1"/>
          <p:nvPr/>
        </p:nvSpPr>
        <p:spPr>
          <a:xfrm>
            <a:off x="640080" y="181051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2</a:t>
            </a:r>
            <a:endParaRPr lang="en-US" sz="1050" dirty="0"/>
          </a:p>
        </p:txBody>
      </p:sp>
      <p:sp>
        <p:nvSpPr>
          <p:cNvPr id="14" name="Text 12"/>
          <p:cNvSpPr txBox="1"/>
          <p:nvPr/>
        </p:nvSpPr>
        <p:spPr>
          <a:xfrm>
            <a:off x="1097280" y="1810512"/>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LOAD 0</a:t>
            </a:r>
            <a:endParaRPr lang="en-US" sz="1100" dirty="0"/>
          </a:p>
        </p:txBody>
      </p:sp>
      <p:sp>
        <p:nvSpPr>
          <p:cNvPr id="15" name="Text 13"/>
          <p:cNvSpPr txBox="1"/>
          <p:nvPr/>
        </p:nvSpPr>
        <p:spPr>
          <a:xfrm>
            <a:off x="2514600" y="1810512"/>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 loop head</a:t>
            </a:r>
            <a:endParaRPr lang="en-US" sz="1000" dirty="0"/>
          </a:p>
        </p:txBody>
      </p:sp>
      <p:sp>
        <p:nvSpPr>
          <p:cNvPr id="16" name="Text 14"/>
          <p:cNvSpPr txBox="1"/>
          <p:nvPr/>
        </p:nvSpPr>
        <p:spPr>
          <a:xfrm>
            <a:off x="640080" y="207568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3</a:t>
            </a:r>
            <a:endParaRPr lang="en-US" sz="1050" dirty="0"/>
          </a:p>
        </p:txBody>
      </p:sp>
      <p:sp>
        <p:nvSpPr>
          <p:cNvPr id="17" name="Text 15"/>
          <p:cNvSpPr txBox="1"/>
          <p:nvPr/>
        </p:nvSpPr>
        <p:spPr>
          <a:xfrm>
            <a:off x="1097280" y="207568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10</a:t>
            </a:r>
            <a:endParaRPr lang="en-US" sz="1100" dirty="0"/>
          </a:p>
        </p:txBody>
      </p:sp>
      <p:sp>
        <p:nvSpPr>
          <p:cNvPr id="18" name="Text 16"/>
          <p:cNvSpPr txBox="1"/>
          <p:nvPr/>
        </p:nvSpPr>
        <p:spPr>
          <a:xfrm>
            <a:off x="2514600" y="2075688"/>
            <a:ext cx="1463040" cy="246888"/>
          </a:xfrm>
          <a:prstGeom prst="rect">
            <a:avLst/>
          </a:prstGeom>
          <a:noFill/>
          <a:ln/>
        </p:spPr>
        <p:txBody>
          <a:bodyPr wrap="square" lIns="0" tIns="0" rIns="0" bIns="0" rtlCol="0" anchor="ctr"/>
          <a:lstStyle/>
          <a:p>
            <a:pPr indent="0" marL="0">
              <a:buNone/>
            </a:pPr>
            <a:endParaRPr lang="en-US" sz="1000" dirty="0"/>
          </a:p>
        </p:txBody>
      </p:sp>
      <p:sp>
        <p:nvSpPr>
          <p:cNvPr id="19" name="Text 17"/>
          <p:cNvSpPr txBox="1"/>
          <p:nvPr/>
        </p:nvSpPr>
        <p:spPr>
          <a:xfrm>
            <a:off x="640080" y="234086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4</a:t>
            </a:r>
            <a:endParaRPr lang="en-US" sz="1050" dirty="0"/>
          </a:p>
        </p:txBody>
      </p:sp>
      <p:sp>
        <p:nvSpPr>
          <p:cNvPr id="20" name="Text 18"/>
          <p:cNvSpPr txBox="1"/>
          <p:nvPr/>
        </p:nvSpPr>
        <p:spPr>
          <a:xfrm>
            <a:off x="1097280" y="234086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LT</a:t>
            </a:r>
            <a:endParaRPr lang="en-US" sz="1100" dirty="0"/>
          </a:p>
        </p:txBody>
      </p:sp>
      <p:sp>
        <p:nvSpPr>
          <p:cNvPr id="21" name="Text 19"/>
          <p:cNvSpPr txBox="1"/>
          <p:nvPr/>
        </p:nvSpPr>
        <p:spPr>
          <a:xfrm>
            <a:off x="2514600" y="2340864"/>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&lt; 10 ?</a:t>
            </a:r>
            <a:endParaRPr lang="en-US" sz="1000" dirty="0"/>
          </a:p>
        </p:txBody>
      </p:sp>
      <p:sp>
        <p:nvSpPr>
          <p:cNvPr id="22" name="Text 20"/>
          <p:cNvSpPr txBox="1"/>
          <p:nvPr/>
        </p:nvSpPr>
        <p:spPr>
          <a:xfrm>
            <a:off x="640080" y="260604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5</a:t>
            </a:r>
            <a:endParaRPr lang="en-US" sz="1050" dirty="0"/>
          </a:p>
        </p:txBody>
      </p:sp>
      <p:sp>
        <p:nvSpPr>
          <p:cNvPr id="23" name="Text 21"/>
          <p:cNvSpPr txBox="1"/>
          <p:nvPr/>
        </p:nvSpPr>
        <p:spPr>
          <a:xfrm>
            <a:off x="1097280" y="260604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JZ 11</a:t>
            </a:r>
            <a:endParaRPr lang="en-US" sz="1100" dirty="0"/>
          </a:p>
        </p:txBody>
      </p:sp>
      <p:sp>
        <p:nvSpPr>
          <p:cNvPr id="24" name="Text 22"/>
          <p:cNvSpPr txBox="1"/>
          <p:nvPr/>
        </p:nvSpPr>
        <p:spPr>
          <a:xfrm>
            <a:off x="2514600" y="260604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exit</a:t>
            </a:r>
            <a:endParaRPr lang="en-US" sz="1000" dirty="0"/>
          </a:p>
        </p:txBody>
      </p:sp>
      <p:sp>
        <p:nvSpPr>
          <p:cNvPr id="25" name="Text 23"/>
          <p:cNvSpPr txBox="1"/>
          <p:nvPr/>
        </p:nvSpPr>
        <p:spPr>
          <a:xfrm>
            <a:off x="640080" y="287121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6</a:t>
            </a:r>
            <a:endParaRPr lang="en-US" sz="1050" dirty="0"/>
          </a:p>
        </p:txBody>
      </p:sp>
      <p:sp>
        <p:nvSpPr>
          <p:cNvPr id="26" name="Text 24"/>
          <p:cNvSpPr txBox="1"/>
          <p:nvPr/>
        </p:nvSpPr>
        <p:spPr>
          <a:xfrm>
            <a:off x="1097280" y="287121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0</a:t>
            </a:r>
            <a:endParaRPr lang="en-US" sz="1100" dirty="0"/>
          </a:p>
        </p:txBody>
      </p:sp>
      <p:sp>
        <p:nvSpPr>
          <p:cNvPr id="27" name="Text 25"/>
          <p:cNvSpPr txBox="1"/>
          <p:nvPr/>
        </p:nvSpPr>
        <p:spPr>
          <a:xfrm>
            <a:off x="2514600" y="287121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 i + 1</a:t>
            </a:r>
            <a:endParaRPr lang="en-US" sz="1000" dirty="0"/>
          </a:p>
        </p:txBody>
      </p:sp>
      <p:sp>
        <p:nvSpPr>
          <p:cNvPr id="28" name="Text 26"/>
          <p:cNvSpPr txBox="1"/>
          <p:nvPr/>
        </p:nvSpPr>
        <p:spPr>
          <a:xfrm>
            <a:off x="640080" y="313639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7</a:t>
            </a:r>
            <a:endParaRPr lang="en-US" sz="1050" dirty="0"/>
          </a:p>
        </p:txBody>
      </p:sp>
      <p:sp>
        <p:nvSpPr>
          <p:cNvPr id="29" name="Text 27"/>
          <p:cNvSpPr txBox="1"/>
          <p:nvPr/>
        </p:nvSpPr>
        <p:spPr>
          <a:xfrm>
            <a:off x="1097280" y="313639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1</a:t>
            </a:r>
            <a:endParaRPr lang="en-US" sz="1100" dirty="0"/>
          </a:p>
        </p:txBody>
      </p:sp>
      <p:sp>
        <p:nvSpPr>
          <p:cNvPr id="30" name="Text 28"/>
          <p:cNvSpPr txBox="1"/>
          <p:nvPr/>
        </p:nvSpPr>
        <p:spPr>
          <a:xfrm>
            <a:off x="2514600" y="3136392"/>
            <a:ext cx="1463040" cy="246888"/>
          </a:xfrm>
          <a:prstGeom prst="rect">
            <a:avLst/>
          </a:prstGeom>
          <a:noFill/>
          <a:ln/>
        </p:spPr>
        <p:txBody>
          <a:bodyPr wrap="square" lIns="0" tIns="0" rIns="0" bIns="0" rtlCol="0" anchor="ctr"/>
          <a:lstStyle/>
          <a:p>
            <a:pPr indent="0" marL="0">
              <a:buNone/>
            </a:pPr>
            <a:endParaRPr lang="en-US" sz="1000" dirty="0"/>
          </a:p>
        </p:txBody>
      </p:sp>
      <p:sp>
        <p:nvSpPr>
          <p:cNvPr id="31" name="Text 29"/>
          <p:cNvSpPr txBox="1"/>
          <p:nvPr/>
        </p:nvSpPr>
        <p:spPr>
          <a:xfrm>
            <a:off x="640080" y="340156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8</a:t>
            </a:r>
            <a:endParaRPr lang="en-US" sz="1050" dirty="0"/>
          </a:p>
        </p:txBody>
      </p:sp>
      <p:sp>
        <p:nvSpPr>
          <p:cNvPr id="32" name="Text 30"/>
          <p:cNvSpPr txBox="1"/>
          <p:nvPr/>
        </p:nvSpPr>
        <p:spPr>
          <a:xfrm>
            <a:off x="1097280" y="340156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3" name="Text 31"/>
          <p:cNvSpPr txBox="1"/>
          <p:nvPr/>
        </p:nvSpPr>
        <p:spPr>
          <a:xfrm>
            <a:off x="2514600" y="3401568"/>
            <a:ext cx="1463040" cy="246888"/>
          </a:xfrm>
          <a:prstGeom prst="rect">
            <a:avLst/>
          </a:prstGeom>
          <a:noFill/>
          <a:ln/>
        </p:spPr>
        <p:txBody>
          <a:bodyPr wrap="square" lIns="0" tIns="0" rIns="0" bIns="0" rtlCol="0" anchor="ctr"/>
          <a:lstStyle/>
          <a:p>
            <a:pPr indent="0" marL="0">
              <a:buNone/>
            </a:pPr>
            <a:endParaRPr lang="en-US" sz="1000" dirty="0"/>
          </a:p>
        </p:txBody>
      </p:sp>
      <p:sp>
        <p:nvSpPr>
          <p:cNvPr id="34" name="Text 32"/>
          <p:cNvSpPr txBox="1"/>
          <p:nvPr/>
        </p:nvSpPr>
        <p:spPr>
          <a:xfrm>
            <a:off x="640080" y="366674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9</a:t>
            </a:r>
            <a:endParaRPr lang="en-US" sz="1050" dirty="0"/>
          </a:p>
        </p:txBody>
      </p:sp>
      <p:sp>
        <p:nvSpPr>
          <p:cNvPr id="35" name="Text 33"/>
          <p:cNvSpPr txBox="1"/>
          <p:nvPr/>
        </p:nvSpPr>
        <p:spPr>
          <a:xfrm>
            <a:off x="1097280" y="366674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36" name="Text 34"/>
          <p:cNvSpPr txBox="1"/>
          <p:nvPr/>
        </p:nvSpPr>
        <p:spPr>
          <a:xfrm>
            <a:off x="2514600" y="3666744"/>
            <a:ext cx="1463040" cy="246888"/>
          </a:xfrm>
          <a:prstGeom prst="rect">
            <a:avLst/>
          </a:prstGeom>
          <a:noFill/>
          <a:ln/>
        </p:spPr>
        <p:txBody>
          <a:bodyPr wrap="square" lIns="0" tIns="0" rIns="0" bIns="0" rtlCol="0" anchor="ctr"/>
          <a:lstStyle/>
          <a:p>
            <a:pPr indent="0" marL="0">
              <a:buNone/>
            </a:pPr>
            <a:endParaRPr lang="en-US" sz="1000" dirty="0"/>
          </a:p>
        </p:txBody>
      </p:sp>
      <p:sp>
        <p:nvSpPr>
          <p:cNvPr id="37" name="Text 35"/>
          <p:cNvSpPr txBox="1"/>
          <p:nvPr/>
        </p:nvSpPr>
        <p:spPr>
          <a:xfrm>
            <a:off x="640080" y="393192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10</a:t>
            </a:r>
            <a:endParaRPr lang="en-US" sz="1050" dirty="0"/>
          </a:p>
        </p:txBody>
      </p:sp>
      <p:sp>
        <p:nvSpPr>
          <p:cNvPr id="38" name="Text 36"/>
          <p:cNvSpPr txBox="1"/>
          <p:nvPr/>
        </p:nvSpPr>
        <p:spPr>
          <a:xfrm>
            <a:off x="1097280" y="3931920"/>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JMP 2</a:t>
            </a:r>
            <a:endParaRPr lang="en-US" sz="1100" dirty="0"/>
          </a:p>
        </p:txBody>
      </p:sp>
      <p:sp>
        <p:nvSpPr>
          <p:cNvPr id="39" name="Text 37"/>
          <p:cNvSpPr txBox="1"/>
          <p:nvPr/>
        </p:nvSpPr>
        <p:spPr>
          <a:xfrm>
            <a:off x="2514600" y="3931920"/>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back-edge</a:t>
            </a:r>
            <a:endParaRPr lang="en-US" sz="1000" dirty="0"/>
          </a:p>
        </p:txBody>
      </p:sp>
      <p:sp>
        <p:nvSpPr>
          <p:cNvPr id="40" name="Text 38"/>
          <p:cNvSpPr txBox="1"/>
          <p:nvPr/>
        </p:nvSpPr>
        <p:spPr>
          <a:xfrm>
            <a:off x="640080" y="419709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11</a:t>
            </a:r>
            <a:endParaRPr lang="en-US" sz="1050" dirty="0"/>
          </a:p>
        </p:txBody>
      </p:sp>
      <p:sp>
        <p:nvSpPr>
          <p:cNvPr id="41" name="Text 39"/>
          <p:cNvSpPr txBox="1"/>
          <p:nvPr/>
        </p:nvSpPr>
        <p:spPr>
          <a:xfrm>
            <a:off x="1097280" y="419709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HALT</a:t>
            </a:r>
            <a:endParaRPr lang="en-US" sz="1100" dirty="0"/>
          </a:p>
        </p:txBody>
      </p:sp>
      <p:sp>
        <p:nvSpPr>
          <p:cNvPr id="42" name="Text 40"/>
          <p:cNvSpPr txBox="1"/>
          <p:nvPr/>
        </p:nvSpPr>
        <p:spPr>
          <a:xfrm>
            <a:off x="2514600" y="4197096"/>
            <a:ext cx="1463040" cy="246888"/>
          </a:xfrm>
          <a:prstGeom prst="rect">
            <a:avLst/>
          </a:prstGeom>
          <a:noFill/>
          <a:ln/>
        </p:spPr>
        <p:txBody>
          <a:bodyPr wrap="square" lIns="0" tIns="0" rIns="0" bIns="0" rtlCol="0" anchor="ctr"/>
          <a:lstStyle/>
          <a:p>
            <a:pPr indent="0" marL="0">
              <a:buNone/>
            </a:pPr>
            <a:endParaRPr lang="en-US" sz="1000" dirty="0"/>
          </a:p>
        </p:txBody>
      </p:sp>
      <p:sp>
        <p:nvSpPr>
          <p:cNvPr id="43" name="Shape 41"/>
          <p:cNvSpPr/>
          <p:nvPr/>
        </p:nvSpPr>
        <p:spPr>
          <a:xfrm>
            <a:off x="4480560" y="1188720"/>
            <a:ext cx="457200" cy="457200"/>
          </a:xfrm>
          <a:prstGeom prst="ellipse">
            <a:avLst/>
          </a:prstGeom>
          <a:solidFill>
            <a:srgbClr val="548687"/>
          </a:solidFill>
          <a:ln w="12700">
            <a:solidFill>
              <a:srgbClr val="548687"/>
            </a:solidFill>
            <a:prstDash val="solid"/>
          </a:ln>
        </p:spPr>
      </p:sp>
      <p:sp>
        <p:nvSpPr>
          <p:cNvPr id="44" name="Text 42"/>
          <p:cNvSpPr txBox="1"/>
          <p:nvPr/>
        </p:nvSpPr>
        <p:spPr>
          <a:xfrm>
            <a:off x="4480560"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5" name="Text 43"/>
          <p:cNvSpPr txBox="1"/>
          <p:nvPr/>
        </p:nvSpPr>
        <p:spPr>
          <a:xfrm>
            <a:off x="5120640" y="117043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Count</a:t>
            </a:r>
            <a:endParaRPr lang="en-US" sz="1400" dirty="0"/>
          </a:p>
        </p:txBody>
      </p:sp>
      <p:sp>
        <p:nvSpPr>
          <p:cNvPr id="46" name="Text 44"/>
          <p:cNvSpPr txBox="1"/>
          <p:nvPr/>
        </p:nvSpPr>
        <p:spPr>
          <a:xfrm>
            <a:off x="5120640" y="144475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Every backward jump (JMP to an earlier address) adds 1 to a counter for its target.</a:t>
            </a:r>
            <a:endParaRPr lang="en-US" sz="1150" dirty="0"/>
          </a:p>
        </p:txBody>
      </p:sp>
      <p:sp>
        <p:nvSpPr>
          <p:cNvPr id="47" name="Shape 45"/>
          <p:cNvSpPr/>
          <p:nvPr/>
        </p:nvSpPr>
        <p:spPr>
          <a:xfrm>
            <a:off x="4480560" y="2057400"/>
            <a:ext cx="457200" cy="457200"/>
          </a:xfrm>
          <a:prstGeom prst="ellipse">
            <a:avLst/>
          </a:prstGeom>
          <a:solidFill>
            <a:srgbClr val="548687"/>
          </a:solidFill>
          <a:ln w="12700">
            <a:solidFill>
              <a:srgbClr val="548687"/>
            </a:solidFill>
            <a:prstDash val="solid"/>
          </a:ln>
        </p:spPr>
      </p:sp>
      <p:sp>
        <p:nvSpPr>
          <p:cNvPr id="48" name="Text 46"/>
          <p:cNvSpPr txBox="1"/>
          <p:nvPr/>
        </p:nvSpPr>
        <p:spPr>
          <a:xfrm>
            <a:off x="44805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49" name="Text 47"/>
          <p:cNvSpPr txBox="1"/>
          <p:nvPr/>
        </p:nvSpPr>
        <p:spPr>
          <a:xfrm>
            <a:off x="5120640" y="203911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Flag</a:t>
            </a:r>
            <a:endParaRPr lang="en-US" sz="1400" dirty="0"/>
          </a:p>
        </p:txBody>
      </p:sp>
      <p:sp>
        <p:nvSpPr>
          <p:cNvPr id="50" name="Text 48"/>
          <p:cNvSpPr txBox="1"/>
          <p:nvPr/>
        </p:nvSpPr>
        <p:spPr>
          <a:xfrm>
            <a:off x="5120640" y="231343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When a counter reaches the threshold, that loop head is marked hot.</a:t>
            </a:r>
            <a:endParaRPr lang="en-US" sz="1150" dirty="0"/>
          </a:p>
        </p:txBody>
      </p:sp>
      <p:sp>
        <p:nvSpPr>
          <p:cNvPr id="51" name="Shape 49"/>
          <p:cNvSpPr/>
          <p:nvPr/>
        </p:nvSpPr>
        <p:spPr>
          <a:xfrm>
            <a:off x="4480560" y="2926080"/>
            <a:ext cx="457200" cy="457200"/>
          </a:xfrm>
          <a:prstGeom prst="ellipse">
            <a:avLst/>
          </a:prstGeom>
          <a:solidFill>
            <a:srgbClr val="548687"/>
          </a:solidFill>
          <a:ln w="12700">
            <a:solidFill>
              <a:srgbClr val="548687"/>
            </a:solidFill>
            <a:prstDash val="solid"/>
          </a:ln>
        </p:spPr>
      </p:sp>
      <p:sp>
        <p:nvSpPr>
          <p:cNvPr id="52" name="Text 50"/>
          <p:cNvSpPr txBox="1"/>
          <p:nvPr/>
        </p:nvSpPr>
        <p:spPr>
          <a:xfrm>
            <a:off x="4480560"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3" name="Text 51"/>
          <p:cNvSpPr txBox="1"/>
          <p:nvPr/>
        </p:nvSpPr>
        <p:spPr>
          <a:xfrm>
            <a:off x="5120640" y="290779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Hand off</a:t>
            </a:r>
            <a:endParaRPr lang="en-US" sz="1400" dirty="0"/>
          </a:p>
        </p:txBody>
      </p:sp>
      <p:sp>
        <p:nvSpPr>
          <p:cNvPr id="54" name="Text 52"/>
          <p:cNvSpPr txBox="1"/>
          <p:nvPr/>
        </p:nvSpPr>
        <p:spPr>
          <a:xfrm>
            <a:off x="5120640" y="318211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Hot loops are tier-2 candidates — their field-access sites get compiled.</a:t>
            </a:r>
            <a:endParaRPr lang="en-US" sz="1150" dirty="0"/>
          </a:p>
        </p:txBody>
      </p:sp>
      <p:sp>
        <p:nvSpPr>
          <p:cNvPr id="55" name="Shape 53"/>
          <p:cNvSpPr/>
          <p:nvPr/>
        </p:nvSpPr>
        <p:spPr>
          <a:xfrm>
            <a:off x="4480560" y="3840480"/>
            <a:ext cx="4206240" cy="685800"/>
          </a:xfrm>
          <a:prstGeom prst="roundRect">
            <a:avLst>
              <a:gd name="adj" fmla="val 10667"/>
            </a:avLst>
          </a:prstGeom>
          <a:solidFill>
            <a:srgbClr val="C1EEFF"/>
          </a:solidFill>
          <a:ln w="12700">
            <a:solidFill>
              <a:srgbClr val="C1EEFF"/>
            </a:solidFill>
            <a:prstDash val="solid"/>
          </a:ln>
        </p:spPr>
      </p:sp>
      <p:sp>
        <p:nvSpPr>
          <p:cNvPr id="56" name="Text 54"/>
          <p:cNvSpPr txBox="1"/>
          <p:nvPr/>
        </p:nvSpPr>
        <p:spPr>
          <a:xfrm>
            <a:off x="4663440" y="3840480"/>
            <a:ext cx="3931920" cy="685800"/>
          </a:xfrm>
          <a:prstGeom prst="rect">
            <a:avLst/>
          </a:prstGeom>
          <a:noFill/>
          <a:ln/>
        </p:spPr>
        <p:txBody>
          <a:bodyPr wrap="square" lIns="0" tIns="0" rIns="0" bIns="0" rtlCol="0" anchor="ctr"/>
          <a:lstStyle/>
          <a:p>
            <a:pPr indent="0" marL="0">
              <a:buNone/>
            </a:pPr>
            <a:r>
              <a:rPr lang="en-US" sz="1150" b="1" dirty="0">
                <a:solidFill>
                  <a:srgbClr val="513B3C"/>
                </a:solidFill>
                <a:latin typeface="Calibri" pitchFamily="34" charset="0"/>
                <a:ea typeface="Calibri" pitchFamily="34" charset="-122"/>
                <a:cs typeface="Calibri" pitchFamily="34" charset="-120"/>
              </a:rPr>
              <a:t>TC11: </a:t>
            </a:r>
            <a:pPr indent="0" marL="0">
              <a:buNone/>
            </a:pPr>
            <a:r>
              <a:rPr lang="en-US" sz="1150" dirty="0">
                <a:solidFill>
                  <a:srgbClr val="513B3C"/>
                </a:solidFill>
                <a:latin typeface="Calibri" pitchFamily="34" charset="0"/>
                <a:ea typeface="Calibri" pitchFamily="34" charset="-122"/>
                <a:cs typeface="Calibri" pitchFamily="34" charset="-120"/>
              </a:rPr>
              <a:t>10 back-edges to address 2 → flagged hot (threshold 5 in the model; to become configurable).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9</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Differential testing</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457200" y="1737360"/>
            <a:ext cx="1828800" cy="914400"/>
          </a:xfrm>
          <a:prstGeom prst="roundRect">
            <a:avLst>
              <a:gd name="adj" fmla="val 8000"/>
            </a:avLst>
          </a:prstGeom>
          <a:solidFill>
            <a:srgbClr val="F6E7DB"/>
          </a:solidFill>
          <a:ln w="12700">
            <a:solidFill>
              <a:srgbClr val="F6E7DB"/>
            </a:solidFill>
            <a:prstDash val="solid"/>
          </a:ln>
        </p:spPr>
      </p:sp>
      <p:sp>
        <p:nvSpPr>
          <p:cNvPr id="7" name="Text 5"/>
          <p:cNvSpPr txBox="1"/>
          <p:nvPr/>
        </p:nvSpPr>
        <p:spPr>
          <a:xfrm>
            <a:off x="548640" y="1737360"/>
            <a:ext cx="164592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Workload generator</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mono / poly / mega, fixed seed</a:t>
            </a:r>
            <a:endParaRPr lang="en-US" sz="1200" dirty="0"/>
          </a:p>
        </p:txBody>
      </p:sp>
      <p:sp>
        <p:nvSpPr>
          <p:cNvPr id="8" name="Shape 6"/>
          <p:cNvSpPr/>
          <p:nvPr/>
        </p:nvSpPr>
        <p:spPr>
          <a:xfrm>
            <a:off x="2926080" y="1188720"/>
            <a:ext cx="2011680" cy="731520"/>
          </a:xfrm>
          <a:prstGeom prst="roundRect">
            <a:avLst>
              <a:gd name="adj" fmla="val 10000"/>
            </a:avLst>
          </a:prstGeom>
          <a:solidFill>
            <a:srgbClr val="E6F8FF"/>
          </a:solidFill>
          <a:ln w="12700">
            <a:solidFill>
              <a:srgbClr val="E6F8FF"/>
            </a:solidFill>
            <a:prstDash val="solid"/>
          </a:ln>
        </p:spPr>
      </p:sp>
      <p:sp>
        <p:nvSpPr>
          <p:cNvPr id="9" name="Text 7"/>
          <p:cNvSpPr txBox="1"/>
          <p:nvPr/>
        </p:nvSpPr>
        <p:spPr>
          <a:xfrm>
            <a:off x="2926080" y="1188720"/>
            <a:ext cx="2011680" cy="7315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Baseline interpreter</a:t>
            </a:r>
            <a:endParaRPr lang="en-US" sz="1200" dirty="0"/>
          </a:p>
        </p:txBody>
      </p:sp>
      <p:sp>
        <p:nvSpPr>
          <p:cNvPr id="10" name="Shape 8"/>
          <p:cNvSpPr/>
          <p:nvPr/>
        </p:nvSpPr>
        <p:spPr>
          <a:xfrm>
            <a:off x="2926080" y="2468880"/>
            <a:ext cx="2011680" cy="731520"/>
          </a:xfrm>
          <a:prstGeom prst="roundRect">
            <a:avLst>
              <a:gd name="adj" fmla="val 10000"/>
            </a:avLst>
          </a:prstGeom>
          <a:solidFill>
            <a:srgbClr val="548687"/>
          </a:solidFill>
          <a:ln w="12700">
            <a:solidFill>
              <a:srgbClr val="548687"/>
            </a:solidFill>
            <a:prstDash val="solid"/>
          </a:ln>
        </p:spPr>
      </p:sp>
      <p:sp>
        <p:nvSpPr>
          <p:cNvPr id="11" name="Text 9"/>
          <p:cNvSpPr txBox="1"/>
          <p:nvPr/>
        </p:nvSpPr>
        <p:spPr>
          <a:xfrm>
            <a:off x="2926080" y="2468880"/>
            <a:ext cx="201168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Interpreter + inline cache</a:t>
            </a:r>
            <a:endParaRPr lang="en-US" sz="1200" dirty="0"/>
          </a:p>
        </p:txBody>
      </p:sp>
      <p:sp>
        <p:nvSpPr>
          <p:cNvPr id="12" name="Shape 10"/>
          <p:cNvSpPr/>
          <p:nvPr/>
        </p:nvSpPr>
        <p:spPr>
          <a:xfrm flipV="1">
            <a:off x="2286000" y="1554480"/>
            <a:ext cx="640080" cy="502920"/>
          </a:xfrm>
          <a:prstGeom prst="line">
            <a:avLst/>
          </a:prstGeom>
          <a:noFill/>
          <a:ln w="22225">
            <a:solidFill>
              <a:srgbClr val="7D6A6B"/>
            </a:solidFill>
            <a:prstDash val="solid"/>
            <a:tailEnd type="triangle"/>
          </a:ln>
        </p:spPr>
      </p:sp>
      <p:sp>
        <p:nvSpPr>
          <p:cNvPr id="13" name="Shape 11"/>
          <p:cNvSpPr/>
          <p:nvPr/>
        </p:nvSpPr>
        <p:spPr>
          <a:xfrm>
            <a:off x="2286000" y="2240280"/>
            <a:ext cx="640080" cy="594360"/>
          </a:xfrm>
          <a:prstGeom prst="line">
            <a:avLst/>
          </a:prstGeom>
          <a:noFill/>
          <a:ln w="22225">
            <a:solidFill>
              <a:srgbClr val="7D6A6B"/>
            </a:solidFill>
            <a:prstDash val="solid"/>
            <a:tailEnd type="triangle"/>
          </a:ln>
        </p:spPr>
      </p:sp>
      <p:sp>
        <p:nvSpPr>
          <p:cNvPr id="14" name="Shape 12"/>
          <p:cNvSpPr/>
          <p:nvPr/>
        </p:nvSpPr>
        <p:spPr>
          <a:xfrm>
            <a:off x="5577840" y="1737360"/>
            <a:ext cx="1371600" cy="914400"/>
          </a:xfrm>
          <a:prstGeom prst="roundRect">
            <a:avLst>
              <a:gd name="adj" fmla="val 8000"/>
            </a:avLst>
          </a:prstGeom>
          <a:solidFill>
            <a:srgbClr val="F6E7DB"/>
          </a:solidFill>
          <a:ln w="12700">
            <a:solidFill>
              <a:srgbClr val="F6E7DB"/>
            </a:solidFill>
            <a:prstDash val="solid"/>
          </a:ln>
        </p:spPr>
      </p:sp>
      <p:sp>
        <p:nvSpPr>
          <p:cNvPr id="15" name="Text 13"/>
          <p:cNvSpPr txBox="1"/>
          <p:nvPr/>
        </p:nvSpPr>
        <p:spPr>
          <a:xfrm>
            <a:off x="5577840" y="1737360"/>
            <a:ext cx="137160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Compare</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every output value</a:t>
            </a:r>
            <a:endParaRPr lang="en-US" sz="1200" dirty="0"/>
          </a:p>
        </p:txBody>
      </p:sp>
      <p:sp>
        <p:nvSpPr>
          <p:cNvPr id="16" name="Shape 14"/>
          <p:cNvSpPr/>
          <p:nvPr/>
        </p:nvSpPr>
        <p:spPr>
          <a:xfrm>
            <a:off x="4937760" y="1554480"/>
            <a:ext cx="640080" cy="502920"/>
          </a:xfrm>
          <a:prstGeom prst="line">
            <a:avLst/>
          </a:prstGeom>
          <a:noFill/>
          <a:ln w="22225">
            <a:solidFill>
              <a:srgbClr val="7D6A6B"/>
            </a:solidFill>
            <a:prstDash val="solid"/>
            <a:tailEnd type="triangle"/>
          </a:ln>
        </p:spPr>
      </p:sp>
      <p:sp>
        <p:nvSpPr>
          <p:cNvPr id="17" name="Shape 15"/>
          <p:cNvSpPr/>
          <p:nvPr/>
        </p:nvSpPr>
        <p:spPr>
          <a:xfrm flipV="1">
            <a:off x="4937760" y="2240280"/>
            <a:ext cx="640080" cy="594360"/>
          </a:xfrm>
          <a:prstGeom prst="line">
            <a:avLst/>
          </a:prstGeom>
          <a:noFill/>
          <a:ln w="22225">
            <a:solidFill>
              <a:srgbClr val="7D6A6B"/>
            </a:solidFill>
            <a:prstDash val="solid"/>
            <a:tailEnd type="triangle"/>
          </a:ln>
        </p:spPr>
      </p:sp>
      <p:sp>
        <p:nvSpPr>
          <p:cNvPr id="18" name="Shape 16"/>
          <p:cNvSpPr/>
          <p:nvPr/>
        </p:nvSpPr>
        <p:spPr>
          <a:xfrm>
            <a:off x="7406640" y="1600200"/>
            <a:ext cx="1188720" cy="1188720"/>
          </a:xfrm>
          <a:prstGeom prst="ellipse">
            <a:avLst/>
          </a:prstGeom>
          <a:solidFill>
            <a:srgbClr val="548687"/>
          </a:solidFill>
          <a:ln w="12700">
            <a:solidFill>
              <a:srgbClr val="548687"/>
            </a:solidFill>
            <a:prstDash val="solid"/>
          </a:ln>
        </p:spPr>
      </p:sp>
      <p:sp>
        <p:nvSpPr>
          <p:cNvPr id="19" name="Text 17"/>
          <p:cNvSpPr txBox="1"/>
          <p:nvPr/>
        </p:nvSpPr>
        <p:spPr>
          <a:xfrm>
            <a:off x="7406640" y="16002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0" name="Shape 18"/>
          <p:cNvSpPr/>
          <p:nvPr/>
        </p:nvSpPr>
        <p:spPr>
          <a:xfrm>
            <a:off x="6949440" y="2194560"/>
            <a:ext cx="457200" cy="0"/>
          </a:xfrm>
          <a:prstGeom prst="line">
            <a:avLst/>
          </a:prstGeom>
          <a:noFill/>
          <a:ln w="22225">
            <a:solidFill>
              <a:srgbClr val="7D6A6B"/>
            </a:solidFill>
            <a:prstDash val="solid"/>
            <a:tailEnd type="triangle"/>
          </a:ln>
        </p:spPr>
      </p:sp>
      <p:sp>
        <p:nvSpPr>
          <p:cNvPr id="21" name="Text 19"/>
          <p:cNvSpPr txBox="1"/>
          <p:nvPr/>
        </p:nvSpPr>
        <p:spPr>
          <a:xfrm>
            <a:off x="7178040" y="2834640"/>
            <a:ext cx="1645920" cy="2743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mismatches</a:t>
            </a:r>
            <a:endParaRPr lang="en-US" sz="1200" dirty="0"/>
          </a:p>
        </p:txBody>
      </p:sp>
      <p:sp>
        <p:nvSpPr>
          <p:cNvPr id="22" name="Shape 20"/>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3" name="Text 21"/>
          <p:cNvSpPr txBox="1"/>
          <p:nvPr/>
        </p:nvSpPr>
        <p:spPr>
          <a:xfrm>
            <a:off x="64008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300,000</a:t>
            </a:r>
            <a:endParaRPr lang="en-US" sz="2600" dirty="0"/>
          </a:p>
        </p:txBody>
      </p:sp>
      <p:sp>
        <p:nvSpPr>
          <p:cNvPr id="24" name="Text 22"/>
          <p:cNvSpPr txBox="1"/>
          <p:nvPr/>
        </p:nvSpPr>
        <p:spPr>
          <a:xfrm>
            <a:off x="64008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field accesses compared</a:t>
            </a:r>
            <a:endParaRPr lang="en-US" sz="1200" dirty="0"/>
          </a:p>
        </p:txBody>
      </p:sp>
      <p:sp>
        <p:nvSpPr>
          <p:cNvPr id="25" name="Shape 23"/>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342900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342900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workload types</a:t>
            </a:r>
            <a:endParaRPr lang="en-US" sz="1200" dirty="0"/>
          </a:p>
        </p:txBody>
      </p:sp>
      <p:sp>
        <p:nvSpPr>
          <p:cNvPr id="28" name="Shape 26"/>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29" name="Text 27"/>
          <p:cNvSpPr txBox="1"/>
          <p:nvPr/>
        </p:nvSpPr>
        <p:spPr>
          <a:xfrm>
            <a:off x="621792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17 / 17</a:t>
            </a:r>
            <a:endParaRPr lang="en-US" sz="2600" dirty="0"/>
          </a:p>
        </p:txBody>
      </p:sp>
      <p:sp>
        <p:nvSpPr>
          <p:cNvPr id="30" name="Text 28"/>
          <p:cNvSpPr txBox="1"/>
          <p:nvPr/>
        </p:nvSpPr>
        <p:spPr>
          <a:xfrm>
            <a:off x="621792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TC + IC tests passing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10</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Timeline and milestone status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971550" y="2331720"/>
            <a:ext cx="7200900" cy="0"/>
          </a:xfrm>
          <a:prstGeom prst="line">
            <a:avLst/>
          </a:prstGeom>
          <a:noFill/>
          <a:ln w="25400">
            <a:solidFill>
              <a:srgbClr val="CFC4C4"/>
            </a:solidFill>
            <a:prstDash val="solid"/>
          </a:ln>
        </p:spPr>
      </p:sp>
      <p:sp>
        <p:nvSpPr>
          <p:cNvPr id="7" name="Shape 5"/>
          <p:cNvSpPr/>
          <p:nvPr/>
        </p:nvSpPr>
        <p:spPr>
          <a:xfrm>
            <a:off x="788670" y="2148840"/>
            <a:ext cx="365760" cy="365760"/>
          </a:xfrm>
          <a:prstGeom prst="ellipse">
            <a:avLst/>
          </a:prstGeom>
          <a:solidFill>
            <a:srgbClr val="548687"/>
          </a:solidFill>
          <a:ln w="19050">
            <a:solidFill>
              <a:srgbClr val="548687"/>
            </a:solidFill>
            <a:prstDash val="solid"/>
          </a:ln>
        </p:spPr>
      </p:sp>
      <p:sp>
        <p:nvSpPr>
          <p:cNvPr id="8" name="Text 6"/>
          <p:cNvSpPr txBox="1"/>
          <p:nvPr/>
        </p:nvSpPr>
        <p:spPr>
          <a:xfrm>
            <a:off x="4686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1–2</a:t>
            </a:r>
            <a:endParaRPr lang="en-US" sz="1100" dirty="0"/>
          </a:p>
        </p:txBody>
      </p:sp>
      <p:sp>
        <p:nvSpPr>
          <p:cNvPr id="9" name="Text 7"/>
          <p:cNvSpPr txBox="1"/>
          <p:nvPr/>
        </p:nvSpPr>
        <p:spPr>
          <a:xfrm>
            <a:off x="4594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Bytecode format, VM, CI</a:t>
            </a:r>
            <a:endParaRPr lang="en-US" sz="1000" dirty="0"/>
          </a:p>
        </p:txBody>
      </p:sp>
      <p:sp>
        <p:nvSpPr>
          <p:cNvPr id="10" name="Shape 8"/>
          <p:cNvSpPr/>
          <p:nvPr/>
        </p:nvSpPr>
        <p:spPr>
          <a:xfrm>
            <a:off x="1817370" y="2148840"/>
            <a:ext cx="365760" cy="365760"/>
          </a:xfrm>
          <a:prstGeom prst="ellipse">
            <a:avLst/>
          </a:prstGeom>
          <a:solidFill>
            <a:srgbClr val="548687"/>
          </a:solidFill>
          <a:ln w="19050">
            <a:solidFill>
              <a:srgbClr val="548687"/>
            </a:solidFill>
            <a:prstDash val="solid"/>
          </a:ln>
        </p:spPr>
      </p:sp>
      <p:sp>
        <p:nvSpPr>
          <p:cNvPr id="11" name="Text 9"/>
          <p:cNvSpPr txBox="1"/>
          <p:nvPr/>
        </p:nvSpPr>
        <p:spPr>
          <a:xfrm>
            <a:off x="14973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3</a:t>
            </a:r>
            <a:endParaRPr lang="en-US" sz="1100" dirty="0"/>
          </a:p>
        </p:txBody>
      </p:sp>
      <p:sp>
        <p:nvSpPr>
          <p:cNvPr id="12" name="Text 10"/>
          <p:cNvSpPr txBox="1"/>
          <p:nvPr/>
        </p:nvSpPr>
        <p:spPr>
          <a:xfrm>
            <a:off x="14881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Baseline interpreter · Review 1</a:t>
            </a:r>
            <a:endParaRPr lang="en-US" sz="1000" dirty="0"/>
          </a:p>
        </p:txBody>
      </p:sp>
      <p:sp>
        <p:nvSpPr>
          <p:cNvPr id="13" name="Shape 11"/>
          <p:cNvSpPr/>
          <p:nvPr/>
        </p:nvSpPr>
        <p:spPr>
          <a:xfrm>
            <a:off x="2846070" y="2148840"/>
            <a:ext cx="365760" cy="365760"/>
          </a:xfrm>
          <a:prstGeom prst="ellipse">
            <a:avLst/>
          </a:prstGeom>
          <a:solidFill>
            <a:srgbClr val="548687"/>
          </a:solidFill>
          <a:ln w="19050">
            <a:solidFill>
              <a:srgbClr val="548687"/>
            </a:solidFill>
            <a:prstDash val="solid"/>
          </a:ln>
        </p:spPr>
      </p:sp>
      <p:sp>
        <p:nvSpPr>
          <p:cNvPr id="14" name="Text 12"/>
          <p:cNvSpPr txBox="1"/>
          <p:nvPr/>
        </p:nvSpPr>
        <p:spPr>
          <a:xfrm>
            <a:off x="25260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4–5</a:t>
            </a:r>
            <a:endParaRPr lang="en-US" sz="1100" dirty="0"/>
          </a:p>
        </p:txBody>
      </p:sp>
      <p:sp>
        <p:nvSpPr>
          <p:cNvPr id="15" name="Text 13"/>
          <p:cNvSpPr txBox="1"/>
          <p:nvPr/>
        </p:nvSpPr>
        <p:spPr>
          <a:xfrm>
            <a:off x="25168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IC state machine design (M1)</a:t>
            </a:r>
            <a:endParaRPr lang="en-US" sz="1000" dirty="0"/>
          </a:p>
        </p:txBody>
      </p:sp>
      <p:sp>
        <p:nvSpPr>
          <p:cNvPr id="16" name="Shape 14"/>
          <p:cNvSpPr/>
          <p:nvPr/>
        </p:nvSpPr>
        <p:spPr>
          <a:xfrm>
            <a:off x="3874770" y="2148840"/>
            <a:ext cx="365760" cy="365760"/>
          </a:xfrm>
          <a:prstGeom prst="ellipse">
            <a:avLst/>
          </a:prstGeom>
          <a:solidFill>
            <a:srgbClr val="548687"/>
          </a:solidFill>
          <a:ln w="19050">
            <a:solidFill>
              <a:srgbClr val="548687"/>
            </a:solidFill>
            <a:prstDash val="solid"/>
          </a:ln>
        </p:spPr>
      </p:sp>
      <p:sp>
        <p:nvSpPr>
          <p:cNvPr id="17" name="Text 15"/>
          <p:cNvSpPr txBox="1"/>
          <p:nvPr/>
        </p:nvSpPr>
        <p:spPr>
          <a:xfrm>
            <a:off x="35547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6–7</a:t>
            </a:r>
            <a:endParaRPr lang="en-US" sz="1100" dirty="0"/>
          </a:p>
        </p:txBody>
      </p:sp>
      <p:sp>
        <p:nvSpPr>
          <p:cNvPr id="18" name="Text 16"/>
          <p:cNvSpPr txBox="1"/>
          <p:nvPr/>
        </p:nvSpPr>
        <p:spPr>
          <a:xfrm>
            <a:off x="35455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Profiling + IC integrated (M2)</a:t>
            </a:r>
            <a:endParaRPr lang="en-US" sz="1000" dirty="0"/>
          </a:p>
        </p:txBody>
      </p:sp>
      <p:sp>
        <p:nvSpPr>
          <p:cNvPr id="19" name="Shape 17"/>
          <p:cNvSpPr/>
          <p:nvPr/>
        </p:nvSpPr>
        <p:spPr>
          <a:xfrm>
            <a:off x="4903470" y="2148840"/>
            <a:ext cx="365760" cy="365760"/>
          </a:xfrm>
          <a:prstGeom prst="ellipse">
            <a:avLst/>
          </a:prstGeom>
          <a:solidFill>
            <a:srgbClr val="E1B07E"/>
          </a:solidFill>
          <a:ln w="19050">
            <a:solidFill>
              <a:srgbClr val="E1B07E"/>
            </a:solidFill>
            <a:prstDash val="solid"/>
          </a:ln>
        </p:spPr>
      </p:sp>
      <p:sp>
        <p:nvSpPr>
          <p:cNvPr id="20" name="Text 18"/>
          <p:cNvSpPr txBox="1"/>
          <p:nvPr/>
        </p:nvSpPr>
        <p:spPr>
          <a:xfrm>
            <a:off x="45834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8–9</a:t>
            </a:r>
            <a:endParaRPr lang="en-US" sz="1100" dirty="0"/>
          </a:p>
        </p:txBody>
      </p:sp>
      <p:sp>
        <p:nvSpPr>
          <p:cNvPr id="21" name="Text 19"/>
          <p:cNvSpPr txBox="1"/>
          <p:nvPr/>
        </p:nvSpPr>
        <p:spPr>
          <a:xfrm>
            <a:off x="45742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Tier-2 mono path + deopt (M3)</a:t>
            </a:r>
            <a:endParaRPr lang="en-US" sz="1000" dirty="0"/>
          </a:p>
        </p:txBody>
      </p:sp>
      <p:sp>
        <p:nvSpPr>
          <p:cNvPr id="22" name="Shape 20"/>
          <p:cNvSpPr/>
          <p:nvPr/>
        </p:nvSpPr>
        <p:spPr>
          <a:xfrm>
            <a:off x="5932170" y="2148840"/>
            <a:ext cx="365760" cy="365760"/>
          </a:xfrm>
          <a:prstGeom prst="ellipse">
            <a:avLst/>
          </a:prstGeom>
          <a:solidFill>
            <a:srgbClr val="513B3C"/>
          </a:solidFill>
          <a:ln w="19050">
            <a:solidFill>
              <a:srgbClr val="513B3C"/>
            </a:solidFill>
            <a:prstDash val="solid"/>
          </a:ln>
        </p:spPr>
      </p:sp>
      <p:sp>
        <p:nvSpPr>
          <p:cNvPr id="23" name="Text 21"/>
          <p:cNvSpPr txBox="1"/>
          <p:nvPr/>
        </p:nvSpPr>
        <p:spPr>
          <a:xfrm>
            <a:off x="56121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10</a:t>
            </a:r>
            <a:endParaRPr lang="en-US" sz="1100" dirty="0"/>
          </a:p>
        </p:txBody>
      </p:sp>
      <p:sp>
        <p:nvSpPr>
          <p:cNvPr id="24" name="Text 22"/>
          <p:cNvSpPr txBox="1"/>
          <p:nvPr/>
        </p:nvSpPr>
        <p:spPr>
          <a:xfrm>
            <a:off x="56029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Workloads expanded · Review 2</a:t>
            </a:r>
            <a:endParaRPr lang="en-US" sz="1000" dirty="0"/>
          </a:p>
        </p:txBody>
      </p:sp>
      <p:sp>
        <p:nvSpPr>
          <p:cNvPr id="25" name="Shape 23"/>
          <p:cNvSpPr/>
          <p:nvPr/>
        </p:nvSpPr>
        <p:spPr>
          <a:xfrm>
            <a:off x="6960870" y="2148840"/>
            <a:ext cx="365760" cy="365760"/>
          </a:xfrm>
          <a:prstGeom prst="ellipse">
            <a:avLst/>
          </a:prstGeom>
          <a:solidFill>
            <a:srgbClr val="FFFFFF"/>
          </a:solidFill>
          <a:ln w="19050">
            <a:solidFill>
              <a:srgbClr val="7D6A6B"/>
            </a:solidFill>
            <a:prstDash val="solid"/>
          </a:ln>
        </p:spPr>
      </p:sp>
      <p:sp>
        <p:nvSpPr>
          <p:cNvPr id="26" name="Text 24"/>
          <p:cNvSpPr txBox="1"/>
          <p:nvPr/>
        </p:nvSpPr>
        <p:spPr>
          <a:xfrm>
            <a:off x="66408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11</a:t>
            </a:r>
            <a:endParaRPr lang="en-US" sz="1100" dirty="0"/>
          </a:p>
        </p:txBody>
      </p:sp>
      <p:sp>
        <p:nvSpPr>
          <p:cNvPr id="27" name="Text 25"/>
          <p:cNvSpPr txBox="1"/>
          <p:nvPr/>
        </p:nvSpPr>
        <p:spPr>
          <a:xfrm>
            <a:off x="66316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Full integration &amp; tuning</a:t>
            </a:r>
            <a:endParaRPr lang="en-US" sz="1000" dirty="0"/>
          </a:p>
        </p:txBody>
      </p:sp>
      <p:sp>
        <p:nvSpPr>
          <p:cNvPr id="28" name="Shape 26"/>
          <p:cNvSpPr/>
          <p:nvPr/>
        </p:nvSpPr>
        <p:spPr>
          <a:xfrm>
            <a:off x="7989570" y="2148840"/>
            <a:ext cx="365760" cy="365760"/>
          </a:xfrm>
          <a:prstGeom prst="ellipse">
            <a:avLst/>
          </a:prstGeom>
          <a:solidFill>
            <a:srgbClr val="FFFFFF"/>
          </a:solidFill>
          <a:ln w="19050">
            <a:solidFill>
              <a:srgbClr val="7D6A6B"/>
            </a:solidFill>
            <a:prstDash val="solid"/>
          </a:ln>
        </p:spPr>
      </p:sp>
      <p:sp>
        <p:nvSpPr>
          <p:cNvPr id="29" name="Text 27"/>
          <p:cNvSpPr txBox="1"/>
          <p:nvPr/>
        </p:nvSpPr>
        <p:spPr>
          <a:xfrm>
            <a:off x="76695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12</a:t>
            </a:r>
            <a:endParaRPr lang="en-US" sz="1100" dirty="0"/>
          </a:p>
        </p:txBody>
      </p:sp>
      <p:sp>
        <p:nvSpPr>
          <p:cNvPr id="30" name="Text 28"/>
          <p:cNvSpPr txBox="1"/>
          <p:nvPr/>
        </p:nvSpPr>
        <p:spPr>
          <a:xfrm>
            <a:off x="76603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Final results &amp; report (M4)</a:t>
            </a:r>
            <a:endParaRPr lang="en-US" sz="1000" dirty="0"/>
          </a:p>
        </p:txBody>
      </p:sp>
      <p:sp>
        <p:nvSpPr>
          <p:cNvPr id="31" name="Shape 29"/>
          <p:cNvSpPr/>
          <p:nvPr/>
        </p:nvSpPr>
        <p:spPr>
          <a:xfrm>
            <a:off x="457200" y="3749040"/>
            <a:ext cx="201168" cy="201168"/>
          </a:xfrm>
          <a:prstGeom prst="ellipse">
            <a:avLst/>
          </a:prstGeom>
          <a:solidFill>
            <a:srgbClr val="548687"/>
          </a:solidFill>
          <a:ln w="12700">
            <a:solidFill>
              <a:srgbClr val="548687"/>
            </a:solidFill>
            <a:prstDash val="solid"/>
          </a:ln>
        </p:spPr>
      </p:sp>
      <p:sp>
        <p:nvSpPr>
          <p:cNvPr id="32" name="Text 30"/>
          <p:cNvSpPr txBox="1"/>
          <p:nvPr/>
        </p:nvSpPr>
        <p:spPr>
          <a:xfrm>
            <a:off x="73152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Complete</a:t>
            </a:r>
            <a:endParaRPr lang="en-US" sz="1100" dirty="0"/>
          </a:p>
        </p:txBody>
      </p:sp>
      <p:sp>
        <p:nvSpPr>
          <p:cNvPr id="33" name="Shape 31"/>
          <p:cNvSpPr/>
          <p:nvPr/>
        </p:nvSpPr>
        <p:spPr>
          <a:xfrm>
            <a:off x="2011680" y="3749040"/>
            <a:ext cx="201168" cy="201168"/>
          </a:xfrm>
          <a:prstGeom prst="ellipse">
            <a:avLst/>
          </a:prstGeom>
          <a:solidFill>
            <a:srgbClr val="E1B07E"/>
          </a:solidFill>
          <a:ln w="12700">
            <a:solidFill>
              <a:srgbClr val="E1B07E"/>
            </a:solidFill>
            <a:prstDash val="solid"/>
          </a:ln>
        </p:spPr>
      </p:sp>
      <p:sp>
        <p:nvSpPr>
          <p:cNvPr id="34" name="Text 32"/>
          <p:cNvSpPr txBox="1"/>
          <p:nvPr/>
        </p:nvSpPr>
        <p:spPr>
          <a:xfrm>
            <a:off x="228600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In progress</a:t>
            </a:r>
            <a:endParaRPr lang="en-US" sz="1100" dirty="0"/>
          </a:p>
        </p:txBody>
      </p:sp>
      <p:sp>
        <p:nvSpPr>
          <p:cNvPr id="35" name="Shape 33"/>
          <p:cNvSpPr/>
          <p:nvPr/>
        </p:nvSpPr>
        <p:spPr>
          <a:xfrm>
            <a:off x="3566160" y="3749040"/>
            <a:ext cx="201168" cy="201168"/>
          </a:xfrm>
          <a:prstGeom prst="ellipse">
            <a:avLst/>
          </a:prstGeom>
          <a:solidFill>
            <a:srgbClr val="513B3C"/>
          </a:solidFill>
          <a:ln w="12700">
            <a:solidFill>
              <a:srgbClr val="513B3C"/>
            </a:solidFill>
            <a:prstDash val="solid"/>
          </a:ln>
        </p:spPr>
      </p:sp>
      <p:sp>
        <p:nvSpPr>
          <p:cNvPr id="36" name="Text 34"/>
          <p:cNvSpPr txBox="1"/>
          <p:nvPr/>
        </p:nvSpPr>
        <p:spPr>
          <a:xfrm>
            <a:off x="384048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We are here</a:t>
            </a:r>
            <a:endParaRPr lang="en-US" sz="1100" dirty="0"/>
          </a:p>
        </p:txBody>
      </p:sp>
      <p:sp>
        <p:nvSpPr>
          <p:cNvPr id="37" name="Shape 35"/>
          <p:cNvSpPr/>
          <p:nvPr/>
        </p:nvSpPr>
        <p:spPr>
          <a:xfrm>
            <a:off x="5120640" y="3749040"/>
            <a:ext cx="201168" cy="201168"/>
          </a:xfrm>
          <a:prstGeom prst="ellipse">
            <a:avLst/>
          </a:prstGeom>
          <a:solidFill>
            <a:srgbClr val="FFFFFF"/>
          </a:solidFill>
          <a:ln w="12700">
            <a:solidFill>
              <a:srgbClr val="7D6A6B"/>
            </a:solidFill>
            <a:prstDash val="solid"/>
          </a:ln>
        </p:spPr>
      </p:sp>
      <p:sp>
        <p:nvSpPr>
          <p:cNvPr id="38" name="Text 36"/>
          <p:cNvSpPr txBox="1"/>
          <p:nvPr/>
        </p:nvSpPr>
        <p:spPr>
          <a:xfrm>
            <a:off x="539496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Planned</a:t>
            </a:r>
            <a:endParaRPr lang="en-US" sz="1100" dirty="0"/>
          </a:p>
        </p:txBody>
      </p:sp>
      <p:sp>
        <p:nvSpPr>
          <p:cNvPr id="39" name="Shape 37"/>
          <p:cNvSpPr/>
          <p:nvPr/>
        </p:nvSpPr>
        <p:spPr>
          <a:xfrm>
            <a:off x="457200" y="4160520"/>
            <a:ext cx="8229600" cy="457200"/>
          </a:xfrm>
          <a:prstGeom prst="roundRect">
            <a:avLst>
              <a:gd name="adj" fmla="val 16000"/>
            </a:avLst>
          </a:prstGeom>
          <a:solidFill>
            <a:srgbClr val="F6E7DB"/>
          </a:solidFill>
          <a:ln w="12700">
            <a:solidFill>
              <a:srgbClr val="F6E7DB"/>
            </a:solidFill>
            <a:prstDash val="solid"/>
          </a:ln>
        </p:spPr>
      </p:sp>
      <p:sp>
        <p:nvSpPr>
          <p:cNvPr id="40" name="Text 38"/>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M1 and M2 are complete. M3 (tier-2 with deopt) is slightly behind — Ehsan covers the plan to catch up.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03</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Mayan Manit</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Inline Cache Integration &amp; Hit Rate</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The inline-cache state machine</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Measured hit rates</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Preliminary performance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The inline-cache state machine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sp>
        <p:nvSpPr>
          <p:cNvPr id="6" name="Text 4"/>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250" i="1" dirty="0">
                <a:solidFill>
                  <a:srgbClr val="7D6A6B"/>
                </a:solidFill>
                <a:latin typeface="Calibri" pitchFamily="34" charset="0"/>
                <a:ea typeface="Calibri" pitchFamily="34" charset="-122"/>
                <a:cs typeface="Calibri" pitchFamily="34" charset="-120"/>
              </a:rPr>
              <a:t>Each GETFIELD site remembers “objects of shape S keep field x at slot k” — so it can skip scanning all field names.</a:t>
            </a:r>
            <a:endParaRPr lang="en-US" sz="1250" dirty="0"/>
          </a:p>
        </p:txBody>
      </p:sp>
      <p:sp>
        <p:nvSpPr>
          <p:cNvPr id="7" name="Shape 5"/>
          <p:cNvSpPr/>
          <p:nvPr/>
        </p:nvSpPr>
        <p:spPr>
          <a:xfrm>
            <a:off x="685800" y="1508760"/>
            <a:ext cx="1097280" cy="1097280"/>
          </a:xfrm>
          <a:prstGeom prst="ellipse">
            <a:avLst/>
          </a:prstGeom>
          <a:solidFill>
            <a:srgbClr val="C1EEFF"/>
          </a:solidFill>
          <a:ln w="12700">
            <a:solidFill>
              <a:srgbClr val="C1EEFF"/>
            </a:solidFill>
            <a:prstDash val="solid"/>
          </a:ln>
        </p:spPr>
      </p:sp>
      <p:sp>
        <p:nvSpPr>
          <p:cNvPr id="8" name="Text 6"/>
          <p:cNvSpPr txBox="1"/>
          <p:nvPr/>
        </p:nvSpPr>
        <p:spPr>
          <a:xfrm>
            <a:off x="685800" y="1508760"/>
            <a:ext cx="1097280" cy="1097280"/>
          </a:xfrm>
          <a:prstGeom prst="rect">
            <a:avLst/>
          </a:prstGeom>
          <a:noFill/>
          <a:ln/>
        </p:spPr>
        <p:txBody>
          <a:bodyPr wrap="square" lIns="0" tIns="0" rIns="0" bIns="0" rtlCol="0" anchor="ctr"/>
          <a:lstStyle/>
          <a:p>
            <a:pPr algn="ctr" indent="0" marL="0">
              <a:buNone/>
            </a:pPr>
            <a:r>
              <a:rPr lang="en-US" sz="1300" b="1" dirty="0">
                <a:solidFill>
                  <a:srgbClr val="513B3C"/>
                </a:solidFill>
                <a:latin typeface="Cambria" pitchFamily="34" charset="0"/>
                <a:ea typeface="Cambria" pitchFamily="34" charset="-122"/>
                <a:cs typeface="Cambria" pitchFamily="34" charset="-120"/>
              </a:rPr>
              <a:t>UNINIT</a:t>
            </a:r>
            <a:endParaRPr lang="en-US" sz="1300" dirty="0"/>
          </a:p>
        </p:txBody>
      </p:sp>
      <p:sp>
        <p:nvSpPr>
          <p:cNvPr id="9" name="Text 7"/>
          <p:cNvSpPr txBox="1"/>
          <p:nvPr/>
        </p:nvSpPr>
        <p:spPr>
          <a:xfrm>
            <a:off x="36576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Never executed</a:t>
            </a:r>
            <a:endParaRPr lang="en-US" sz="1100" dirty="0"/>
          </a:p>
        </p:txBody>
      </p:sp>
      <p:sp>
        <p:nvSpPr>
          <p:cNvPr id="10" name="Shape 8"/>
          <p:cNvSpPr/>
          <p:nvPr/>
        </p:nvSpPr>
        <p:spPr>
          <a:xfrm>
            <a:off x="1828800" y="2057400"/>
            <a:ext cx="914400" cy="0"/>
          </a:xfrm>
          <a:prstGeom prst="line">
            <a:avLst/>
          </a:prstGeom>
          <a:noFill/>
          <a:ln w="22225">
            <a:solidFill>
              <a:srgbClr val="7D6A6B"/>
            </a:solidFill>
            <a:prstDash val="solid"/>
            <a:tailEnd type="triangle"/>
          </a:ln>
        </p:spPr>
      </p:sp>
      <p:sp>
        <p:nvSpPr>
          <p:cNvPr id="11" name="Text 9"/>
          <p:cNvSpPr txBox="1"/>
          <p:nvPr/>
        </p:nvSpPr>
        <p:spPr>
          <a:xfrm>
            <a:off x="178308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1st shape</a:t>
            </a:r>
            <a:endParaRPr lang="en-US" sz="1000" dirty="0"/>
          </a:p>
        </p:txBody>
      </p:sp>
      <p:sp>
        <p:nvSpPr>
          <p:cNvPr id="12" name="Shape 10"/>
          <p:cNvSpPr/>
          <p:nvPr/>
        </p:nvSpPr>
        <p:spPr>
          <a:xfrm>
            <a:off x="2788920" y="1508760"/>
            <a:ext cx="1097280" cy="1097280"/>
          </a:xfrm>
          <a:prstGeom prst="ellipse">
            <a:avLst/>
          </a:prstGeom>
          <a:solidFill>
            <a:srgbClr val="548687"/>
          </a:solidFill>
          <a:ln w="12700">
            <a:solidFill>
              <a:srgbClr val="548687"/>
            </a:solidFill>
            <a:prstDash val="solid"/>
          </a:ln>
        </p:spPr>
      </p:sp>
      <p:sp>
        <p:nvSpPr>
          <p:cNvPr id="13" name="Text 11"/>
          <p:cNvSpPr txBox="1"/>
          <p:nvPr/>
        </p:nvSpPr>
        <p:spPr>
          <a:xfrm>
            <a:off x="2788920" y="1508760"/>
            <a:ext cx="10972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MONO</a:t>
            </a:r>
            <a:endParaRPr lang="en-US" sz="1300" dirty="0"/>
          </a:p>
        </p:txBody>
      </p:sp>
      <p:sp>
        <p:nvSpPr>
          <p:cNvPr id="14" name="Text 12"/>
          <p:cNvSpPr txBox="1"/>
          <p:nvPr/>
        </p:nvSpPr>
        <p:spPr>
          <a:xfrm>
            <a:off x="246888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1 shape: one check, direct read</a:t>
            </a:r>
            <a:endParaRPr lang="en-US" sz="1100" dirty="0"/>
          </a:p>
        </p:txBody>
      </p:sp>
      <p:sp>
        <p:nvSpPr>
          <p:cNvPr id="15" name="Shape 13"/>
          <p:cNvSpPr/>
          <p:nvPr/>
        </p:nvSpPr>
        <p:spPr>
          <a:xfrm>
            <a:off x="3931920" y="2057400"/>
            <a:ext cx="914400" cy="0"/>
          </a:xfrm>
          <a:prstGeom prst="line">
            <a:avLst/>
          </a:prstGeom>
          <a:noFill/>
          <a:ln w="22225">
            <a:solidFill>
              <a:srgbClr val="7D6A6B"/>
            </a:solidFill>
            <a:prstDash val="solid"/>
            <a:tailEnd type="triangle"/>
          </a:ln>
        </p:spPr>
      </p:sp>
      <p:sp>
        <p:nvSpPr>
          <p:cNvPr id="16" name="Text 14"/>
          <p:cNvSpPr txBox="1"/>
          <p:nvPr/>
        </p:nvSpPr>
        <p:spPr>
          <a:xfrm>
            <a:off x="388620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new shape</a:t>
            </a:r>
            <a:endParaRPr lang="en-US" sz="1000" dirty="0"/>
          </a:p>
        </p:txBody>
      </p:sp>
      <p:sp>
        <p:nvSpPr>
          <p:cNvPr id="17" name="Shape 15"/>
          <p:cNvSpPr/>
          <p:nvPr/>
        </p:nvSpPr>
        <p:spPr>
          <a:xfrm>
            <a:off x="4892040" y="1508760"/>
            <a:ext cx="1097280" cy="1097280"/>
          </a:xfrm>
          <a:prstGeom prst="ellipse">
            <a:avLst/>
          </a:prstGeom>
          <a:solidFill>
            <a:srgbClr val="E1B07E"/>
          </a:solidFill>
          <a:ln w="12700">
            <a:solidFill>
              <a:srgbClr val="E1B07E"/>
            </a:solidFill>
            <a:prstDash val="solid"/>
          </a:ln>
        </p:spPr>
      </p:sp>
      <p:sp>
        <p:nvSpPr>
          <p:cNvPr id="18" name="Text 16"/>
          <p:cNvSpPr txBox="1"/>
          <p:nvPr/>
        </p:nvSpPr>
        <p:spPr>
          <a:xfrm>
            <a:off x="4892040" y="1508760"/>
            <a:ext cx="1097280" cy="1097280"/>
          </a:xfrm>
          <a:prstGeom prst="rect">
            <a:avLst/>
          </a:prstGeom>
          <a:noFill/>
          <a:ln/>
        </p:spPr>
        <p:txBody>
          <a:bodyPr wrap="square" lIns="0" tIns="0" rIns="0" bIns="0" rtlCol="0" anchor="ctr"/>
          <a:lstStyle/>
          <a:p>
            <a:pPr algn="ctr" indent="0" marL="0">
              <a:buNone/>
            </a:pPr>
            <a:r>
              <a:rPr lang="en-US" sz="1300" b="1" dirty="0">
                <a:solidFill>
                  <a:srgbClr val="513B3C"/>
                </a:solidFill>
                <a:latin typeface="Cambria" pitchFamily="34" charset="0"/>
                <a:ea typeface="Cambria" pitchFamily="34" charset="-122"/>
                <a:cs typeface="Cambria" pitchFamily="34" charset="-120"/>
              </a:rPr>
              <a:t>POLY</a:t>
            </a:r>
            <a:endParaRPr lang="en-US" sz="1300" dirty="0"/>
          </a:p>
        </p:txBody>
      </p:sp>
      <p:sp>
        <p:nvSpPr>
          <p:cNvPr id="19" name="Text 17"/>
          <p:cNvSpPr txBox="1"/>
          <p:nvPr/>
        </p:nvSpPr>
        <p:spPr>
          <a:xfrm>
            <a:off x="457200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2–4 shapes: short list of checks</a:t>
            </a:r>
            <a:endParaRPr lang="en-US" sz="1100" dirty="0"/>
          </a:p>
        </p:txBody>
      </p:sp>
      <p:sp>
        <p:nvSpPr>
          <p:cNvPr id="20" name="Shape 18"/>
          <p:cNvSpPr/>
          <p:nvPr/>
        </p:nvSpPr>
        <p:spPr>
          <a:xfrm>
            <a:off x="6035040" y="2057400"/>
            <a:ext cx="914400" cy="0"/>
          </a:xfrm>
          <a:prstGeom prst="line">
            <a:avLst/>
          </a:prstGeom>
          <a:noFill/>
          <a:ln w="22225">
            <a:solidFill>
              <a:srgbClr val="7D6A6B"/>
            </a:solidFill>
            <a:prstDash val="solid"/>
            <a:tailEnd type="triangle"/>
          </a:ln>
        </p:spPr>
      </p:sp>
      <p:sp>
        <p:nvSpPr>
          <p:cNvPr id="21" name="Text 19"/>
          <p:cNvSpPr txBox="1"/>
          <p:nvPr/>
        </p:nvSpPr>
        <p:spPr>
          <a:xfrm>
            <a:off x="598932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5th shape</a:t>
            </a:r>
            <a:endParaRPr lang="en-US" sz="1000" dirty="0"/>
          </a:p>
        </p:txBody>
      </p:sp>
      <p:sp>
        <p:nvSpPr>
          <p:cNvPr id="22" name="Shape 20"/>
          <p:cNvSpPr/>
          <p:nvPr/>
        </p:nvSpPr>
        <p:spPr>
          <a:xfrm>
            <a:off x="6995160" y="1508760"/>
            <a:ext cx="1097280" cy="1097280"/>
          </a:xfrm>
          <a:prstGeom prst="ellipse">
            <a:avLst/>
          </a:prstGeom>
          <a:solidFill>
            <a:srgbClr val="513B3C"/>
          </a:solidFill>
          <a:ln w="12700">
            <a:solidFill>
              <a:srgbClr val="513B3C"/>
            </a:solidFill>
            <a:prstDash val="solid"/>
          </a:ln>
        </p:spPr>
      </p:sp>
      <p:sp>
        <p:nvSpPr>
          <p:cNvPr id="23" name="Text 21"/>
          <p:cNvSpPr txBox="1"/>
          <p:nvPr/>
        </p:nvSpPr>
        <p:spPr>
          <a:xfrm>
            <a:off x="6995160" y="1508760"/>
            <a:ext cx="10972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MEGA</a:t>
            </a:r>
            <a:endParaRPr lang="en-US" sz="1300" dirty="0"/>
          </a:p>
        </p:txBody>
      </p:sp>
      <p:sp>
        <p:nvSpPr>
          <p:cNvPr id="24" name="Text 22"/>
          <p:cNvSpPr txBox="1"/>
          <p:nvPr/>
        </p:nvSpPr>
        <p:spPr>
          <a:xfrm>
            <a:off x="667512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5+ shapes: 4-slot shared table, FIFO eviction</a:t>
            </a:r>
            <a:endParaRPr lang="en-US" sz="1100" dirty="0"/>
          </a:p>
        </p:txBody>
      </p:sp>
      <p:sp>
        <p:nvSpPr>
          <p:cNvPr id="25" name="Shape 23"/>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64008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IC1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27" name="Text 25"/>
          <p:cNvSpPr txBox="1"/>
          <p:nvPr/>
        </p:nvSpPr>
        <p:spPr>
          <a:xfrm>
            <a:off x="64008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1 shape → MONO</a:t>
            </a:r>
            <a:endParaRPr lang="en-US" sz="1200" dirty="0"/>
          </a:p>
        </p:txBody>
      </p:sp>
      <p:sp>
        <p:nvSpPr>
          <p:cNvPr id="28" name="Text 26"/>
          <p:cNvSpPr txBox="1"/>
          <p:nvPr/>
        </p:nvSpPr>
        <p:spPr>
          <a:xfrm>
            <a:off x="64008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1 miss in 1,000</a:t>
            </a:r>
            <a:endParaRPr lang="en-US" sz="1100" dirty="0"/>
          </a:p>
        </p:txBody>
      </p:sp>
      <p:sp>
        <p:nvSpPr>
          <p:cNvPr id="29" name="Shape 27"/>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30" name="Text 28"/>
          <p:cNvSpPr txBox="1"/>
          <p:nvPr/>
        </p:nvSpPr>
        <p:spPr>
          <a:xfrm>
            <a:off x="342900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IC2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31" name="Text 29"/>
          <p:cNvSpPr txBox="1"/>
          <p:nvPr/>
        </p:nvSpPr>
        <p:spPr>
          <a:xfrm>
            <a:off x="342900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3 shapes → POLY</a:t>
            </a:r>
            <a:endParaRPr lang="en-US" sz="1200" dirty="0"/>
          </a:p>
        </p:txBody>
      </p:sp>
      <p:sp>
        <p:nvSpPr>
          <p:cNvPr id="32" name="Text 30"/>
          <p:cNvSpPr txBox="1"/>
          <p:nvPr/>
        </p:nvSpPr>
        <p:spPr>
          <a:xfrm>
            <a:off x="342900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3 misses in 1,000</a:t>
            </a:r>
            <a:endParaRPr lang="en-US" sz="1100" dirty="0"/>
          </a:p>
        </p:txBody>
      </p:sp>
      <p:sp>
        <p:nvSpPr>
          <p:cNvPr id="33" name="Shape 31"/>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34" name="Text 32"/>
          <p:cNvSpPr txBox="1"/>
          <p:nvPr/>
        </p:nvSpPr>
        <p:spPr>
          <a:xfrm>
            <a:off x="621792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IC3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35" name="Text 33"/>
          <p:cNvSpPr txBox="1"/>
          <p:nvPr/>
        </p:nvSpPr>
        <p:spPr>
          <a:xfrm>
            <a:off x="621792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8 shapes → MEGA</a:t>
            </a:r>
            <a:endParaRPr lang="en-US" sz="1200" dirty="0"/>
          </a:p>
        </p:txBody>
      </p:sp>
      <p:sp>
        <p:nvSpPr>
          <p:cNvPr id="36" name="Text 34"/>
          <p:cNvSpPr txBox="1"/>
          <p:nvPr/>
        </p:nvSpPr>
        <p:spPr>
          <a:xfrm>
            <a:off x="621792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correct, 0 mismatches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13</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Measured cache hit rate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graphicFrame>
        <p:nvGraphicFramePr>
          <p:cNvPr id="6" name="Chart 0" descr=""/>
          <p:cNvGraphicFramePr/>
          <p:nvPr/>
        </p:nvGraphicFramePr>
        <p:xfrm>
          <a:off x="365760" y="1051560"/>
          <a:ext cx="47548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3291840" cy="914400"/>
        </p:xfrm>
        <a:graphic>
          <a:graphicData uri="http://schemas.openxmlformats.org/drawingml/2006/table">
            <a:tbl>
              <a:tblPr/>
              <a:tblGrid>
                <a:gridCol w="1097280"/>
                <a:gridCol w="1097280"/>
                <a:gridCol w="109728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Hits</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Misses</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Mono</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99,999</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Poly</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99,997</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Mega</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24,932</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75,068</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bl>
          </a:graphicData>
        </a:graphic>
      </p:graphicFrame>
      <p:sp>
        <p:nvSpPr>
          <p:cNvPr id="8" name="Shape 4"/>
          <p:cNvSpPr/>
          <p:nvPr/>
        </p:nvSpPr>
        <p:spPr>
          <a:xfrm>
            <a:off x="5394960" y="2926080"/>
            <a:ext cx="3291840" cy="1645920"/>
          </a:xfrm>
          <a:prstGeom prst="roundRect">
            <a:avLst>
              <a:gd name="adj" fmla="val 4444"/>
            </a:avLst>
          </a:prstGeom>
          <a:solidFill>
            <a:srgbClr val="F6E7DB"/>
          </a:solidFill>
          <a:ln w="12700">
            <a:solidFill>
              <a:srgbClr val="F6E7DB"/>
            </a:solidFill>
            <a:prstDash val="solid"/>
          </a:ln>
        </p:spPr>
      </p:sp>
      <p:sp>
        <p:nvSpPr>
          <p:cNvPr id="9" name="Text 5"/>
          <p:cNvSpPr txBox="1"/>
          <p:nvPr/>
        </p:nvSpPr>
        <p:spPr>
          <a:xfrm>
            <a:off x="5394960" y="2697480"/>
            <a:ext cx="3291840" cy="182880"/>
          </a:xfrm>
          <a:prstGeom prst="rect">
            <a:avLst/>
          </a:prstGeom>
          <a:noFill/>
          <a:ln/>
        </p:spPr>
        <p:txBody>
          <a:bodyPr wrap="square" lIns="0" tIns="0" rIns="0" bIns="0" rtlCol="0" anchor="ctr"/>
          <a:lstStyle/>
          <a:p>
            <a:pPr indent="0" marL="0">
              <a:buNone/>
            </a:pPr>
            <a:r>
              <a:rPr lang="en-US" sz="950" i="1" dirty="0">
                <a:solidFill>
                  <a:srgbClr val="7D6A6B"/>
                </a:solidFill>
                <a:latin typeface="Calibri" pitchFamily="34" charset="0"/>
                <a:ea typeface="Calibri" pitchFamily="34" charset="-122"/>
                <a:cs typeface="Calibri" pitchFamily="34" charset="-120"/>
              </a:rPr>
              <a:t>n = 100,000 accesses per workload</a:t>
            </a:r>
            <a:endParaRPr lang="en-US" sz="950" dirty="0"/>
          </a:p>
        </p:txBody>
      </p:sp>
      <p:sp>
        <p:nvSpPr>
          <p:cNvPr id="10" name="Text 6"/>
          <p:cNvSpPr txBox="1"/>
          <p:nvPr/>
        </p:nvSpPr>
        <p:spPr>
          <a:xfrm>
            <a:off x="5577840" y="3017520"/>
            <a:ext cx="2926080" cy="1463040"/>
          </a:xfrm>
          <a:prstGeom prst="rect">
            <a:avLst/>
          </a:prstGeom>
          <a:noFill/>
          <a:ln/>
        </p:spPr>
        <p:txBody>
          <a:bodyPr wrap="square" lIns="0" tIns="0" rIns="0" bIns="0" rtlCol="0" anchor="t"/>
          <a:lstStyle/>
          <a:p>
            <a:pPr indent="0" marL="0">
              <a:spcAft>
                <a:spcPts val="600"/>
              </a:spcAft>
              <a:buNone/>
            </a:pPr>
            <a:r>
              <a:rPr lang="en-US" sz="1200" b="1" dirty="0">
                <a:solidFill>
                  <a:srgbClr val="513B3C"/>
                </a:solidFill>
                <a:latin typeface="Calibri" pitchFamily="34" charset="0"/>
                <a:ea typeface="Calibri" pitchFamily="34" charset="-122"/>
                <a:cs typeface="Calibri" pitchFamily="34" charset="-120"/>
              </a:rPr>
              <a:t>Why only 24.9% in MEGA?</a:t>
            </a:r>
            <a:endParaRPr lang="en-US" sz="1200" dirty="0"/>
          </a:p>
          <a:p>
            <a:pPr indent="0" marL="0">
              <a:spcAft>
                <a:spcPts val="600"/>
              </a:spcAft>
              <a:buNone/>
            </a:pPr>
            <a:r>
              <a:rPr lang="en-US" sz="1200" dirty="0">
                <a:solidFill>
                  <a:srgbClr val="513B3C"/>
                </a:solidFill>
                <a:latin typeface="Calibri" pitchFamily="34" charset="0"/>
                <a:ea typeface="Calibri" pitchFamily="34" charset="-122"/>
                <a:cs typeface="Calibri" pitchFamily="34" charset="-120"/>
              </a:rPr>
              <a:t>16 shapes compete for 4 slots. FIFO keeps evicting an entry just before it is needed again, so ~3 of 4 accesses miss.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14</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Performance: IC vs baseline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graphicFrame>
        <p:nvGraphicFramePr>
          <p:cNvPr id="6" name="Chart 0" descr=""/>
          <p:cNvGraphicFramePr/>
          <p:nvPr/>
        </p:nvGraphicFramePr>
        <p:xfrm>
          <a:off x="365760" y="105156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297680"/>
            <a:ext cx="4663440" cy="32004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n = 100,000 accesses each · baseline 0.611 / 0.427 / 0.395 s · with IC 0.273 / 0.278 / 0.442 s · single run, varies ± a few %</a:t>
            </a:r>
            <a:endParaRPr lang="en-US" sz="1000" dirty="0"/>
          </a:p>
        </p:txBody>
      </p:sp>
      <p:sp>
        <p:nvSpPr>
          <p:cNvPr id="8" name="Shape 5"/>
          <p:cNvSpPr/>
          <p:nvPr/>
        </p:nvSpPr>
        <p:spPr>
          <a:xfrm>
            <a:off x="5303520" y="1188720"/>
            <a:ext cx="3383280" cy="1417320"/>
          </a:xfrm>
          <a:prstGeom prst="roundRect">
            <a:avLst>
              <a:gd name="adj" fmla="val 5161"/>
            </a:avLst>
          </a:prstGeom>
          <a:solidFill>
            <a:srgbClr val="548687"/>
          </a:solidFill>
          <a:ln w="12700">
            <a:solidFill>
              <a:srgbClr val="548687"/>
            </a:solidFill>
            <a:prstDash val="solid"/>
          </a:ln>
        </p:spPr>
      </p:sp>
      <p:sp>
        <p:nvSpPr>
          <p:cNvPr id="9" name="Text 6"/>
          <p:cNvSpPr txBox="1"/>
          <p:nvPr/>
        </p:nvSpPr>
        <p:spPr>
          <a:xfrm>
            <a:off x="5486400" y="1298448"/>
            <a:ext cx="3017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Mono &amp; poly win</a:t>
            </a:r>
            <a:endParaRPr lang="en-US" sz="1400" dirty="0"/>
          </a:p>
        </p:txBody>
      </p:sp>
      <p:sp>
        <p:nvSpPr>
          <p:cNvPr id="10" name="Text 7"/>
          <p:cNvSpPr txBox="1"/>
          <p:nvPr/>
        </p:nvSpPr>
        <p:spPr>
          <a:xfrm>
            <a:off x="5486400" y="1645920"/>
            <a:ext cx="301752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cache hit replaces a scan over ~200 field names with one or a few shape checks.</a:t>
            </a:r>
            <a:endParaRPr lang="en-US" sz="1150" dirty="0"/>
          </a:p>
        </p:txBody>
      </p:sp>
      <p:sp>
        <p:nvSpPr>
          <p:cNvPr id="11" name="Shape 8"/>
          <p:cNvSpPr/>
          <p:nvPr/>
        </p:nvSpPr>
        <p:spPr>
          <a:xfrm>
            <a:off x="5303520" y="2788920"/>
            <a:ext cx="3383280" cy="1417320"/>
          </a:xfrm>
          <a:prstGeom prst="roundRect">
            <a:avLst>
              <a:gd name="adj" fmla="val 5161"/>
            </a:avLst>
          </a:prstGeom>
          <a:solidFill>
            <a:srgbClr val="E1B07E"/>
          </a:solidFill>
          <a:ln w="12700">
            <a:solidFill>
              <a:srgbClr val="E1B07E"/>
            </a:solidFill>
            <a:prstDash val="solid"/>
          </a:ln>
        </p:spPr>
      </p:sp>
      <p:sp>
        <p:nvSpPr>
          <p:cNvPr id="12" name="Text 9"/>
          <p:cNvSpPr txBox="1"/>
          <p:nvPr/>
        </p:nvSpPr>
        <p:spPr>
          <a:xfrm>
            <a:off x="5486400" y="2898648"/>
            <a:ext cx="301752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Mega loses (0.89×)</a:t>
            </a:r>
            <a:endParaRPr lang="en-US" sz="1400" dirty="0"/>
          </a:p>
        </p:txBody>
      </p:sp>
      <p:sp>
        <p:nvSpPr>
          <p:cNvPr id="13" name="Text 10"/>
          <p:cNvSpPr txBox="1"/>
          <p:nvPr/>
        </p:nvSpPr>
        <p:spPr>
          <a:xfrm>
            <a:off x="5486400" y="3246120"/>
            <a:ext cx="3017520" cy="86868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Thrashing: the bookkeeping costs more than the scan it replaces. Next: larger capacity or a non-FIFO policy.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04</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Ehsan Abdulkhader</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Tier-2 Codegen &amp; Deoptimisation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Stale caches: shape versioning (IC4)</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Guards &amp; deoptimisation (IC5)</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Tier-2 status, risks &amp; next steps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16</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Stale caches: shape versioning (IC4)</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Text 4"/>
          <p:cNvSpPr txBox="1"/>
          <p:nvPr/>
        </p:nvSpPr>
        <p:spPr>
          <a:xfrm>
            <a:off x="457200" y="1051560"/>
            <a:ext cx="347472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Cache learns: x is at slot 2</a:t>
            </a:r>
            <a:endParaRPr lang="en-US" sz="1200" dirty="0"/>
          </a:p>
        </p:txBody>
      </p:sp>
      <p:sp>
        <p:nvSpPr>
          <p:cNvPr id="7" name="Shape 5"/>
          <p:cNvSpPr/>
          <p:nvPr/>
        </p:nvSpPr>
        <p:spPr>
          <a:xfrm>
            <a:off x="457200" y="1417320"/>
            <a:ext cx="713232" cy="502920"/>
          </a:xfrm>
          <a:prstGeom prst="roundRect">
            <a:avLst>
              <a:gd name="adj" fmla="val 14545"/>
            </a:avLst>
          </a:prstGeom>
          <a:solidFill>
            <a:srgbClr val="E6F8FF"/>
          </a:solidFill>
          <a:ln w="12700">
            <a:solidFill>
              <a:srgbClr val="E6F8FF"/>
            </a:solidFill>
            <a:prstDash val="solid"/>
          </a:ln>
        </p:spPr>
      </p:sp>
      <p:sp>
        <p:nvSpPr>
          <p:cNvPr id="8" name="Text 6"/>
          <p:cNvSpPr txBox="1"/>
          <p:nvPr/>
        </p:nvSpPr>
        <p:spPr>
          <a:xfrm>
            <a:off x="45720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a</a:t>
            </a:r>
            <a:endParaRPr lang="en-US" sz="1200" dirty="0"/>
          </a:p>
        </p:txBody>
      </p:sp>
      <p:sp>
        <p:nvSpPr>
          <p:cNvPr id="9" name="Text 7"/>
          <p:cNvSpPr txBox="1"/>
          <p:nvPr/>
        </p:nvSpPr>
        <p:spPr>
          <a:xfrm>
            <a:off x="45720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0</a:t>
            </a:r>
            <a:endParaRPr lang="en-US" sz="900" dirty="0"/>
          </a:p>
        </p:txBody>
      </p:sp>
      <p:sp>
        <p:nvSpPr>
          <p:cNvPr id="10" name="Shape 8"/>
          <p:cNvSpPr/>
          <p:nvPr/>
        </p:nvSpPr>
        <p:spPr>
          <a:xfrm>
            <a:off x="1234440" y="1417320"/>
            <a:ext cx="713232" cy="502920"/>
          </a:xfrm>
          <a:prstGeom prst="roundRect">
            <a:avLst>
              <a:gd name="adj" fmla="val 14545"/>
            </a:avLst>
          </a:prstGeom>
          <a:solidFill>
            <a:srgbClr val="E6F8FF"/>
          </a:solidFill>
          <a:ln w="12700">
            <a:solidFill>
              <a:srgbClr val="E6F8FF"/>
            </a:solidFill>
            <a:prstDash val="solid"/>
          </a:ln>
        </p:spPr>
      </p:sp>
      <p:sp>
        <p:nvSpPr>
          <p:cNvPr id="11" name="Text 9"/>
          <p:cNvSpPr txBox="1"/>
          <p:nvPr/>
        </p:nvSpPr>
        <p:spPr>
          <a:xfrm>
            <a:off x="123444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b</a:t>
            </a:r>
            <a:endParaRPr lang="en-US" sz="1200" dirty="0"/>
          </a:p>
        </p:txBody>
      </p:sp>
      <p:sp>
        <p:nvSpPr>
          <p:cNvPr id="12" name="Text 10"/>
          <p:cNvSpPr txBox="1"/>
          <p:nvPr/>
        </p:nvSpPr>
        <p:spPr>
          <a:xfrm>
            <a:off x="123444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1</a:t>
            </a:r>
            <a:endParaRPr lang="en-US" sz="900" dirty="0"/>
          </a:p>
        </p:txBody>
      </p:sp>
      <p:sp>
        <p:nvSpPr>
          <p:cNvPr id="13" name="Shape 11"/>
          <p:cNvSpPr/>
          <p:nvPr/>
        </p:nvSpPr>
        <p:spPr>
          <a:xfrm>
            <a:off x="2011680" y="1417320"/>
            <a:ext cx="713232" cy="502920"/>
          </a:xfrm>
          <a:prstGeom prst="roundRect">
            <a:avLst>
              <a:gd name="adj" fmla="val 14545"/>
            </a:avLst>
          </a:prstGeom>
          <a:solidFill>
            <a:srgbClr val="548687"/>
          </a:solidFill>
          <a:ln w="12700">
            <a:solidFill>
              <a:srgbClr val="548687"/>
            </a:solidFill>
            <a:prstDash val="solid"/>
          </a:ln>
        </p:spPr>
      </p:sp>
      <p:sp>
        <p:nvSpPr>
          <p:cNvPr id="14" name="Text 12"/>
          <p:cNvSpPr txBox="1"/>
          <p:nvPr/>
        </p:nvSpPr>
        <p:spPr>
          <a:xfrm>
            <a:off x="2011680" y="1417320"/>
            <a:ext cx="71323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15" name="Text 13"/>
          <p:cNvSpPr txBox="1"/>
          <p:nvPr/>
        </p:nvSpPr>
        <p:spPr>
          <a:xfrm>
            <a:off x="201168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2</a:t>
            </a:r>
            <a:endParaRPr lang="en-US" sz="900" dirty="0"/>
          </a:p>
        </p:txBody>
      </p:sp>
      <p:sp>
        <p:nvSpPr>
          <p:cNvPr id="16" name="Shape 14"/>
          <p:cNvSpPr/>
          <p:nvPr/>
        </p:nvSpPr>
        <p:spPr>
          <a:xfrm>
            <a:off x="2834640" y="1435608"/>
            <a:ext cx="457200" cy="457200"/>
          </a:xfrm>
          <a:prstGeom prst="ellipse">
            <a:avLst/>
          </a:prstGeom>
          <a:solidFill>
            <a:srgbClr val="E1B07E"/>
          </a:solidFill>
          <a:ln w="12700">
            <a:solidFill>
              <a:srgbClr val="E1B07E"/>
            </a:solidFill>
            <a:prstDash val="solid"/>
          </a:ln>
        </p:spPr>
      </p:sp>
      <p:sp>
        <p:nvSpPr>
          <p:cNvPr id="17" name="Text 15"/>
          <p:cNvSpPr txBox="1"/>
          <p:nvPr/>
        </p:nvSpPr>
        <p:spPr>
          <a:xfrm>
            <a:off x="2834640" y="1435608"/>
            <a:ext cx="457200" cy="457200"/>
          </a:xfrm>
          <a:prstGeom prst="rect">
            <a:avLst/>
          </a:prstGeom>
          <a:noFill/>
          <a:ln/>
        </p:spPr>
        <p:txBody>
          <a:bodyPr wrap="square" lIns="0" tIns="0" rIns="0" bIns="0" rtlCol="0" anchor="ctr"/>
          <a:lstStyle/>
          <a:p>
            <a:pPr algn="ctr" indent="0" marL="0">
              <a:buNone/>
            </a:pPr>
            <a:r>
              <a:rPr lang="en-US" sz="1200" b="1" dirty="0">
                <a:solidFill>
                  <a:srgbClr val="513B3C"/>
                </a:solidFill>
                <a:latin typeface="Cambria" pitchFamily="34" charset="0"/>
                <a:ea typeface="Cambria" pitchFamily="34" charset="-122"/>
                <a:cs typeface="Cambria" pitchFamily="34" charset="-120"/>
              </a:rPr>
              <a:t>v0</a:t>
            </a:r>
            <a:endParaRPr lang="en-US" sz="1200" dirty="0"/>
          </a:p>
        </p:txBody>
      </p:sp>
      <p:sp>
        <p:nvSpPr>
          <p:cNvPr id="18" name="Text 16"/>
          <p:cNvSpPr txBox="1"/>
          <p:nvPr/>
        </p:nvSpPr>
        <p:spPr>
          <a:xfrm>
            <a:off x="4480560" y="1051560"/>
            <a:ext cx="347472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Field added to the shape in place</a:t>
            </a:r>
            <a:endParaRPr lang="en-US" sz="1200" dirty="0"/>
          </a:p>
        </p:txBody>
      </p:sp>
      <p:sp>
        <p:nvSpPr>
          <p:cNvPr id="19" name="Shape 17"/>
          <p:cNvSpPr/>
          <p:nvPr/>
        </p:nvSpPr>
        <p:spPr>
          <a:xfrm>
            <a:off x="4480560" y="1417320"/>
            <a:ext cx="713232" cy="502920"/>
          </a:xfrm>
          <a:prstGeom prst="roundRect">
            <a:avLst>
              <a:gd name="adj" fmla="val 14545"/>
            </a:avLst>
          </a:prstGeom>
          <a:solidFill>
            <a:srgbClr val="E6F8FF"/>
          </a:solidFill>
          <a:ln w="12700">
            <a:solidFill>
              <a:srgbClr val="E6F8FF"/>
            </a:solidFill>
            <a:prstDash val="solid"/>
          </a:ln>
        </p:spPr>
      </p:sp>
      <p:sp>
        <p:nvSpPr>
          <p:cNvPr id="20" name="Text 18"/>
          <p:cNvSpPr txBox="1"/>
          <p:nvPr/>
        </p:nvSpPr>
        <p:spPr>
          <a:xfrm>
            <a:off x="448056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new</a:t>
            </a:r>
            <a:endParaRPr lang="en-US" sz="1200" dirty="0"/>
          </a:p>
        </p:txBody>
      </p:sp>
      <p:sp>
        <p:nvSpPr>
          <p:cNvPr id="21" name="Text 19"/>
          <p:cNvSpPr txBox="1"/>
          <p:nvPr/>
        </p:nvSpPr>
        <p:spPr>
          <a:xfrm>
            <a:off x="448056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0</a:t>
            </a:r>
            <a:endParaRPr lang="en-US" sz="900" dirty="0"/>
          </a:p>
        </p:txBody>
      </p:sp>
      <p:sp>
        <p:nvSpPr>
          <p:cNvPr id="22" name="Shape 20"/>
          <p:cNvSpPr/>
          <p:nvPr/>
        </p:nvSpPr>
        <p:spPr>
          <a:xfrm>
            <a:off x="5257800" y="1417320"/>
            <a:ext cx="713232" cy="502920"/>
          </a:xfrm>
          <a:prstGeom prst="roundRect">
            <a:avLst>
              <a:gd name="adj" fmla="val 14545"/>
            </a:avLst>
          </a:prstGeom>
          <a:solidFill>
            <a:srgbClr val="E6F8FF"/>
          </a:solidFill>
          <a:ln w="12700">
            <a:solidFill>
              <a:srgbClr val="E6F8FF"/>
            </a:solidFill>
            <a:prstDash val="solid"/>
          </a:ln>
        </p:spPr>
      </p:sp>
      <p:sp>
        <p:nvSpPr>
          <p:cNvPr id="23" name="Text 21"/>
          <p:cNvSpPr txBox="1"/>
          <p:nvPr/>
        </p:nvSpPr>
        <p:spPr>
          <a:xfrm>
            <a:off x="525780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a</a:t>
            </a:r>
            <a:endParaRPr lang="en-US" sz="1200" dirty="0"/>
          </a:p>
        </p:txBody>
      </p:sp>
      <p:sp>
        <p:nvSpPr>
          <p:cNvPr id="24" name="Text 22"/>
          <p:cNvSpPr txBox="1"/>
          <p:nvPr/>
        </p:nvSpPr>
        <p:spPr>
          <a:xfrm>
            <a:off x="525780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1</a:t>
            </a:r>
            <a:endParaRPr lang="en-US" sz="900" dirty="0"/>
          </a:p>
        </p:txBody>
      </p:sp>
      <p:sp>
        <p:nvSpPr>
          <p:cNvPr id="25" name="Shape 23"/>
          <p:cNvSpPr/>
          <p:nvPr/>
        </p:nvSpPr>
        <p:spPr>
          <a:xfrm>
            <a:off x="6035040" y="1417320"/>
            <a:ext cx="713232" cy="502920"/>
          </a:xfrm>
          <a:prstGeom prst="roundRect">
            <a:avLst>
              <a:gd name="adj" fmla="val 14545"/>
            </a:avLst>
          </a:prstGeom>
          <a:solidFill>
            <a:srgbClr val="E6F8FF"/>
          </a:solidFill>
          <a:ln w="12700">
            <a:solidFill>
              <a:srgbClr val="E6F8FF"/>
            </a:solidFill>
            <a:prstDash val="solid"/>
          </a:ln>
        </p:spPr>
      </p:sp>
      <p:sp>
        <p:nvSpPr>
          <p:cNvPr id="26" name="Text 24"/>
          <p:cNvSpPr txBox="1"/>
          <p:nvPr/>
        </p:nvSpPr>
        <p:spPr>
          <a:xfrm>
            <a:off x="603504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b</a:t>
            </a:r>
            <a:endParaRPr lang="en-US" sz="1200" dirty="0"/>
          </a:p>
        </p:txBody>
      </p:sp>
      <p:sp>
        <p:nvSpPr>
          <p:cNvPr id="27" name="Text 25"/>
          <p:cNvSpPr txBox="1"/>
          <p:nvPr/>
        </p:nvSpPr>
        <p:spPr>
          <a:xfrm>
            <a:off x="603504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2</a:t>
            </a:r>
            <a:endParaRPr lang="en-US" sz="900" dirty="0"/>
          </a:p>
        </p:txBody>
      </p:sp>
      <p:sp>
        <p:nvSpPr>
          <p:cNvPr id="28" name="Shape 26"/>
          <p:cNvSpPr/>
          <p:nvPr/>
        </p:nvSpPr>
        <p:spPr>
          <a:xfrm>
            <a:off x="6812280" y="1417320"/>
            <a:ext cx="713232" cy="502920"/>
          </a:xfrm>
          <a:prstGeom prst="roundRect">
            <a:avLst>
              <a:gd name="adj" fmla="val 14545"/>
            </a:avLst>
          </a:prstGeom>
          <a:solidFill>
            <a:srgbClr val="548687"/>
          </a:solidFill>
          <a:ln w="12700">
            <a:solidFill>
              <a:srgbClr val="548687"/>
            </a:solidFill>
            <a:prstDash val="solid"/>
          </a:ln>
        </p:spPr>
      </p:sp>
      <p:sp>
        <p:nvSpPr>
          <p:cNvPr id="29" name="Text 27"/>
          <p:cNvSpPr txBox="1"/>
          <p:nvPr/>
        </p:nvSpPr>
        <p:spPr>
          <a:xfrm>
            <a:off x="6812280" y="1417320"/>
            <a:ext cx="71323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30" name="Text 28"/>
          <p:cNvSpPr txBox="1"/>
          <p:nvPr/>
        </p:nvSpPr>
        <p:spPr>
          <a:xfrm>
            <a:off x="681228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3</a:t>
            </a:r>
            <a:endParaRPr lang="en-US" sz="900" dirty="0"/>
          </a:p>
        </p:txBody>
      </p:sp>
      <p:sp>
        <p:nvSpPr>
          <p:cNvPr id="31" name="Shape 29"/>
          <p:cNvSpPr/>
          <p:nvPr/>
        </p:nvSpPr>
        <p:spPr>
          <a:xfrm>
            <a:off x="7635240" y="1435608"/>
            <a:ext cx="457200" cy="457200"/>
          </a:xfrm>
          <a:prstGeom prst="ellipse">
            <a:avLst/>
          </a:prstGeom>
          <a:solidFill>
            <a:srgbClr val="E1B07E"/>
          </a:solidFill>
          <a:ln w="12700">
            <a:solidFill>
              <a:srgbClr val="E1B07E"/>
            </a:solidFill>
            <a:prstDash val="solid"/>
          </a:ln>
        </p:spPr>
      </p:sp>
      <p:sp>
        <p:nvSpPr>
          <p:cNvPr id="32" name="Text 30"/>
          <p:cNvSpPr txBox="1"/>
          <p:nvPr/>
        </p:nvSpPr>
        <p:spPr>
          <a:xfrm>
            <a:off x="7635240" y="1435608"/>
            <a:ext cx="457200" cy="457200"/>
          </a:xfrm>
          <a:prstGeom prst="rect">
            <a:avLst/>
          </a:prstGeom>
          <a:noFill/>
          <a:ln/>
        </p:spPr>
        <p:txBody>
          <a:bodyPr wrap="square" lIns="0" tIns="0" rIns="0" bIns="0" rtlCol="0" anchor="ctr"/>
          <a:lstStyle/>
          <a:p>
            <a:pPr algn="ctr" indent="0" marL="0">
              <a:buNone/>
            </a:pPr>
            <a:r>
              <a:rPr lang="en-US" sz="1200" b="1" dirty="0">
                <a:solidFill>
                  <a:srgbClr val="513B3C"/>
                </a:solidFill>
                <a:latin typeface="Cambria" pitchFamily="34" charset="0"/>
                <a:ea typeface="Cambria" pitchFamily="34" charset="-122"/>
                <a:cs typeface="Cambria" pitchFamily="34" charset="-120"/>
              </a:rPr>
              <a:t>v1</a:t>
            </a:r>
            <a:endParaRPr lang="en-US" sz="1200" dirty="0"/>
          </a:p>
        </p:txBody>
      </p:sp>
      <p:sp>
        <p:nvSpPr>
          <p:cNvPr id="33" name="Shape 31"/>
          <p:cNvSpPr/>
          <p:nvPr/>
        </p:nvSpPr>
        <p:spPr>
          <a:xfrm>
            <a:off x="3337560" y="1664208"/>
            <a:ext cx="1005840" cy="0"/>
          </a:xfrm>
          <a:prstGeom prst="line">
            <a:avLst/>
          </a:prstGeom>
          <a:noFill/>
          <a:ln w="22225">
            <a:solidFill>
              <a:srgbClr val="513B3C"/>
            </a:solidFill>
            <a:prstDash val="solid"/>
            <a:tailEnd type="triangle"/>
          </a:ln>
        </p:spPr>
      </p:sp>
      <p:sp>
        <p:nvSpPr>
          <p:cNvPr id="34" name="Text 32"/>
          <p:cNvSpPr txBox="1"/>
          <p:nvPr/>
        </p:nvSpPr>
        <p:spPr>
          <a:xfrm>
            <a:off x="3291840" y="1371600"/>
            <a:ext cx="109728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mutate</a:t>
            </a:r>
            <a:endParaRPr lang="en-US" sz="1000" dirty="0"/>
          </a:p>
        </p:txBody>
      </p:sp>
      <p:sp>
        <p:nvSpPr>
          <p:cNvPr id="35" name="Shape 33"/>
          <p:cNvSpPr/>
          <p:nvPr/>
        </p:nvSpPr>
        <p:spPr>
          <a:xfrm>
            <a:off x="457200" y="2606040"/>
            <a:ext cx="4023360" cy="1600200"/>
          </a:xfrm>
          <a:prstGeom prst="roundRect">
            <a:avLst>
              <a:gd name="adj" fmla="val 4571"/>
            </a:avLst>
          </a:prstGeom>
          <a:solidFill>
            <a:srgbClr val="F6E7DB"/>
          </a:solidFill>
          <a:ln w="12700">
            <a:solidFill>
              <a:srgbClr val="F6E7DB"/>
            </a:solidFill>
            <a:prstDash val="solid"/>
          </a:ln>
        </p:spPr>
      </p:sp>
      <p:sp>
        <p:nvSpPr>
          <p:cNvPr id="36" name="Text 34"/>
          <p:cNvSpPr txBox="1"/>
          <p:nvPr/>
        </p:nvSpPr>
        <p:spPr>
          <a:xfrm>
            <a:off x="640080" y="2697480"/>
            <a:ext cx="365760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Without a version check</a:t>
            </a:r>
            <a:endParaRPr lang="en-US" sz="1400" dirty="0"/>
          </a:p>
        </p:txBody>
      </p:sp>
      <p:sp>
        <p:nvSpPr>
          <p:cNvPr id="37" name="Text 35"/>
          <p:cNvSpPr txBox="1"/>
          <p:nvPr/>
        </p:nvSpPr>
        <p:spPr>
          <a:xfrm>
            <a:off x="640080" y="3035808"/>
            <a:ext cx="3657600" cy="64008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Same shape id → cache still says slot 2 → reads b = 2.</a:t>
            </a:r>
            <a:endParaRPr lang="en-US" sz="1150" dirty="0"/>
          </a:p>
        </p:txBody>
      </p:sp>
      <p:sp>
        <p:nvSpPr>
          <p:cNvPr id="38" name="Text 36"/>
          <p:cNvSpPr txBox="1"/>
          <p:nvPr/>
        </p:nvSpPr>
        <p:spPr>
          <a:xfrm>
            <a:off x="640080" y="3749040"/>
            <a:ext cx="3657600" cy="32004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  Wrong answer</a:t>
            </a:r>
            <a:endParaRPr lang="en-US" sz="1300" dirty="0"/>
          </a:p>
        </p:txBody>
      </p:sp>
      <p:sp>
        <p:nvSpPr>
          <p:cNvPr id="39" name="Shape 37"/>
          <p:cNvSpPr/>
          <p:nvPr/>
        </p:nvSpPr>
        <p:spPr>
          <a:xfrm>
            <a:off x="4663440" y="2606040"/>
            <a:ext cx="4023360" cy="1600200"/>
          </a:xfrm>
          <a:prstGeom prst="roundRect">
            <a:avLst>
              <a:gd name="adj" fmla="val 4571"/>
            </a:avLst>
          </a:prstGeom>
          <a:solidFill>
            <a:srgbClr val="548687"/>
          </a:solidFill>
          <a:ln w="12700">
            <a:solidFill>
              <a:srgbClr val="548687"/>
            </a:solidFill>
            <a:prstDash val="solid"/>
          </a:ln>
        </p:spPr>
      </p:sp>
      <p:sp>
        <p:nvSpPr>
          <p:cNvPr id="40" name="Text 38"/>
          <p:cNvSpPr txBox="1"/>
          <p:nvPr/>
        </p:nvSpPr>
        <p:spPr>
          <a:xfrm>
            <a:off x="4846320" y="269748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With a version check</a:t>
            </a:r>
            <a:endParaRPr lang="en-US" sz="1400" dirty="0"/>
          </a:p>
        </p:txBody>
      </p:sp>
      <p:sp>
        <p:nvSpPr>
          <p:cNvPr id="41" name="Text 39"/>
          <p:cNvSpPr txBox="1"/>
          <p:nvPr/>
        </p:nvSpPr>
        <p:spPr>
          <a:xfrm>
            <a:off x="4846320" y="3035808"/>
            <a:ext cx="3657600" cy="6400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Cache stored (shape, v0). Shape is now v1 → treated as a miss → re-lookup finds slot 3.</a:t>
            </a:r>
            <a:endParaRPr lang="en-US" sz="1150" dirty="0"/>
          </a:p>
        </p:txBody>
      </p:sp>
      <p:sp>
        <p:nvSpPr>
          <p:cNvPr id="42" name="Text 40"/>
          <p:cNvSpPr txBox="1"/>
          <p:nvPr/>
        </p:nvSpPr>
        <p:spPr>
          <a:xfrm>
            <a:off x="4846320" y="374904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Reads x = 3; exactly 1 re-miss</a:t>
            </a:r>
            <a:endParaRPr lang="en-US" sz="1300" dirty="0"/>
          </a:p>
        </p:txBody>
      </p:sp>
      <p:sp>
        <p:nvSpPr>
          <p:cNvPr id="43" name="Text 41"/>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100" i="1" dirty="0">
                <a:solidFill>
                  <a:srgbClr val="7D6A6B"/>
                </a:solidFill>
                <a:latin typeface="Calibri" pitchFamily="34" charset="0"/>
                <a:ea typeface="Calibri" pitchFamily="34" charset="-122"/>
                <a:cs typeface="Calibri" pitchFamily="34" charset="-120"/>
              </a:rPr>
              <a:t>Lazy invalidation: nothing is flushed on mutation — stale entries are rejected the next time they are used.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17</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Tier-2 guards and deoptimisation (IC5)</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2103120" cy="868680"/>
          </a:xfrm>
          <a:prstGeom prst="roundRect">
            <a:avLst>
              <a:gd name="adj" fmla="val 8421"/>
            </a:avLst>
          </a:prstGeom>
          <a:solidFill>
            <a:srgbClr val="E6F8FF"/>
          </a:solidFill>
          <a:ln w="12700">
            <a:solidFill>
              <a:srgbClr val="E6F8FF"/>
            </a:solidFill>
            <a:prstDash val="solid"/>
          </a:ln>
        </p:spPr>
      </p:sp>
      <p:sp>
        <p:nvSpPr>
          <p:cNvPr id="7" name="Text 5"/>
          <p:cNvSpPr txBox="1"/>
          <p:nvPr/>
        </p:nvSpPr>
        <p:spPr>
          <a:xfrm>
            <a:off x="457200" y="1188720"/>
            <a:ext cx="2103120" cy="86868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Loop is hot</a:t>
            </a:r>
            <a:endParaRPr lang="en-US" sz="1200" dirty="0"/>
          </a:p>
          <a:p>
            <a:pPr algn="ctr" indent="0" marL="0">
              <a:buNone/>
            </a:pPr>
            <a:r>
              <a:rPr lang="en-US" sz="1200" dirty="0">
                <a:solidFill>
                  <a:srgbClr val="513B3C"/>
                </a:solidFill>
                <a:latin typeface="Calibri" pitchFamily="34" charset="0"/>
                <a:ea typeface="Calibri" pitchFamily="34" charset="-122"/>
                <a:cs typeface="Calibri" pitchFamily="34" charset="-120"/>
              </a:rPr>
              <a:t>and the site is MONO</a:t>
            </a:r>
            <a:endParaRPr lang="en-US" sz="1200" dirty="0"/>
          </a:p>
        </p:txBody>
      </p:sp>
      <p:sp>
        <p:nvSpPr>
          <p:cNvPr id="8" name="Shape 6"/>
          <p:cNvSpPr/>
          <p:nvPr/>
        </p:nvSpPr>
        <p:spPr>
          <a:xfrm>
            <a:off x="2606040" y="1618488"/>
            <a:ext cx="411480" cy="0"/>
          </a:xfrm>
          <a:prstGeom prst="line">
            <a:avLst/>
          </a:prstGeom>
          <a:noFill/>
          <a:ln w="22225">
            <a:solidFill>
              <a:srgbClr val="7D6A6B"/>
            </a:solidFill>
            <a:prstDash val="solid"/>
            <a:tailEnd type="triangle"/>
          </a:ln>
        </p:spPr>
      </p:sp>
      <p:sp>
        <p:nvSpPr>
          <p:cNvPr id="9" name="Shape 7"/>
          <p:cNvSpPr/>
          <p:nvPr/>
        </p:nvSpPr>
        <p:spPr>
          <a:xfrm>
            <a:off x="3063240" y="1188720"/>
            <a:ext cx="2651760" cy="868680"/>
          </a:xfrm>
          <a:prstGeom prst="roundRect">
            <a:avLst>
              <a:gd name="adj" fmla="val 8421"/>
            </a:avLst>
          </a:prstGeom>
          <a:solidFill>
            <a:srgbClr val="548687"/>
          </a:solidFill>
          <a:ln w="12700">
            <a:solidFill>
              <a:srgbClr val="548687"/>
            </a:solidFill>
            <a:prstDash val="solid"/>
          </a:ln>
        </p:spPr>
      </p:sp>
      <p:sp>
        <p:nvSpPr>
          <p:cNvPr id="10" name="Text 8"/>
          <p:cNvSpPr txBox="1"/>
          <p:nvPr/>
        </p:nvSpPr>
        <p:spPr>
          <a:xfrm>
            <a:off x="3063240" y="1188720"/>
            <a:ext cx="265176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Compile guarded fast path</a:t>
            </a:r>
            <a:endParaRPr lang="en-US" sz="1200" dirty="0"/>
          </a:p>
          <a:p>
            <a:pPr algn="ctr" indent="0" marL="0">
              <a:buNone/>
            </a:pPr>
            <a:r>
              <a:rPr lang="en-US" sz="1050" dirty="0">
                <a:solidFill>
                  <a:srgbClr val="FFFFFF"/>
                </a:solidFill>
                <a:latin typeface="Courier New" pitchFamily="34" charset="0"/>
                <a:ea typeface="Courier New" pitchFamily="34" charset="-122"/>
                <a:cs typeface="Courier New" pitchFamily="34" charset="-120"/>
              </a:rPr>
              <a:t>if shape == A: read slot 1</a:t>
            </a:r>
            <a:endParaRPr lang="en-US" sz="1200" dirty="0"/>
          </a:p>
        </p:txBody>
      </p:sp>
      <p:sp>
        <p:nvSpPr>
          <p:cNvPr id="11" name="Shape 9"/>
          <p:cNvSpPr/>
          <p:nvPr/>
        </p:nvSpPr>
        <p:spPr>
          <a:xfrm>
            <a:off x="4389120" y="2103120"/>
            <a:ext cx="0" cy="365760"/>
          </a:xfrm>
          <a:prstGeom prst="line">
            <a:avLst/>
          </a:prstGeom>
          <a:noFill/>
          <a:ln w="22225">
            <a:solidFill>
              <a:srgbClr val="7D6A6B"/>
            </a:solidFill>
            <a:prstDash val="solid"/>
            <a:tailEnd type="triangle"/>
          </a:ln>
        </p:spPr>
      </p:sp>
      <p:sp>
        <p:nvSpPr>
          <p:cNvPr id="12" name="Shape 10"/>
          <p:cNvSpPr/>
          <p:nvPr/>
        </p:nvSpPr>
        <p:spPr>
          <a:xfrm>
            <a:off x="3474720" y="2514600"/>
            <a:ext cx="1828800" cy="548640"/>
          </a:xfrm>
          <a:prstGeom prst="roundRect">
            <a:avLst>
              <a:gd name="adj" fmla="val 13333"/>
            </a:avLst>
          </a:prstGeom>
          <a:solidFill>
            <a:srgbClr val="E5BE9E"/>
          </a:solidFill>
          <a:ln w="12700">
            <a:solidFill>
              <a:srgbClr val="E5BE9E"/>
            </a:solidFill>
            <a:prstDash val="solid"/>
          </a:ln>
        </p:spPr>
      </p:sp>
      <p:sp>
        <p:nvSpPr>
          <p:cNvPr id="13" name="Text 11"/>
          <p:cNvSpPr txBox="1"/>
          <p:nvPr/>
        </p:nvSpPr>
        <p:spPr>
          <a:xfrm>
            <a:off x="3474720" y="2514600"/>
            <a:ext cx="1828800" cy="54864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Guard holds?</a:t>
            </a:r>
            <a:endParaRPr lang="en-US" sz="1200" dirty="0"/>
          </a:p>
        </p:txBody>
      </p:sp>
      <p:sp>
        <p:nvSpPr>
          <p:cNvPr id="14" name="Shape 12"/>
          <p:cNvSpPr/>
          <p:nvPr/>
        </p:nvSpPr>
        <p:spPr>
          <a:xfrm flipH="1">
            <a:off x="2606040" y="2788920"/>
            <a:ext cx="822960" cy="0"/>
          </a:xfrm>
          <a:prstGeom prst="line">
            <a:avLst/>
          </a:prstGeom>
          <a:noFill/>
          <a:ln w="22225">
            <a:solidFill>
              <a:srgbClr val="7D6A6B"/>
            </a:solidFill>
            <a:prstDash val="solid"/>
            <a:tailEnd type="triangle"/>
          </a:ln>
        </p:spPr>
      </p:sp>
      <p:sp>
        <p:nvSpPr>
          <p:cNvPr id="15" name="Text 13"/>
          <p:cNvSpPr txBox="1"/>
          <p:nvPr/>
        </p:nvSpPr>
        <p:spPr>
          <a:xfrm>
            <a:off x="2651760" y="2487168"/>
            <a:ext cx="548640" cy="256032"/>
          </a:xfrm>
          <a:prstGeom prst="rect">
            <a:avLst/>
          </a:prstGeom>
          <a:noFill/>
          <a:ln/>
        </p:spPr>
        <p:txBody>
          <a:bodyPr wrap="square" lIns="0" tIns="0" rIns="0" bIns="0" rtlCol="0" anchor="ctr"/>
          <a:lstStyle/>
          <a:p>
            <a:pPr indent="0" marL="0">
              <a:buNone/>
            </a:pPr>
            <a:r>
              <a:rPr lang="en-US" sz="1000" i="1" dirty="0">
                <a:solidFill>
                  <a:srgbClr val="7D6A6B"/>
                </a:solidFill>
                <a:latin typeface="Calibri" pitchFamily="34" charset="0"/>
                <a:ea typeface="Calibri" pitchFamily="34" charset="-122"/>
                <a:cs typeface="Calibri" pitchFamily="34" charset="-120"/>
              </a:rPr>
              <a:t>yes</a:t>
            </a:r>
            <a:endParaRPr lang="en-US" sz="1000" dirty="0"/>
          </a:p>
        </p:txBody>
      </p:sp>
      <p:sp>
        <p:nvSpPr>
          <p:cNvPr id="16" name="Shape 14"/>
          <p:cNvSpPr/>
          <p:nvPr/>
        </p:nvSpPr>
        <p:spPr>
          <a:xfrm>
            <a:off x="457200" y="2514600"/>
            <a:ext cx="2103120" cy="548640"/>
          </a:xfrm>
          <a:prstGeom prst="roundRect">
            <a:avLst>
              <a:gd name="adj" fmla="val 13333"/>
            </a:avLst>
          </a:prstGeom>
          <a:solidFill>
            <a:srgbClr val="E6F8FF"/>
          </a:solidFill>
          <a:ln w="12700">
            <a:solidFill>
              <a:srgbClr val="E6F8FF"/>
            </a:solidFill>
            <a:prstDash val="solid"/>
          </a:ln>
        </p:spPr>
      </p:sp>
      <p:sp>
        <p:nvSpPr>
          <p:cNvPr id="17" name="Text 15"/>
          <p:cNvSpPr txBox="1"/>
          <p:nvPr/>
        </p:nvSpPr>
        <p:spPr>
          <a:xfrm>
            <a:off x="457200" y="2514600"/>
            <a:ext cx="2103120" cy="54864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Direct read — fastest</a:t>
            </a:r>
            <a:endParaRPr lang="en-US" sz="1200" dirty="0"/>
          </a:p>
        </p:txBody>
      </p:sp>
      <p:sp>
        <p:nvSpPr>
          <p:cNvPr id="18" name="Shape 16"/>
          <p:cNvSpPr/>
          <p:nvPr/>
        </p:nvSpPr>
        <p:spPr>
          <a:xfrm>
            <a:off x="4389120" y="3108960"/>
            <a:ext cx="0" cy="365760"/>
          </a:xfrm>
          <a:prstGeom prst="line">
            <a:avLst/>
          </a:prstGeom>
          <a:noFill/>
          <a:ln w="22225">
            <a:solidFill>
              <a:srgbClr val="7D6A6B"/>
            </a:solidFill>
            <a:prstDash val="solid"/>
            <a:tailEnd type="triangle"/>
          </a:ln>
        </p:spPr>
      </p:sp>
      <p:sp>
        <p:nvSpPr>
          <p:cNvPr id="19" name="Text 17"/>
          <p:cNvSpPr txBox="1"/>
          <p:nvPr/>
        </p:nvSpPr>
        <p:spPr>
          <a:xfrm>
            <a:off x="4480560" y="3127248"/>
            <a:ext cx="457200" cy="256032"/>
          </a:xfrm>
          <a:prstGeom prst="rect">
            <a:avLst/>
          </a:prstGeom>
          <a:noFill/>
          <a:ln/>
        </p:spPr>
        <p:txBody>
          <a:bodyPr wrap="square" lIns="0" tIns="0" rIns="0" bIns="0" rtlCol="0" anchor="ctr"/>
          <a:lstStyle/>
          <a:p>
            <a:pPr indent="0" marL="0">
              <a:buNone/>
            </a:pPr>
            <a:r>
              <a:rPr lang="en-US" sz="1000" i="1" dirty="0">
                <a:solidFill>
                  <a:srgbClr val="7D6A6B"/>
                </a:solidFill>
                <a:latin typeface="Calibri" pitchFamily="34" charset="0"/>
                <a:ea typeface="Calibri" pitchFamily="34" charset="-122"/>
                <a:cs typeface="Calibri" pitchFamily="34" charset="-120"/>
              </a:rPr>
              <a:t>no</a:t>
            </a:r>
            <a:endParaRPr lang="en-US" sz="1000" dirty="0"/>
          </a:p>
        </p:txBody>
      </p:sp>
      <p:sp>
        <p:nvSpPr>
          <p:cNvPr id="20" name="Shape 18"/>
          <p:cNvSpPr/>
          <p:nvPr/>
        </p:nvSpPr>
        <p:spPr>
          <a:xfrm>
            <a:off x="2377440" y="3520440"/>
            <a:ext cx="4023360" cy="1051560"/>
          </a:xfrm>
          <a:prstGeom prst="roundRect">
            <a:avLst>
              <a:gd name="adj" fmla="val 6957"/>
            </a:avLst>
          </a:prstGeom>
          <a:solidFill>
            <a:srgbClr val="513B3C"/>
          </a:solidFill>
          <a:ln w="12700">
            <a:solidFill>
              <a:srgbClr val="513B3C"/>
            </a:solidFill>
            <a:prstDash val="solid"/>
          </a:ln>
        </p:spPr>
      </p:sp>
      <p:sp>
        <p:nvSpPr>
          <p:cNvPr id="21" name="Text 19"/>
          <p:cNvSpPr txBox="1"/>
          <p:nvPr/>
        </p:nvSpPr>
        <p:spPr>
          <a:xfrm>
            <a:off x="2514600" y="3566160"/>
            <a:ext cx="3749040" cy="960120"/>
          </a:xfrm>
          <a:prstGeom prst="rect">
            <a:avLst/>
          </a:prstGeom>
          <a:noFill/>
          <a:ln/>
        </p:spPr>
        <p:txBody>
          <a:bodyPr wrap="square" lIns="0" tIns="0" rIns="0" bIns="0" rtlCol="0" anchor="ctr"/>
          <a:lstStyle/>
          <a:p>
            <a:pPr indent="0" marL="0">
              <a:buNone/>
            </a:pPr>
            <a:r>
              <a:rPr lang="en-US" sz="1150" b="1" dirty="0">
                <a:solidFill>
                  <a:srgbClr val="E1B07E"/>
                </a:solidFill>
                <a:latin typeface="Calibri" pitchFamily="34" charset="0"/>
                <a:ea typeface="Calibri" pitchFamily="34" charset="-122"/>
                <a:cs typeface="Calibri" pitchFamily="34" charset="-120"/>
              </a:rPr>
              <a:t>Deoptimise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1. Discard compiled code   2. Hard-reset IC → UNINIT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3. Redo the access through the interpreter + IC</a:t>
            </a:r>
            <a:endParaRPr lang="en-US" sz="1150" dirty="0"/>
          </a:p>
        </p:txBody>
      </p:sp>
      <p:sp>
        <p:nvSpPr>
          <p:cNvPr id="22" name="Text 20"/>
          <p:cNvSpPr txBox="1"/>
          <p:nvPr/>
        </p:nvSpPr>
        <p:spPr>
          <a:xfrm>
            <a:off x="6675120" y="1143000"/>
            <a:ext cx="2103120" cy="457200"/>
          </a:xfrm>
          <a:prstGeom prst="rect">
            <a:avLst/>
          </a:prstGeom>
          <a:noFill/>
          <a:ln/>
        </p:spPr>
        <p:txBody>
          <a:bodyPr wrap="square" lIns="0" tIns="0" rIns="0" bIns="0" rtlCol="0" anchor="t"/>
          <a:lstStyle/>
          <a:p>
            <a:pPr indent="0" marL="0">
              <a:buNone/>
            </a:pPr>
            <a:r>
              <a:rPr lang="en-US" sz="1100" b="1" dirty="0">
                <a:solidFill>
                  <a:srgbClr val="513B3C"/>
                </a:solidFill>
                <a:latin typeface="Calibri" pitchFamily="34" charset="0"/>
                <a:ea typeface="Calibri" pitchFamily="34" charset="-122"/>
                <a:cs typeface="Calibri" pitchFamily="34" charset="-120"/>
              </a:rPr>
              <a:t>IC5: 50 shape-A objects, then 50 shape-B</a:t>
            </a:r>
            <a:endParaRPr lang="en-US" sz="1100" dirty="0"/>
          </a:p>
        </p:txBody>
      </p:sp>
      <p:sp>
        <p:nvSpPr>
          <p:cNvPr id="23" name="Text 21"/>
          <p:cNvSpPr txBox="1"/>
          <p:nvPr/>
        </p:nvSpPr>
        <p:spPr>
          <a:xfrm>
            <a:off x="6675120" y="164592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1</a:t>
            </a:r>
            <a:endParaRPr lang="en-US" sz="2400" dirty="0"/>
          </a:p>
        </p:txBody>
      </p:sp>
      <p:sp>
        <p:nvSpPr>
          <p:cNvPr id="24" name="Text 22"/>
          <p:cNvSpPr txBox="1"/>
          <p:nvPr/>
        </p:nvSpPr>
        <p:spPr>
          <a:xfrm>
            <a:off x="6675120" y="201168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deopt, at the first B</a:t>
            </a:r>
            <a:endParaRPr lang="en-US" sz="1050" dirty="0"/>
          </a:p>
        </p:txBody>
      </p:sp>
      <p:sp>
        <p:nvSpPr>
          <p:cNvPr id="25" name="Text 23"/>
          <p:cNvSpPr txBox="1"/>
          <p:nvPr/>
        </p:nvSpPr>
        <p:spPr>
          <a:xfrm>
            <a:off x="6675120" y="2377440"/>
            <a:ext cx="2011680" cy="384048"/>
          </a:xfrm>
          <a:prstGeom prst="rect">
            <a:avLst/>
          </a:prstGeom>
          <a:noFill/>
          <a:ln/>
        </p:spPr>
        <p:txBody>
          <a:bodyPr wrap="square" lIns="0" tIns="0" rIns="0" bIns="0" rtlCol="0" anchor="ctr"/>
          <a:lstStyle/>
          <a:p>
            <a:pPr indent="0" marL="0">
              <a:buNone/>
            </a:pPr>
            <a:r>
              <a:rPr lang="en-US" sz="1800" b="1" dirty="0">
                <a:solidFill>
                  <a:srgbClr val="548687"/>
                </a:solidFill>
                <a:latin typeface="Cambria" pitchFamily="34" charset="0"/>
                <a:ea typeface="Cambria" pitchFamily="34" charset="-122"/>
                <a:cs typeface="Cambria" pitchFamily="34" charset="-120"/>
              </a:rPr>
              <a:t>UNINIT</a:t>
            </a:r>
            <a:endParaRPr lang="en-US" sz="1800" dirty="0"/>
          </a:p>
        </p:txBody>
      </p:sp>
      <p:sp>
        <p:nvSpPr>
          <p:cNvPr id="26" name="Text 24"/>
          <p:cNvSpPr txBox="1"/>
          <p:nvPr/>
        </p:nvSpPr>
        <p:spPr>
          <a:xfrm>
            <a:off x="6675120" y="274320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state right after reset</a:t>
            </a:r>
            <a:endParaRPr lang="en-US" sz="1050" dirty="0"/>
          </a:p>
        </p:txBody>
      </p:sp>
      <p:sp>
        <p:nvSpPr>
          <p:cNvPr id="27" name="Text 25"/>
          <p:cNvSpPr txBox="1"/>
          <p:nvPr/>
        </p:nvSpPr>
        <p:spPr>
          <a:xfrm>
            <a:off x="6675120" y="310896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92</a:t>
            </a:r>
            <a:endParaRPr lang="en-US" sz="2400" dirty="0"/>
          </a:p>
        </p:txBody>
      </p:sp>
      <p:sp>
        <p:nvSpPr>
          <p:cNvPr id="28" name="Text 26"/>
          <p:cNvSpPr txBox="1"/>
          <p:nvPr/>
        </p:nvSpPr>
        <p:spPr>
          <a:xfrm>
            <a:off x="6675120" y="347472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fast-path reads</a:t>
            </a:r>
            <a:endParaRPr lang="en-US" sz="1050" dirty="0"/>
          </a:p>
        </p:txBody>
      </p:sp>
      <p:sp>
        <p:nvSpPr>
          <p:cNvPr id="29" name="Text 27"/>
          <p:cNvSpPr txBox="1"/>
          <p:nvPr/>
        </p:nvSpPr>
        <p:spPr>
          <a:xfrm>
            <a:off x="6675120" y="384048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0</a:t>
            </a:r>
            <a:endParaRPr lang="en-US" sz="2400" dirty="0"/>
          </a:p>
        </p:txBody>
      </p:sp>
      <p:sp>
        <p:nvSpPr>
          <p:cNvPr id="30" name="Text 28"/>
          <p:cNvSpPr txBox="1"/>
          <p:nvPr/>
        </p:nvSpPr>
        <p:spPr>
          <a:xfrm>
            <a:off x="6675120" y="420624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mismatches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18</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Tier-2 status and risks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4846320" cy="512064"/>
          </a:xfrm>
          <a:prstGeom prst="roundRect">
            <a:avLst>
              <a:gd name="adj" fmla="val 14286"/>
            </a:avLst>
          </a:prstGeom>
          <a:solidFill>
            <a:srgbClr val="E6F8FF"/>
          </a:solidFill>
          <a:ln w="12700">
            <a:solidFill>
              <a:srgbClr val="E6F8FF"/>
            </a:solidFill>
            <a:prstDash val="solid"/>
          </a:ln>
        </p:spPr>
      </p:sp>
      <p:sp>
        <p:nvSpPr>
          <p:cNvPr id="7" name="Text 5"/>
          <p:cNvSpPr txBox="1"/>
          <p:nvPr/>
        </p:nvSpPr>
        <p:spPr>
          <a:xfrm>
            <a:off x="640080" y="1188720"/>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Native codegen for arithmetic hot paths (asmjit)</a:t>
            </a:r>
            <a:endParaRPr lang="en-US" sz="1200" dirty="0"/>
          </a:p>
        </p:txBody>
      </p:sp>
      <p:sp>
        <p:nvSpPr>
          <p:cNvPr id="8" name="Shape 6"/>
          <p:cNvSpPr/>
          <p:nvPr/>
        </p:nvSpPr>
        <p:spPr>
          <a:xfrm>
            <a:off x="4069080" y="1289304"/>
            <a:ext cx="1097280" cy="310896"/>
          </a:xfrm>
          <a:prstGeom prst="roundRect">
            <a:avLst>
              <a:gd name="adj" fmla="val 23529"/>
            </a:avLst>
          </a:prstGeom>
          <a:solidFill>
            <a:srgbClr val="548687"/>
          </a:solidFill>
          <a:ln w="12700">
            <a:solidFill>
              <a:srgbClr val="548687"/>
            </a:solidFill>
            <a:prstDash val="solid"/>
          </a:ln>
        </p:spPr>
      </p:sp>
      <p:sp>
        <p:nvSpPr>
          <p:cNvPr id="9" name="Text 7"/>
          <p:cNvSpPr txBox="1"/>
          <p:nvPr/>
        </p:nvSpPr>
        <p:spPr>
          <a:xfrm>
            <a:off x="4069080" y="1289304"/>
            <a:ext cx="10972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Implemented</a:t>
            </a:r>
            <a:endParaRPr lang="en-US" sz="1050" dirty="0"/>
          </a:p>
        </p:txBody>
      </p:sp>
      <p:sp>
        <p:nvSpPr>
          <p:cNvPr id="10" name="Shape 8"/>
          <p:cNvSpPr/>
          <p:nvPr/>
        </p:nvSpPr>
        <p:spPr>
          <a:xfrm>
            <a:off x="457200" y="1810512"/>
            <a:ext cx="4846320" cy="512064"/>
          </a:xfrm>
          <a:prstGeom prst="roundRect">
            <a:avLst>
              <a:gd name="adj" fmla="val 14286"/>
            </a:avLst>
          </a:prstGeom>
          <a:solidFill>
            <a:srgbClr val="E6F8FF"/>
          </a:solidFill>
          <a:ln w="12700">
            <a:solidFill>
              <a:srgbClr val="E6F8FF"/>
            </a:solidFill>
            <a:prstDash val="solid"/>
          </a:ln>
        </p:spPr>
      </p:sp>
      <p:sp>
        <p:nvSpPr>
          <p:cNvPr id="11" name="Text 9"/>
          <p:cNvSpPr txBox="1"/>
          <p:nvPr/>
        </p:nvSpPr>
        <p:spPr>
          <a:xfrm>
            <a:off x="640080" y="1810512"/>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Guard + deopt logic (reference model, IC5)</a:t>
            </a:r>
            <a:endParaRPr lang="en-US" sz="1200" dirty="0"/>
          </a:p>
        </p:txBody>
      </p:sp>
      <p:sp>
        <p:nvSpPr>
          <p:cNvPr id="12" name="Shape 10"/>
          <p:cNvSpPr/>
          <p:nvPr/>
        </p:nvSpPr>
        <p:spPr>
          <a:xfrm>
            <a:off x="4069080" y="1911096"/>
            <a:ext cx="1097280" cy="310896"/>
          </a:xfrm>
          <a:prstGeom prst="roundRect">
            <a:avLst>
              <a:gd name="adj" fmla="val 23529"/>
            </a:avLst>
          </a:prstGeom>
          <a:solidFill>
            <a:srgbClr val="548687"/>
          </a:solidFill>
          <a:ln w="12700">
            <a:solidFill>
              <a:srgbClr val="548687"/>
            </a:solidFill>
            <a:prstDash val="solid"/>
          </a:ln>
        </p:spPr>
      </p:sp>
      <p:sp>
        <p:nvSpPr>
          <p:cNvPr id="13" name="Text 11"/>
          <p:cNvSpPr txBox="1"/>
          <p:nvPr/>
        </p:nvSpPr>
        <p:spPr>
          <a:xfrm>
            <a:off x="4069080" y="1911096"/>
            <a:ext cx="10972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Tested</a:t>
            </a:r>
            <a:endParaRPr lang="en-US" sz="1050" dirty="0"/>
          </a:p>
        </p:txBody>
      </p:sp>
      <p:sp>
        <p:nvSpPr>
          <p:cNvPr id="14" name="Shape 12"/>
          <p:cNvSpPr/>
          <p:nvPr/>
        </p:nvSpPr>
        <p:spPr>
          <a:xfrm>
            <a:off x="457200" y="2432304"/>
            <a:ext cx="4846320" cy="512064"/>
          </a:xfrm>
          <a:prstGeom prst="roundRect">
            <a:avLst>
              <a:gd name="adj" fmla="val 14286"/>
            </a:avLst>
          </a:prstGeom>
          <a:solidFill>
            <a:srgbClr val="E6F8FF"/>
          </a:solidFill>
          <a:ln w="12700">
            <a:solidFill>
              <a:srgbClr val="E6F8FF"/>
            </a:solidFill>
            <a:prstDash val="solid"/>
          </a:ln>
        </p:spPr>
      </p:sp>
      <p:sp>
        <p:nvSpPr>
          <p:cNvPr id="15" name="Text 13"/>
          <p:cNvSpPr txBox="1"/>
          <p:nvPr/>
        </p:nvSpPr>
        <p:spPr>
          <a:xfrm>
            <a:off x="640080" y="2432304"/>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Inline-cache guards emitted in native code</a:t>
            </a:r>
            <a:endParaRPr lang="en-US" sz="1200" dirty="0"/>
          </a:p>
        </p:txBody>
      </p:sp>
      <p:sp>
        <p:nvSpPr>
          <p:cNvPr id="16" name="Shape 14"/>
          <p:cNvSpPr/>
          <p:nvPr/>
        </p:nvSpPr>
        <p:spPr>
          <a:xfrm>
            <a:off x="4069080" y="2532888"/>
            <a:ext cx="1097280" cy="310896"/>
          </a:xfrm>
          <a:prstGeom prst="roundRect">
            <a:avLst>
              <a:gd name="adj" fmla="val 23529"/>
            </a:avLst>
          </a:prstGeom>
          <a:solidFill>
            <a:srgbClr val="E5BE9E"/>
          </a:solidFill>
          <a:ln w="12700">
            <a:solidFill>
              <a:srgbClr val="E5BE9E"/>
            </a:solidFill>
            <a:prstDash val="solid"/>
          </a:ln>
        </p:spPr>
      </p:sp>
      <p:sp>
        <p:nvSpPr>
          <p:cNvPr id="17" name="Text 15"/>
          <p:cNvSpPr txBox="1"/>
          <p:nvPr/>
        </p:nvSpPr>
        <p:spPr>
          <a:xfrm>
            <a:off x="4069080" y="2532888"/>
            <a:ext cx="1097280" cy="310896"/>
          </a:xfrm>
          <a:prstGeom prst="rect">
            <a:avLst/>
          </a:prstGeom>
          <a:noFill/>
          <a:ln/>
        </p:spPr>
        <p:txBody>
          <a:bodyPr wrap="square" lIns="0" tIns="0" rIns="0" bIns="0" rtlCol="0" anchor="ctr"/>
          <a:lstStyle/>
          <a:p>
            <a:pPr algn="ctr" indent="0" marL="0">
              <a:buNone/>
            </a:pPr>
            <a:r>
              <a:rPr lang="en-US" sz="1050" b="1" dirty="0">
                <a:solidFill>
                  <a:srgbClr val="513B3C"/>
                </a:solidFill>
                <a:latin typeface="Calibri" pitchFamily="34" charset="0"/>
                <a:ea typeface="Calibri" pitchFamily="34" charset="-122"/>
                <a:cs typeface="Calibri" pitchFamily="34" charset="-120"/>
              </a:rPr>
              <a:t>Not started</a:t>
            </a:r>
            <a:endParaRPr lang="en-US" sz="1050" dirty="0"/>
          </a:p>
        </p:txBody>
      </p:sp>
      <p:sp>
        <p:nvSpPr>
          <p:cNvPr id="18" name="Shape 16"/>
          <p:cNvSpPr/>
          <p:nvPr/>
        </p:nvSpPr>
        <p:spPr>
          <a:xfrm>
            <a:off x="457200" y="3054096"/>
            <a:ext cx="4846320" cy="512064"/>
          </a:xfrm>
          <a:prstGeom prst="roundRect">
            <a:avLst>
              <a:gd name="adj" fmla="val 14286"/>
            </a:avLst>
          </a:prstGeom>
          <a:solidFill>
            <a:srgbClr val="E6F8FF"/>
          </a:solidFill>
          <a:ln w="12700">
            <a:solidFill>
              <a:srgbClr val="E6F8FF"/>
            </a:solidFill>
            <a:prstDash val="solid"/>
          </a:ln>
        </p:spPr>
      </p:sp>
      <p:sp>
        <p:nvSpPr>
          <p:cNvPr id="19" name="Text 17"/>
          <p:cNvSpPr txBox="1"/>
          <p:nvPr/>
        </p:nvSpPr>
        <p:spPr>
          <a:xfrm>
            <a:off x="640080" y="3054096"/>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Native deopt path (tier-2 → UNINIT)</a:t>
            </a:r>
            <a:endParaRPr lang="en-US" sz="1200" dirty="0"/>
          </a:p>
        </p:txBody>
      </p:sp>
      <p:sp>
        <p:nvSpPr>
          <p:cNvPr id="20" name="Shape 18"/>
          <p:cNvSpPr/>
          <p:nvPr/>
        </p:nvSpPr>
        <p:spPr>
          <a:xfrm>
            <a:off x="4069080" y="3154680"/>
            <a:ext cx="1097280" cy="310896"/>
          </a:xfrm>
          <a:prstGeom prst="roundRect">
            <a:avLst>
              <a:gd name="adj" fmla="val 23529"/>
            </a:avLst>
          </a:prstGeom>
          <a:solidFill>
            <a:srgbClr val="E1B07E"/>
          </a:solidFill>
          <a:ln w="12700">
            <a:solidFill>
              <a:srgbClr val="E1B07E"/>
            </a:solidFill>
            <a:prstDash val="solid"/>
          </a:ln>
        </p:spPr>
      </p:sp>
      <p:sp>
        <p:nvSpPr>
          <p:cNvPr id="21" name="Text 19"/>
          <p:cNvSpPr txBox="1"/>
          <p:nvPr/>
        </p:nvSpPr>
        <p:spPr>
          <a:xfrm>
            <a:off x="4069080" y="3154680"/>
            <a:ext cx="1097280" cy="310896"/>
          </a:xfrm>
          <a:prstGeom prst="rect">
            <a:avLst/>
          </a:prstGeom>
          <a:noFill/>
          <a:ln/>
        </p:spPr>
        <p:txBody>
          <a:bodyPr wrap="square" lIns="0" tIns="0" rIns="0" bIns="0" rtlCol="0" anchor="ctr"/>
          <a:lstStyle/>
          <a:p>
            <a:pPr algn="ctr" indent="0" marL="0">
              <a:buNone/>
            </a:pPr>
            <a:r>
              <a:rPr lang="en-US" sz="1050" b="1" dirty="0">
                <a:solidFill>
                  <a:srgbClr val="513B3C"/>
                </a:solidFill>
                <a:latin typeface="Calibri" pitchFamily="34" charset="0"/>
                <a:ea typeface="Calibri" pitchFamily="34" charset="-122"/>
                <a:cs typeface="Calibri" pitchFamily="34" charset="-120"/>
              </a:rPr>
              <a:t>Stubbed</a:t>
            </a:r>
            <a:endParaRPr lang="en-US" sz="1050" dirty="0"/>
          </a:p>
        </p:txBody>
      </p:sp>
      <p:sp>
        <p:nvSpPr>
          <p:cNvPr id="22" name="Text 20"/>
          <p:cNvSpPr txBox="1"/>
          <p:nvPr/>
        </p:nvSpPr>
        <p:spPr>
          <a:xfrm>
            <a:off x="457200" y="3749040"/>
            <a:ext cx="4846320" cy="457200"/>
          </a:xfrm>
          <a:prstGeom prst="rect">
            <a:avLst/>
          </a:prstGeom>
          <a:noFill/>
          <a:ln/>
        </p:spPr>
        <p:txBody>
          <a:bodyPr wrap="square" lIns="0" tIns="0" rIns="0" bIns="0" rtlCol="0" anchor="t"/>
          <a:lstStyle/>
          <a:p>
            <a:pPr indent="0" marL="0">
              <a:buNone/>
            </a:pPr>
            <a:r>
              <a:rPr lang="en-US" sz="1100" i="1" dirty="0">
                <a:solidFill>
                  <a:srgbClr val="7D6A6B"/>
                </a:solidFill>
                <a:latin typeface="Calibri" pitchFamily="34" charset="0"/>
                <a:ea typeface="Calibri" pitchFamily="34" charset="-122"/>
                <a:cs typeface="Calibri" pitchFamily="34" charset="-120"/>
              </a:rPr>
              <a:t>Compiled code currently falls back to the interpreter for any field-access opcode.</a:t>
            </a:r>
            <a:endParaRPr lang="en-US" sz="1100" dirty="0"/>
          </a:p>
        </p:txBody>
      </p:sp>
      <p:sp>
        <p:nvSpPr>
          <p:cNvPr id="23" name="Shape 21"/>
          <p:cNvSpPr/>
          <p:nvPr/>
        </p:nvSpPr>
        <p:spPr>
          <a:xfrm>
            <a:off x="5577840" y="1188720"/>
            <a:ext cx="3108960" cy="3383280"/>
          </a:xfrm>
          <a:prstGeom prst="roundRect">
            <a:avLst>
              <a:gd name="adj" fmla="val 2353"/>
            </a:avLst>
          </a:prstGeom>
          <a:solidFill>
            <a:srgbClr val="513B3C"/>
          </a:solidFill>
          <a:ln w="12700">
            <a:solidFill>
              <a:srgbClr val="513B3C"/>
            </a:solidFill>
            <a:prstDash val="solid"/>
          </a:ln>
        </p:spPr>
      </p:sp>
      <p:sp>
        <p:nvSpPr>
          <p:cNvPr id="24" name="Text 22"/>
          <p:cNvSpPr txBox="1"/>
          <p:nvPr/>
        </p:nvSpPr>
        <p:spPr>
          <a:xfrm>
            <a:off x="580644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RISK</a:t>
            </a:r>
            <a:endParaRPr lang="en-US" sz="1100" dirty="0"/>
          </a:p>
        </p:txBody>
      </p:sp>
      <p:sp>
        <p:nvSpPr>
          <p:cNvPr id="25" name="Text 23"/>
          <p:cNvSpPr txBox="1"/>
          <p:nvPr/>
        </p:nvSpPr>
        <p:spPr>
          <a:xfrm>
            <a:off x="5806440" y="1600200"/>
            <a:ext cx="2743200"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M3 is slightly behind schedule</a:t>
            </a:r>
            <a:endParaRPr lang="en-US" sz="1600" dirty="0"/>
          </a:p>
        </p:txBody>
      </p:sp>
      <p:sp>
        <p:nvSpPr>
          <p:cNvPr id="26" name="Text 24"/>
          <p:cNvSpPr txBox="1"/>
          <p:nvPr/>
        </p:nvSpPr>
        <p:spPr>
          <a:xfrm>
            <a:off x="5806440" y="2194560"/>
            <a:ext cx="2743200" cy="640080"/>
          </a:xfrm>
          <a:prstGeom prst="rect">
            <a:avLst/>
          </a:prstGeom>
          <a:noFill/>
          <a:ln/>
        </p:spPr>
        <p:txBody>
          <a:bodyPr wrap="square" lIns="0" tIns="0" rIns="0" bIns="0" rtlCol="0" anchor="t"/>
          <a:lstStyle/>
          <a:p>
            <a:pPr indent="0" marL="0">
              <a:buNone/>
            </a:pPr>
            <a:r>
              <a:rPr lang="en-US" sz="1150" dirty="0">
                <a:solidFill>
                  <a:srgbClr val="C1EEFF"/>
                </a:solidFill>
                <a:latin typeface="Calibri" pitchFamily="34" charset="0"/>
                <a:ea typeface="Calibri" pitchFamily="34" charset="-122"/>
                <a:cs typeface="Calibri" pitchFamily="34" charset="-120"/>
              </a:rPr>
              <a:t>Guard codegen is the gap; it could delay the ≥ 2× native speedup target.</a:t>
            </a:r>
            <a:endParaRPr lang="en-US" sz="1150" dirty="0"/>
          </a:p>
        </p:txBody>
      </p:sp>
      <p:sp>
        <p:nvSpPr>
          <p:cNvPr id="27" name="Text 25"/>
          <p:cNvSpPr txBox="1"/>
          <p:nvPr/>
        </p:nvSpPr>
        <p:spPr>
          <a:xfrm>
            <a:off x="5806440" y="29260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MITIGATION</a:t>
            </a:r>
            <a:endParaRPr lang="en-US" sz="1100" dirty="0"/>
          </a:p>
        </p:txBody>
      </p:sp>
      <p:sp>
        <p:nvSpPr>
          <p:cNvPr id="28" name="Text 26"/>
          <p:cNvSpPr txBox="1"/>
          <p:nvPr/>
        </p:nvSpPr>
        <p:spPr>
          <a:xfrm>
            <a:off x="5806440" y="3200400"/>
            <a:ext cx="2743200" cy="1188720"/>
          </a:xfrm>
          <a:prstGeom prst="rect">
            <a:avLst/>
          </a:prstGeom>
          <a:noFill/>
          <a:ln/>
        </p:spPr>
        <p:txBody>
          <a:bodyPr wrap="square" lIns="0" tIns="0" rIns="0" bIns="0" rtlCol="0" anchor="t"/>
          <a:lstStyle/>
          <a:p>
            <a:pPr indent="0" marL="0">
              <a:buNone/>
            </a:pPr>
            <a:r>
              <a:rPr lang="en-US" sz="1150" dirty="0">
                <a:solidFill>
                  <a:srgbClr val="C1EEFF"/>
                </a:solidFill>
                <a:latin typeface="Calibri" pitchFamily="34" charset="0"/>
                <a:ea typeface="Calibri" pitchFamily="34" charset="-122"/>
                <a:cs typeface="Calibri" pitchFamily="34" charset="-120"/>
              </a:rPr>
              <a:t>Port the tested guard/deopt logic directly; fall back to threaded code (Review 1 contingency) if native guards slip.</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19</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Next steps toward Review 3</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4023360" cy="914400"/>
          </a:xfrm>
          <a:prstGeom prst="roundRect">
            <a:avLst>
              <a:gd name="adj" fmla="val 8000"/>
            </a:avLst>
          </a:prstGeom>
          <a:solidFill>
            <a:srgbClr val="C1EEFF"/>
          </a:solidFill>
          <a:ln w="12700">
            <a:solidFill>
              <a:srgbClr val="C1EEFF"/>
            </a:solidFill>
            <a:prstDash val="solid"/>
          </a:ln>
        </p:spPr>
      </p:sp>
      <p:sp>
        <p:nvSpPr>
          <p:cNvPr id="7" name="Shape 5"/>
          <p:cNvSpPr/>
          <p:nvPr/>
        </p:nvSpPr>
        <p:spPr>
          <a:xfrm>
            <a:off x="640080" y="1389888"/>
            <a:ext cx="512064" cy="512064"/>
          </a:xfrm>
          <a:prstGeom prst="ellipse">
            <a:avLst/>
          </a:prstGeom>
          <a:solidFill>
            <a:srgbClr val="548687"/>
          </a:solidFill>
          <a:ln w="12700">
            <a:solidFill>
              <a:srgbClr val="548687"/>
            </a:solidFill>
            <a:prstDash val="solid"/>
          </a:ln>
        </p:spPr>
      </p:sp>
      <p:sp>
        <p:nvSpPr>
          <p:cNvPr id="8" name="Text 6"/>
          <p:cNvSpPr txBox="1"/>
          <p:nvPr/>
        </p:nvSpPr>
        <p:spPr>
          <a:xfrm>
            <a:off x="640080" y="13898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325880" y="132588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Emit IC guards in tier-2 native code</a:t>
            </a:r>
            <a:endParaRPr lang="en-US" sz="1300" dirty="0"/>
          </a:p>
        </p:txBody>
      </p:sp>
      <p:sp>
        <p:nvSpPr>
          <p:cNvPr id="10" name="Text 8"/>
          <p:cNvSpPr txBox="1"/>
          <p:nvPr/>
        </p:nvSpPr>
        <p:spPr>
          <a:xfrm>
            <a:off x="1325880" y="166420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not just in the interpreter</a:t>
            </a:r>
            <a:endParaRPr lang="en-US" sz="1100" dirty="0"/>
          </a:p>
        </p:txBody>
      </p:sp>
      <p:sp>
        <p:nvSpPr>
          <p:cNvPr id="11" name="Shape 9"/>
          <p:cNvSpPr/>
          <p:nvPr/>
        </p:nvSpPr>
        <p:spPr>
          <a:xfrm>
            <a:off x="4663440" y="1188720"/>
            <a:ext cx="4023360" cy="914400"/>
          </a:xfrm>
          <a:prstGeom prst="roundRect">
            <a:avLst>
              <a:gd name="adj" fmla="val 8000"/>
            </a:avLst>
          </a:prstGeom>
          <a:solidFill>
            <a:srgbClr val="C1EEFF"/>
          </a:solidFill>
          <a:ln w="12700">
            <a:solidFill>
              <a:srgbClr val="C1EEFF"/>
            </a:solidFill>
            <a:prstDash val="solid"/>
          </a:ln>
        </p:spPr>
      </p:sp>
      <p:sp>
        <p:nvSpPr>
          <p:cNvPr id="12" name="Shape 10"/>
          <p:cNvSpPr/>
          <p:nvPr/>
        </p:nvSpPr>
        <p:spPr>
          <a:xfrm>
            <a:off x="4846320" y="1389888"/>
            <a:ext cx="512064" cy="512064"/>
          </a:xfrm>
          <a:prstGeom prst="ellipse">
            <a:avLst/>
          </a:prstGeom>
          <a:solidFill>
            <a:srgbClr val="548687"/>
          </a:solidFill>
          <a:ln w="12700">
            <a:solidFill>
              <a:srgbClr val="548687"/>
            </a:solidFill>
            <a:prstDash val="solid"/>
          </a:ln>
        </p:spPr>
      </p:sp>
      <p:sp>
        <p:nvSpPr>
          <p:cNvPr id="13" name="Text 11"/>
          <p:cNvSpPr txBox="1"/>
          <p:nvPr/>
        </p:nvSpPr>
        <p:spPr>
          <a:xfrm>
            <a:off x="4846320" y="13898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532120" y="132588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Exercise native deopt end to end</a:t>
            </a:r>
            <a:endParaRPr lang="en-US" sz="1300" dirty="0"/>
          </a:p>
        </p:txBody>
      </p:sp>
      <p:sp>
        <p:nvSpPr>
          <p:cNvPr id="15" name="Text 13"/>
          <p:cNvSpPr txBox="1"/>
          <p:nvPr/>
        </p:nvSpPr>
        <p:spPr>
          <a:xfrm>
            <a:off x="5532120" y="166420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match IC5: hard reset to UNINIT</a:t>
            </a:r>
            <a:endParaRPr lang="en-US" sz="1100" dirty="0"/>
          </a:p>
        </p:txBody>
      </p:sp>
      <p:sp>
        <p:nvSpPr>
          <p:cNvPr id="16" name="Shape 14"/>
          <p:cNvSpPr/>
          <p:nvPr/>
        </p:nvSpPr>
        <p:spPr>
          <a:xfrm>
            <a:off x="457200" y="2286000"/>
            <a:ext cx="4023360" cy="914400"/>
          </a:xfrm>
          <a:prstGeom prst="roundRect">
            <a:avLst>
              <a:gd name="adj" fmla="val 8000"/>
            </a:avLst>
          </a:prstGeom>
          <a:solidFill>
            <a:srgbClr val="E6F8FF"/>
          </a:solidFill>
          <a:ln w="12700">
            <a:solidFill>
              <a:srgbClr val="E6F8FF"/>
            </a:solidFill>
            <a:prstDash val="solid"/>
          </a:ln>
        </p:spPr>
      </p:sp>
      <p:sp>
        <p:nvSpPr>
          <p:cNvPr id="17" name="Shape 15"/>
          <p:cNvSpPr/>
          <p:nvPr/>
        </p:nvSpPr>
        <p:spPr>
          <a:xfrm>
            <a:off x="640080" y="2487168"/>
            <a:ext cx="512064" cy="512064"/>
          </a:xfrm>
          <a:prstGeom prst="ellipse">
            <a:avLst/>
          </a:prstGeom>
          <a:solidFill>
            <a:srgbClr val="548687"/>
          </a:solidFill>
          <a:ln w="12700">
            <a:solidFill>
              <a:srgbClr val="548687"/>
            </a:solidFill>
            <a:prstDash val="solid"/>
          </a:ln>
        </p:spPr>
      </p:sp>
      <p:sp>
        <p:nvSpPr>
          <p:cNvPr id="18" name="Text 16"/>
          <p:cNvSpPr txBox="1"/>
          <p:nvPr/>
        </p:nvSpPr>
        <p:spPr>
          <a:xfrm>
            <a:off x="640080" y="24871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325880" y="242316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Tune the megamorphic cache</a:t>
            </a:r>
            <a:endParaRPr lang="en-US" sz="1300" dirty="0"/>
          </a:p>
        </p:txBody>
      </p:sp>
      <p:sp>
        <p:nvSpPr>
          <p:cNvPr id="20" name="Text 18"/>
          <p:cNvSpPr txBox="1"/>
          <p:nvPr/>
        </p:nvSpPr>
        <p:spPr>
          <a:xfrm>
            <a:off x="1325880" y="276148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capacity and eviction policy (fix 0.89×)</a:t>
            </a:r>
            <a:endParaRPr lang="en-US" sz="1100" dirty="0"/>
          </a:p>
        </p:txBody>
      </p:sp>
      <p:sp>
        <p:nvSpPr>
          <p:cNvPr id="21" name="Shape 19"/>
          <p:cNvSpPr/>
          <p:nvPr/>
        </p:nvSpPr>
        <p:spPr>
          <a:xfrm>
            <a:off x="4663440" y="2286000"/>
            <a:ext cx="4023360" cy="914400"/>
          </a:xfrm>
          <a:prstGeom prst="roundRect">
            <a:avLst>
              <a:gd name="adj" fmla="val 8000"/>
            </a:avLst>
          </a:prstGeom>
          <a:solidFill>
            <a:srgbClr val="E6F8FF"/>
          </a:solidFill>
          <a:ln w="12700">
            <a:solidFill>
              <a:srgbClr val="E6F8FF"/>
            </a:solidFill>
            <a:prstDash val="solid"/>
          </a:ln>
        </p:spPr>
      </p:sp>
      <p:sp>
        <p:nvSpPr>
          <p:cNvPr id="22" name="Shape 20"/>
          <p:cNvSpPr/>
          <p:nvPr/>
        </p:nvSpPr>
        <p:spPr>
          <a:xfrm>
            <a:off x="4846320" y="2487168"/>
            <a:ext cx="512064" cy="512064"/>
          </a:xfrm>
          <a:prstGeom prst="ellipse">
            <a:avLst/>
          </a:prstGeom>
          <a:solidFill>
            <a:srgbClr val="548687"/>
          </a:solidFill>
          <a:ln w="12700">
            <a:solidFill>
              <a:srgbClr val="548687"/>
            </a:solidFill>
            <a:prstDash val="solid"/>
          </a:ln>
        </p:spPr>
      </p:sp>
      <p:sp>
        <p:nvSpPr>
          <p:cNvPr id="23" name="Text 21"/>
          <p:cNvSpPr txBox="1"/>
          <p:nvPr/>
        </p:nvSpPr>
        <p:spPr>
          <a:xfrm>
            <a:off x="4846320" y="24871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5532120" y="242316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Configurable hot threshold</a:t>
            </a:r>
            <a:endParaRPr lang="en-US" sz="1300" dirty="0"/>
          </a:p>
        </p:txBody>
      </p:sp>
      <p:sp>
        <p:nvSpPr>
          <p:cNvPr id="25" name="Text 23"/>
          <p:cNvSpPr txBox="1"/>
          <p:nvPr/>
        </p:nvSpPr>
        <p:spPr>
          <a:xfrm>
            <a:off x="5532120" y="276148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sweep it during benchmarking</a:t>
            </a:r>
            <a:endParaRPr lang="en-US" sz="1100" dirty="0"/>
          </a:p>
        </p:txBody>
      </p:sp>
      <p:sp>
        <p:nvSpPr>
          <p:cNvPr id="26" name="Shape 24"/>
          <p:cNvSpPr/>
          <p:nvPr/>
        </p:nvSpPr>
        <p:spPr>
          <a:xfrm>
            <a:off x="457200" y="3383280"/>
            <a:ext cx="4023360" cy="914400"/>
          </a:xfrm>
          <a:prstGeom prst="roundRect">
            <a:avLst>
              <a:gd name="adj" fmla="val 8000"/>
            </a:avLst>
          </a:prstGeom>
          <a:solidFill>
            <a:srgbClr val="E6F8FF"/>
          </a:solidFill>
          <a:ln w="12700">
            <a:solidFill>
              <a:srgbClr val="E6F8FF"/>
            </a:solidFill>
            <a:prstDash val="solid"/>
          </a:ln>
        </p:spPr>
      </p:sp>
      <p:sp>
        <p:nvSpPr>
          <p:cNvPr id="27" name="Shape 25"/>
          <p:cNvSpPr/>
          <p:nvPr/>
        </p:nvSpPr>
        <p:spPr>
          <a:xfrm>
            <a:off x="640080" y="3584448"/>
            <a:ext cx="512064" cy="512064"/>
          </a:xfrm>
          <a:prstGeom prst="ellipse">
            <a:avLst/>
          </a:prstGeom>
          <a:solidFill>
            <a:srgbClr val="548687"/>
          </a:solidFill>
          <a:ln w="12700">
            <a:solidFill>
              <a:srgbClr val="548687"/>
            </a:solidFill>
            <a:prstDash val="solid"/>
          </a:ln>
        </p:spPr>
      </p:sp>
      <p:sp>
        <p:nvSpPr>
          <p:cNvPr id="28" name="Text 26"/>
          <p:cNvSpPr txBox="1"/>
          <p:nvPr/>
        </p:nvSpPr>
        <p:spPr>
          <a:xfrm>
            <a:off x="640080" y="3584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txBox="1"/>
          <p:nvPr/>
        </p:nvSpPr>
        <p:spPr>
          <a:xfrm>
            <a:off x="1325880" y="352044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Full benchmark on the nominated machine</a:t>
            </a:r>
            <a:endParaRPr lang="en-US" sz="1300" dirty="0"/>
          </a:p>
        </p:txBody>
      </p:sp>
      <p:sp>
        <p:nvSpPr>
          <p:cNvPr id="30" name="Text 28"/>
          <p:cNvSpPr txBox="1"/>
          <p:nvPr/>
        </p:nvSpPr>
        <p:spPr>
          <a:xfrm>
            <a:off x="1325880" y="385876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final, comparable timings</a:t>
            </a:r>
            <a:endParaRPr lang="en-US" sz="1100" dirty="0"/>
          </a:p>
        </p:txBody>
      </p:sp>
      <p:sp>
        <p:nvSpPr>
          <p:cNvPr id="31" name="Shape 29"/>
          <p:cNvSpPr/>
          <p:nvPr/>
        </p:nvSpPr>
        <p:spPr>
          <a:xfrm>
            <a:off x="4663440" y="3383280"/>
            <a:ext cx="4023360" cy="914400"/>
          </a:xfrm>
          <a:prstGeom prst="roundRect">
            <a:avLst>
              <a:gd name="adj" fmla="val 8000"/>
            </a:avLst>
          </a:prstGeom>
          <a:solidFill>
            <a:srgbClr val="E6F8FF"/>
          </a:solidFill>
          <a:ln w="12700">
            <a:solidFill>
              <a:srgbClr val="E6F8FF"/>
            </a:solidFill>
            <a:prstDash val="solid"/>
          </a:ln>
        </p:spPr>
      </p:sp>
      <p:sp>
        <p:nvSpPr>
          <p:cNvPr id="32" name="Shape 30"/>
          <p:cNvSpPr/>
          <p:nvPr/>
        </p:nvSpPr>
        <p:spPr>
          <a:xfrm>
            <a:off x="4846320" y="3584448"/>
            <a:ext cx="512064" cy="512064"/>
          </a:xfrm>
          <a:prstGeom prst="ellipse">
            <a:avLst/>
          </a:prstGeom>
          <a:solidFill>
            <a:srgbClr val="548687"/>
          </a:solidFill>
          <a:ln w="12700">
            <a:solidFill>
              <a:srgbClr val="548687"/>
            </a:solidFill>
            <a:prstDash val="solid"/>
          </a:ln>
        </p:spPr>
      </p:sp>
      <p:sp>
        <p:nvSpPr>
          <p:cNvPr id="33" name="Text 31"/>
          <p:cNvSpPr txBox="1"/>
          <p:nvPr/>
        </p:nvSpPr>
        <p:spPr>
          <a:xfrm>
            <a:off x="4846320" y="3584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txBox="1"/>
          <p:nvPr/>
        </p:nvSpPr>
        <p:spPr>
          <a:xfrm>
            <a:off x="5532120" y="352044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Draft the final report</a:t>
            </a:r>
            <a:endParaRPr lang="en-US" sz="1300" dirty="0"/>
          </a:p>
        </p:txBody>
      </p:sp>
      <p:sp>
        <p:nvSpPr>
          <p:cNvPr id="35" name="Text 33"/>
          <p:cNvSpPr txBox="1"/>
          <p:nvPr/>
        </p:nvSpPr>
        <p:spPr>
          <a:xfrm>
            <a:off x="5532120" y="385876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consolidate evidence per module</a:t>
            </a:r>
            <a:endParaRPr lang="en-US" sz="1100" dirty="0"/>
          </a:p>
        </p:txBody>
      </p:sp>
      <p:sp>
        <p:nvSpPr>
          <p:cNvPr id="36" name="Text 34"/>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50" i="1" dirty="0">
                <a:solidFill>
                  <a:srgbClr val="7D6A6B"/>
                </a:solidFill>
                <a:latin typeface="Calibri" pitchFamily="34" charset="0"/>
                <a:ea typeface="Calibri" pitchFamily="34" charset="-122"/>
                <a:cs typeface="Calibri" pitchFamily="34" charset="-120"/>
              </a:rPr>
              <a:t>Top row: the M3 critical path.</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548640" y="1965960"/>
            <a:ext cx="5486400" cy="548640"/>
          </a:xfrm>
          <a:prstGeom prst="rect">
            <a:avLst/>
          </a:prstGeom>
          <a:noFill/>
          <a:ln/>
        </p:spPr>
        <p:txBody>
          <a:bodyPr wrap="square" lIns="0" tIns="0" rIns="0" bIns="0" rtlCol="0" anchor="ctr"/>
          <a:lstStyle/>
          <a:p>
            <a:pPr indent="0" marL="0">
              <a:buNone/>
            </a:pPr>
            <a:r>
              <a:rPr lang="en-US" sz="2200" dirty="0">
                <a:solidFill>
                  <a:srgbClr val="E5BE9E"/>
                </a:solidFill>
                <a:latin typeface="Calibri" pitchFamily="34" charset="0"/>
                <a:ea typeface="Calibri" pitchFamily="34" charset="-122"/>
                <a:cs typeface="Calibri" pitchFamily="34" charset="-120"/>
              </a:rPr>
              <a:t>Questions?</a:t>
            </a:r>
            <a:endParaRPr lang="en-US" sz="2200" dirty="0"/>
          </a:p>
        </p:txBody>
      </p:sp>
      <p:sp>
        <p:nvSpPr>
          <p:cNvPr id="4" name="Shape 2"/>
          <p:cNvSpPr/>
          <p:nvPr/>
        </p:nvSpPr>
        <p:spPr>
          <a:xfrm>
            <a:off x="548640" y="3017520"/>
            <a:ext cx="5669280" cy="1143000"/>
          </a:xfrm>
          <a:prstGeom prst="roundRect">
            <a:avLst>
              <a:gd name="adj" fmla="val 6400"/>
            </a:avLst>
          </a:prstGeom>
          <a:solidFill>
            <a:srgbClr val="5E4748"/>
          </a:solidFill>
          <a:ln w="12700">
            <a:solidFill>
              <a:srgbClr val="5E4748"/>
            </a:solidFill>
            <a:prstDash val="solid"/>
          </a:ln>
        </p:spPr>
      </p:sp>
      <p:sp>
        <p:nvSpPr>
          <p:cNvPr id="5" name="Text 3"/>
          <p:cNvSpPr txBox="1"/>
          <p:nvPr/>
        </p:nvSpPr>
        <p:spPr>
          <a:xfrm>
            <a:off x="777240" y="3127248"/>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LIVE DEMO</a:t>
            </a:r>
            <a:endParaRPr lang="en-US" sz="1100" dirty="0"/>
          </a:p>
        </p:txBody>
      </p:sp>
      <p:sp>
        <p:nvSpPr>
          <p:cNvPr id="6" name="Text 4"/>
          <p:cNvSpPr txBox="1"/>
          <p:nvPr/>
        </p:nvSpPr>
        <p:spPr>
          <a:xfrm>
            <a:off x="777240" y="3429000"/>
            <a:ext cx="5303520" cy="320040"/>
          </a:xfrm>
          <a:prstGeom prst="rect">
            <a:avLst/>
          </a:prstGeom>
          <a:noFill/>
          <a:ln/>
        </p:spPr>
        <p:txBody>
          <a:bodyPr wrap="square" lIns="0" tIns="0" rIns="0" bIns="0" rtlCol="0" anchor="ctr"/>
          <a:lstStyle/>
          <a:p>
            <a:pPr indent="0" marL="0">
              <a:buNone/>
            </a:pPr>
            <a:r>
              <a:rPr lang="en-US" sz="1500" b="1" dirty="0">
                <a:solidFill>
                  <a:srgbClr val="C1EEFF"/>
                </a:solidFill>
                <a:latin typeface="Courier New" pitchFamily="34" charset="0"/>
                <a:ea typeface="Courier New" pitchFamily="34" charset="-122"/>
                <a:cs typeface="Courier New" pitchFamily="34" charset="-120"/>
              </a:rPr>
              <a:t>python3 vm_ic_model.py</a:t>
            </a:r>
            <a:endParaRPr lang="en-US" sz="1500" dirty="0"/>
          </a:p>
        </p:txBody>
      </p:sp>
      <p:sp>
        <p:nvSpPr>
          <p:cNvPr id="7" name="Text 5"/>
          <p:cNvSpPr txBox="1"/>
          <p:nvPr/>
        </p:nvSpPr>
        <p:spPr>
          <a:xfrm>
            <a:off x="777240" y="3767328"/>
            <a:ext cx="5303520" cy="274320"/>
          </a:xfrm>
          <a:prstGeom prst="rect">
            <a:avLst/>
          </a:prstGeom>
          <a:noFill/>
          <a:ln/>
        </p:spPr>
        <p:txBody>
          <a:bodyPr wrap="square" lIns="0" tIns="0" rIns="0" bIns="0" rtlCol="0" anchor="ctr"/>
          <a:lstStyle/>
          <a:p>
            <a:pPr indent="0" marL="0">
              <a:buNone/>
            </a:pPr>
            <a:r>
              <a:rPr lang="en-US" sz="1200" dirty="0">
                <a:solidFill>
                  <a:srgbClr val="E5BE9E"/>
                </a:solidFill>
                <a:latin typeface="Calibri" pitchFamily="34" charset="0"/>
                <a:ea typeface="Calibri" pitchFamily="34" charset="-122"/>
                <a:cs typeface="Calibri" pitchFamily="34" charset="-120"/>
              </a:rPr>
              <a:t>12 / 12 TC  ·  5 / 5 IC  ·  0 mismatches  ·  ~2 seconds</a:t>
            </a:r>
            <a:endParaRPr lang="en-US" sz="1200" dirty="0"/>
          </a:p>
        </p:txBody>
      </p:sp>
      <p:sp>
        <p:nvSpPr>
          <p:cNvPr id="8" name="Shape 6"/>
          <p:cNvSpPr/>
          <p:nvPr/>
        </p:nvSpPr>
        <p:spPr>
          <a:xfrm>
            <a:off x="6766560" y="1371600"/>
            <a:ext cx="822960" cy="822960"/>
          </a:xfrm>
          <a:prstGeom prst="ellipse">
            <a:avLst/>
          </a:prstGeom>
          <a:solidFill>
            <a:srgbClr val="C1EEFF"/>
          </a:solidFill>
          <a:ln w="12700">
            <a:solidFill>
              <a:srgbClr val="C1EEFF"/>
            </a:solidFill>
            <a:prstDash val="solid"/>
          </a:ln>
        </p:spPr>
      </p:sp>
      <p:sp>
        <p:nvSpPr>
          <p:cNvPr id="9" name="Shape 7"/>
          <p:cNvSpPr/>
          <p:nvPr/>
        </p:nvSpPr>
        <p:spPr>
          <a:xfrm>
            <a:off x="7726680" y="1371600"/>
            <a:ext cx="822960" cy="822960"/>
          </a:xfrm>
          <a:prstGeom prst="ellipse">
            <a:avLst/>
          </a:prstGeom>
          <a:solidFill>
            <a:srgbClr val="548687"/>
          </a:solidFill>
          <a:ln w="12700">
            <a:solidFill>
              <a:srgbClr val="548687"/>
            </a:solidFill>
            <a:prstDash val="solid"/>
          </a:ln>
        </p:spPr>
      </p:sp>
      <p:sp>
        <p:nvSpPr>
          <p:cNvPr id="10" name="Shape 8"/>
          <p:cNvSpPr/>
          <p:nvPr/>
        </p:nvSpPr>
        <p:spPr>
          <a:xfrm>
            <a:off x="6766560" y="2331720"/>
            <a:ext cx="822960" cy="822960"/>
          </a:xfrm>
          <a:prstGeom prst="ellipse">
            <a:avLst/>
          </a:prstGeom>
          <a:solidFill>
            <a:srgbClr val="E1B07E"/>
          </a:solidFill>
          <a:ln w="12700">
            <a:solidFill>
              <a:srgbClr val="E1B07E"/>
            </a:solidFill>
            <a:prstDash val="solid"/>
          </a:ln>
        </p:spPr>
      </p:sp>
      <p:sp>
        <p:nvSpPr>
          <p:cNvPr id="11" name="Shape 9"/>
          <p:cNvSpPr/>
          <p:nvPr/>
        </p:nvSpPr>
        <p:spPr>
          <a:xfrm>
            <a:off x="7726680" y="2331720"/>
            <a:ext cx="822960" cy="822960"/>
          </a:xfrm>
          <a:prstGeom prst="ellipse">
            <a:avLst/>
          </a:prstGeom>
          <a:solidFill>
            <a:srgbClr val="E5BE9E"/>
          </a:solidFill>
          <a:ln w="12700">
            <a:solidFill>
              <a:srgbClr val="E5BE9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A4 Review 2 — Bytecode JIT Compiler with Inline Caching</dc:title>
  <dc:subject>PptxGenJS Presentation</dc:subject>
  <dc:creator>PptxGenJS</dc:creator>
  <cp:lastModifiedBy>PptxGenJS</cp:lastModifiedBy>
  <cp:revision>1</cp:revision>
  <dcterms:created xsi:type="dcterms:W3CDTF">2026-09-23T04:25:32Z</dcterms:created>
  <dcterms:modified xsi:type="dcterms:W3CDTF">2026-09-23T04:25:32Z</dcterms:modified>
</cp:coreProperties>
</file>