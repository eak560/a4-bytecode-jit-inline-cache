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27"/>
    <p:sldId id="277" r:id="rId28"/>
    <p:sldId id="278" r:id="rId29"/>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 rate</c:v>
                </c:pt>
              </c:strCache>
            </c:strRef>
          </c:tx>
          <c:spPr>
            <a:solidFill>
              <a:srgbClr val="548687"/>
            </a:solidFill>
            <a:effectLst/>
          </c:spPr>
          <c:invertIfNegative val="0"/>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
1 shape</c:v>
                  </c:pt>
                  <c:pt idx="1">
                    <c:v>Polymorphic
3 shapes</c:v>
                  </c:pt>
                  <c:pt idx="2">
                    <c:v>Megamorphic
16 shapes, 4 slots</c:v>
                  </c:pt>
                </c:lvl>
              </c:multiLvlStrCache>
            </c:multiLvlStrRef>
          </c:cat>
          <c:val>
            <c:numRef>
              <c:f>Sheet1!$B$2:$B$4</c:f>
              <c:numCache>
                <c:formatCode>General</c:formatCode>
                <c:ptCount val="3"/>
                <c:pt idx="0">
                  <c:v>100</c:v>
                </c:pt>
                <c:pt idx="1">
                  <c:v>100</c:v>
                </c:pt>
                <c:pt idx="2">
                  <c:v>24.9</c:v>
                </c:pt>
              </c:numCache>
            </c:numRef>
          </c:val>
        </c:ser>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Speedup</c:v>
                </c:pt>
              </c:strCache>
            </c:strRef>
          </c:tx>
          <c:spPr>
            <a:solidFill>
              <a:srgbClr val="548687"/>
            </a:solidFill>
            <a:effectLst/>
          </c:spPr>
          <c:invertIfNegative val="0"/>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c:v>
                  </c:pt>
                  <c:pt idx="1">
                    <c:v>Polymorphic</c:v>
                  </c:pt>
                  <c:pt idx="2">
                    <c:v>Megamorphic</c:v>
                  </c:pt>
                </c:lvl>
              </c:multiLvlStrCache>
            </c:multiLvlStrRef>
          </c:cat>
          <c:val>
            <c:numRef>
              <c:f>Sheet1!$B$2:$B$4</c:f>
              <c:numCache>
                <c:formatCode>General</c:formatCode>
                <c:ptCount val="3"/>
                <c:pt idx="0">
                  <c:v>2.23</c:v>
                </c:pt>
                <c:pt idx="1">
                  <c:v>1.53</c:v>
                </c:pt>
                <c:pt idx="2">
                  <c:v>0.89</c:v>
                </c:pt>
              </c:numCache>
            </c:numRef>
          </c:val>
        </c:ser>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(any member, ~20 s): We are team A4. Our project is a bytecode virtual machine with inline caching and a tier-2 compiled path with deoptimisation — the same core ideas used in engines like V8 — plus a small compiler that lets it run real JavaScript. This is our final presentation. Each of us presents our own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Charith covers the VM, Vatsal the profiler and testing, Mayan the inline cache and results, and Ehsan the tier-2 path, deoptimisation, the JavaScript front end, cache tuning and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(~10 s): I'll cover where the project stands overall, how our virtual machine works, and the tests that prove the interpreter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(~45 s): This is our final scorecard against the six objectives. All six are met in our reference implementation: the VM and bytecode format, the baseline interpreter, hot-code detection, inline caching in all four states with invalidation, the tier-2 fast path with deoptimisation, and differential testing with zero mismatches — including six JavaScript programs that give exactly the same output as Node. Generating real machine code is future work, which Ehsan covers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Programs are compiled to bytecode — a list of simple instructions. The VM keeps a stack of values and a program counter, and loops forever: fetch the instruction at pc, decode which opcode it is, execute it, and move on until HALT. For example PUSH 10, PUSH 20, ADD leaves 30 on the stack. The full Review 1 instruction set is now implemented: stack, arithmetic, locals, jumps and comparison, and I/O. We added two opcodes, LOADOBJ and GETFIELD, so we can test property access — that is what the inline cache speeds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Each test is a tiny program with a known answer. TC1 to TC6 were in Review 1: arithmetic, sequencing and divide-by-zero. We added TC7 to TC12: variables, both kinds of jump, comparisons including the equal case, a real loop that must be flagged hot, and a 1000-deep stack stress test. All 12 pass. This matters because the baseline interpreter is our reference — everything faster must produce exactly the same output. Vatsal will now explain how we detect hot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(~10 s): I'll explain how we find hot code, how we prove the cache never changes program output, and where we are on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A JIT only pays off if it compiles the code that actually runs a lot — and that is almost always loops. On the left is the bytecode for 'while i &lt; 10: i += 1'. The JMP at address 10 jumps backwards to address 2 — that is a back-edge. Every time we see a backward jump we increment a counter for its target. When the counter reaches the threshold, the loop head is flagged hot and becomes a candidate for tier-2 compilation. TC11 checks this: the loop runs 10 times and address 2 is flagged. The threshold is a setting of the VM, 5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Speed is worthless if the answers change. So we use differential testing. The same generated workload is run twice: once on the plain baseline interpreter and once with the inline cache enabled. Then we compare every single output value. Across three workload types and 300,000 field accesses, we see zero mismatches. The same comparison is built into each of the 17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(~40 s): Against our 12-week plan, every milestone is complete: M1 the cache design, M2 the interpreter and cache working together, M3 the tier-2 path with deoptimisation, and M4 the final results. In week 11 we also added the JavaScript front end and tuned the megamorphic cache. Mayan will now present the inline cache and our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(~10 s): I'll explain what an inline cache is, how it moves between states, and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Reading obj.x naively means scanning the object's field names every time. Objects with the same fields in the same order share a shape, so a GETFIELD site can remember: for shape S, x is in slot k. That memory is the inline cache. It starts UNINIT. After the first shape it is MONOmorphic — one check and a direct read. With 2 to 4 shapes it is POLYmorphic, a short list. Beyond that it goes MEGAmorphic and uses a small shared table with first-in-first-out eviction. Tests IC1 to IC3 confirm each state is reached with no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(~50 s): These are measured, not estimated. Monomorphic and polymorphic sites hit 100% of the time after warm-up — only 1 and 3 misses respectively in 100,000 accesses. The megamorphic case hits only 24.9%: 16 shapes compete for 4 slots, and first-in-first-out eviction keeps throwing out entries just before they are needed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Timing the same workloads, the cache gives a 2.23 times speedup on monomorphic and 1.53 times on polymorphic sites. With 16 shapes and only 4 slots it is slightly slower, because the cache thrashes and its bookkeeping costs more than the scan it replaces. Ehsan shows how we fixed that by tuning the cache size. These objects have about 200 fields; with small objects the picture changes, which Ehsan also shows. Over to Ehsan.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(~10 s): I'll cover two correctness problems a JIT must solve — stale caches and wrong assumptions — then the compiler that lets us run real JavaScript, how we tuned the megamorphic cache, and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first correctness problem is a stale cache. The cache learned that x lives in slot 2. If the shape itself is changed — here a field is added at the front — x moves to slot 3, but it is still the same shape. Without protection, the cache would read slot 2 and return b, which is 2: the wrong answer. So every shape now carries a version number, and the cache stores the version together with the slot. After the change the versions don't match, the access is treated as a miss, and the lookup finds slot 3. Test IC4 checks exactly this: it proves the stale slot would give the wrong value, and that the cache misses once and then returns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second problem is a wrong assumption. Once a loop is hot and a field site has seen only one shape, tier-2 compiles a fast path that assumes that shape — guarded by a single check. If the guard holds, we read the slot directly with no cache lookup at all. If a different shape arrives, the guard fails and we deoptimise: throw away the compiled code, hard-reset that site's cache to UNINIT, and redo the access through the interpreter, so the answer is still correct. In IC5, 50 objects of shape A are followed by 50 of shape B. We see exactly one deopt at the first B, the cache is UNINIT right after the reset, 92 reads went through the fast path, and zero mismatches. This logic is implemented in our Python model; a native machine-code version would have to match it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(~45 s): The megamorphic case was our one losing result, so we tuned it. We swept the two knobs, table size and eviction rule, on the same 16-shape workload. With 4 slots the cache hits a quarter of the time whichever rule we use. With 8 it hits half. With 16 slots, one per shape, it hits 100 percent and is 1.49 times faster than no cache. LRU and FIFO are within 0.04 times of each other at every size, so the lesson is clear: capacity matters, the eviction rule doesn't. The trade-off is memory, which is why real engines share one large megamorphic cache across all call sites. Every run had zero mismatches.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(~40 s): To conclude. Our engine is always correct: zero mismatches against the baseline and all 18 runs identical to Node. Deoptimisation keeps compiled shortcuts safe when their assumption breaks. The cache wins clearly on wide objects, and the megamorphic weakness is fixed by giving it enough capacity. Beyond this project, two things would come next: generating real machine code for the guards and deopt with asmjit, and growing the JavaScript subset with functions, strings and field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(~20 s): That is project A4. We are happy to take questions, and we can run it live: run_js.py compiles our JavaScript examples, runs them on our VM three ways and checks every line against Node; demo.py walks through the cache states and deoptimisation.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Review 1 said our VM only runs hand-written bytecode. We closed that gap with a small compiler, jsc.py, for a subset of JavaScript: variables, if, while and for loops, integer arithmetic, object and array literals, property reads and console.log. It has three stages. A regex lexer turns the text into tokens. A recursive-descent parser emits bytecode directly in one pass, back-patching jump targets once it knows where a loop ends. And lowering: our instruction set only has LT, so greater-than, equals and modulo are rewritten using LT, ADD, SUB and DIV plus temporary locals. On the left is what one line, total += items[i].x inside a for loop, compiles to. Address 13 is the GETFIELD site that the inline cache and tier 2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(~45 s): Because the input is real JavaScript, Node can run the same file. Node is our reference: it tells us what the correct output is. We run each program through our compiler and VM in three modes, plain baseline, with the inline cache, and with the cache plus tier 2, and compare every printed line with Node. Six programs times three modes is 18 runs, and all 18 are identical to Node, including the deopt test. We also ran the same mono, poly and mega experiment directly in V8: its megamorphic case is about 4 times slower than monomorphic, the same pattern our model shows. We do not compare raw speed with V8 — it is native C++; ours is a Python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Correctness is perfect on all six. Speed is more interesting. With small six-field objects the inline cache is actually slower than just scanning the names, because in Python the cache bookkeeping costs more than a six-name search. With wide objects, here 32 fields, it wins: 1.13 times with the cache and 1.46 times with tier 2 on top. That is why real engines compile cached reads into machine code, which is exactly our tier-2 work. The megamorphic program hits 0 percent because 16 shapes arrive in a fixed rotation and FIFO always evicts the next one needed, which strengthens the case for tuning that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200" b="1" spc="300" kern="0" dirty="0">
                <a:solidFill>
                  <a:srgbClr val="E1B07E"/>
                </a:solidFill>
                <a:latin typeface="Calibri" pitchFamily="34" charset="0"/>
                <a:ea typeface="Calibri" pitchFamily="34" charset="-122"/>
                <a:cs typeface="Calibri" pitchFamily="34" charset="-120"/>
              </a:rPr>
              <a:t>BCSE307 · COMPILER DESIGN · PROJECT A4</a:t>
            </a:r>
            <a:endParaRPr lang="en-US" sz="1200" dirty="0"/>
          </a:p>
        </p:txBody>
      </p:sp>
      <p:sp>
        <p:nvSpPr>
          <p:cNvPr id="3" name="Text 1"/>
          <p:cNvSpPr txBox="1"/>
          <p:nvPr/>
        </p:nvSpPr>
        <p:spPr>
          <a:xfrm>
            <a:off x="548640" y="1051560"/>
            <a:ext cx="493776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Bytecode JIT Compiler with Inline Caching</a:t>
            </a:r>
            <a:endParaRPr lang="en-US" sz="3600" dirty="0"/>
          </a:p>
        </p:txBody>
      </p:sp>
      <p:sp>
        <p:nvSpPr>
          <p:cNvPr id="4" name="Text 2"/>
          <p:cNvSpPr txBox="1"/>
          <p:nvPr/>
        </p:nvSpPr>
        <p:spPr>
          <a:xfrm>
            <a:off x="548640" y="2606040"/>
            <a:ext cx="4754880" cy="64008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Final Presentation — VM, Inline Caching, Tier 2 and a JavaScript Front End</a:t>
            </a:r>
            <a:endParaRPr lang="en-US" sz="1600" dirty="0"/>
          </a:p>
        </p:txBody>
      </p:sp>
      <p:sp>
        <p:nvSpPr>
          <p:cNvPr id="5" name="Text 3"/>
          <p:cNvSpPr txBox="1"/>
          <p:nvPr/>
        </p:nvSpPr>
        <p:spPr>
          <a:xfrm>
            <a:off x="548640" y="4206240"/>
            <a:ext cx="5486400" cy="274320"/>
          </a:xfrm>
          <a:prstGeom prst="rect">
            <a:avLst/>
          </a:prstGeom>
          <a:noFill/>
          <a:ln/>
        </p:spPr>
        <p:txBody>
          <a:bodyPr wrap="square" lIns="0" tIns="0" rIns="0" bIns="0" rtlCol="0" anchor="ctr"/>
          <a:lstStyle/>
          <a:p>
            <a:pPr indent="0" marL="0">
              <a:buNone/>
            </a:pPr>
            <a:r>
              <a:rPr lang="en-US" sz="1100" dirty="0">
                <a:solidFill>
                  <a:srgbClr val="C1EEFF"/>
                </a:solidFill>
                <a:latin typeface="Calibri" pitchFamily="34" charset="0"/>
                <a:ea typeface="Calibri" pitchFamily="34" charset="-122"/>
                <a:cs typeface="Calibri" pitchFamily="34" charset="-120"/>
              </a:rPr>
              <a:t>Chilukuri Charith Reddy  ·  Vatsal Sharma  ·  Mayan Manit  ·  Ehsan Abdulkhader</a:t>
            </a:r>
            <a:endParaRPr lang="en-US" sz="1100" dirty="0"/>
          </a:p>
        </p:txBody>
      </p:sp>
      <p:sp>
        <p:nvSpPr>
          <p:cNvPr id="6" name="Shape 4"/>
          <p:cNvSpPr/>
          <p:nvPr/>
        </p:nvSpPr>
        <p:spPr>
          <a:xfrm>
            <a:off x="7383780" y="822960"/>
            <a:ext cx="0" cy="3108960"/>
          </a:xfrm>
          <a:prstGeom prst="line">
            <a:avLst/>
          </a:prstGeom>
          <a:noFill/>
          <a:ln w="19050">
            <a:solidFill>
              <a:srgbClr val="7D6A6B"/>
            </a:solidFill>
            <a:prstDash val="dash"/>
          </a:ln>
        </p:spPr>
      </p:sp>
      <p:sp>
        <p:nvSpPr>
          <p:cNvPr id="7" name="Shape 5"/>
          <p:cNvSpPr/>
          <p:nvPr/>
        </p:nvSpPr>
        <p:spPr>
          <a:xfrm>
            <a:off x="6949440" y="685800"/>
            <a:ext cx="868680" cy="868680"/>
          </a:xfrm>
          <a:prstGeom prst="ellipse">
            <a:avLst/>
          </a:prstGeom>
          <a:solidFill>
            <a:srgbClr val="C1EEFF"/>
          </a:solidFill>
          <a:ln w="12700">
            <a:solidFill>
              <a:srgbClr val="C1EEFF"/>
            </a:solidFill>
            <a:prstDash val="solid"/>
          </a:ln>
        </p:spPr>
      </p:sp>
      <p:sp>
        <p:nvSpPr>
          <p:cNvPr id="8" name="Text 6"/>
          <p:cNvSpPr txBox="1"/>
          <p:nvPr/>
        </p:nvSpPr>
        <p:spPr>
          <a:xfrm>
            <a:off x="6949440" y="68580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UNINIT</a:t>
            </a:r>
            <a:endParaRPr lang="en-US" sz="1100" dirty="0"/>
          </a:p>
        </p:txBody>
      </p:sp>
      <p:sp>
        <p:nvSpPr>
          <p:cNvPr id="9" name="Shape 7"/>
          <p:cNvSpPr/>
          <p:nvPr/>
        </p:nvSpPr>
        <p:spPr>
          <a:xfrm>
            <a:off x="6949440" y="1645920"/>
            <a:ext cx="868680" cy="868680"/>
          </a:xfrm>
          <a:prstGeom prst="ellipse">
            <a:avLst/>
          </a:prstGeom>
          <a:solidFill>
            <a:srgbClr val="548687"/>
          </a:solidFill>
          <a:ln w="12700">
            <a:solidFill>
              <a:srgbClr val="548687"/>
            </a:solidFill>
            <a:prstDash val="solid"/>
          </a:ln>
        </p:spPr>
      </p:sp>
      <p:sp>
        <p:nvSpPr>
          <p:cNvPr id="10" name="Text 8"/>
          <p:cNvSpPr txBox="1"/>
          <p:nvPr/>
        </p:nvSpPr>
        <p:spPr>
          <a:xfrm>
            <a:off x="6949440" y="1645920"/>
            <a:ext cx="86868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MONO</a:t>
            </a:r>
            <a:endParaRPr lang="en-US" sz="1100" dirty="0"/>
          </a:p>
        </p:txBody>
      </p:sp>
      <p:sp>
        <p:nvSpPr>
          <p:cNvPr id="11" name="Shape 9"/>
          <p:cNvSpPr/>
          <p:nvPr/>
        </p:nvSpPr>
        <p:spPr>
          <a:xfrm>
            <a:off x="6949440" y="2606040"/>
            <a:ext cx="868680" cy="868680"/>
          </a:xfrm>
          <a:prstGeom prst="ellipse">
            <a:avLst/>
          </a:prstGeom>
          <a:solidFill>
            <a:srgbClr val="E1B07E"/>
          </a:solidFill>
          <a:ln w="12700">
            <a:solidFill>
              <a:srgbClr val="E1B07E"/>
            </a:solidFill>
            <a:prstDash val="solid"/>
          </a:ln>
        </p:spPr>
      </p:sp>
      <p:sp>
        <p:nvSpPr>
          <p:cNvPr id="12" name="Text 10"/>
          <p:cNvSpPr txBox="1"/>
          <p:nvPr/>
        </p:nvSpPr>
        <p:spPr>
          <a:xfrm>
            <a:off x="6949440" y="260604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POLY</a:t>
            </a:r>
            <a:endParaRPr lang="en-US" sz="1100" dirty="0"/>
          </a:p>
        </p:txBody>
      </p:sp>
      <p:sp>
        <p:nvSpPr>
          <p:cNvPr id="13" name="Shape 11"/>
          <p:cNvSpPr/>
          <p:nvPr/>
        </p:nvSpPr>
        <p:spPr>
          <a:xfrm>
            <a:off x="6949440" y="3566160"/>
            <a:ext cx="868680" cy="868680"/>
          </a:xfrm>
          <a:prstGeom prst="ellipse">
            <a:avLst/>
          </a:prstGeom>
          <a:solidFill>
            <a:srgbClr val="E5BE9E"/>
          </a:solidFill>
          <a:ln w="12700">
            <a:solidFill>
              <a:srgbClr val="E5BE9E"/>
            </a:solidFill>
            <a:prstDash val="solid"/>
          </a:ln>
        </p:spPr>
      </p:sp>
      <p:sp>
        <p:nvSpPr>
          <p:cNvPr id="14" name="Text 12"/>
          <p:cNvSpPr txBox="1"/>
          <p:nvPr/>
        </p:nvSpPr>
        <p:spPr>
          <a:xfrm>
            <a:off x="6949440" y="356616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MEGA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Who presents what</a:t>
            </a:r>
            <a:endParaRPr lang="en-US" sz="2800" dirty="0"/>
          </a:p>
        </p:txBody>
      </p:sp>
      <p:sp>
        <p:nvSpPr>
          <p:cNvPr id="4" name="Shape 2"/>
          <p:cNvSpPr/>
          <p:nvPr/>
        </p:nvSpPr>
        <p:spPr>
          <a:xfrm>
            <a:off x="45720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40080" y="1463040"/>
            <a:ext cx="502920" cy="502920"/>
          </a:xfrm>
          <a:prstGeom prst="ellipse">
            <a:avLst/>
          </a:prstGeom>
          <a:solidFill>
            <a:srgbClr val="548687"/>
          </a:solidFill>
          <a:ln w="12700">
            <a:solidFill>
              <a:srgbClr val="548687"/>
            </a:solidFill>
            <a:prstDash val="solid"/>
          </a:ln>
        </p:spPr>
      </p:sp>
      <p:sp>
        <p:nvSpPr>
          <p:cNvPr id="6" name="Text 4"/>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28016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8" name="Text 6"/>
          <p:cNvSpPr txBox="1"/>
          <p:nvPr/>
        </p:nvSpPr>
        <p:spPr>
          <a:xfrm>
            <a:off x="64008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Chilukuri Charith Reddy</a:t>
            </a:r>
            <a:endParaRPr lang="en-US" sz="1400" dirty="0"/>
          </a:p>
        </p:txBody>
      </p:sp>
      <p:sp>
        <p:nvSpPr>
          <p:cNvPr id="9" name="Text 7"/>
          <p:cNvSpPr txBox="1"/>
          <p:nvPr/>
        </p:nvSpPr>
        <p:spPr>
          <a:xfrm>
            <a:off x="64008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24BCT0093</a:t>
            </a:r>
            <a:endParaRPr lang="en-US" sz="1000" dirty="0"/>
          </a:p>
        </p:txBody>
      </p:sp>
      <p:sp>
        <p:nvSpPr>
          <p:cNvPr id="10" name="Text 8"/>
          <p:cNvSpPr txBox="1"/>
          <p:nvPr/>
        </p:nvSpPr>
        <p:spPr>
          <a:xfrm>
            <a:off x="64008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VM &amp; hot-path integration</a:t>
            </a:r>
            <a:endParaRPr lang="en-US" sz="1200" dirty="0"/>
          </a:p>
        </p:txBody>
      </p:sp>
      <p:sp>
        <p:nvSpPr>
          <p:cNvPr id="11" name="Text 9"/>
          <p:cNvSpPr txBox="1"/>
          <p:nvPr/>
        </p:nvSpPr>
        <p:spPr>
          <a:xfrm>
            <a:off x="64008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Objectives · stack VM · baseline tests</a:t>
            </a:r>
            <a:endParaRPr lang="en-US" sz="1050" dirty="0"/>
          </a:p>
        </p:txBody>
      </p:sp>
      <p:sp>
        <p:nvSpPr>
          <p:cNvPr id="12" name="Shape 10"/>
          <p:cNvSpPr/>
          <p:nvPr/>
        </p:nvSpPr>
        <p:spPr>
          <a:xfrm>
            <a:off x="256032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2743200" y="1463040"/>
            <a:ext cx="502920" cy="502920"/>
          </a:xfrm>
          <a:prstGeom prst="ellipse">
            <a:avLst/>
          </a:prstGeom>
          <a:solidFill>
            <a:srgbClr val="548687"/>
          </a:solidFill>
          <a:ln w="12700">
            <a:solidFill>
              <a:srgbClr val="548687"/>
            </a:solidFill>
            <a:prstDash val="solid"/>
          </a:ln>
        </p:spPr>
      </p:sp>
      <p:sp>
        <p:nvSpPr>
          <p:cNvPr id="14" name="Text 12"/>
          <p:cNvSpPr txBox="1"/>
          <p:nvPr/>
        </p:nvSpPr>
        <p:spPr>
          <a:xfrm>
            <a:off x="274320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338328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16" name="Text 14"/>
          <p:cNvSpPr txBox="1"/>
          <p:nvPr/>
        </p:nvSpPr>
        <p:spPr>
          <a:xfrm>
            <a:off x="274320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Vatsal Sharma</a:t>
            </a:r>
            <a:endParaRPr lang="en-US" sz="1400" dirty="0"/>
          </a:p>
        </p:txBody>
      </p:sp>
      <p:sp>
        <p:nvSpPr>
          <p:cNvPr id="17" name="Text 15"/>
          <p:cNvSpPr txBox="1"/>
          <p:nvPr/>
        </p:nvSpPr>
        <p:spPr>
          <a:xfrm>
            <a:off x="274320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24BCE0334</a:t>
            </a:r>
            <a:endParaRPr lang="en-US" sz="1000" dirty="0"/>
          </a:p>
        </p:txBody>
      </p:sp>
      <p:sp>
        <p:nvSpPr>
          <p:cNvPr id="18" name="Text 16"/>
          <p:cNvSpPr txBox="1"/>
          <p:nvPr/>
        </p:nvSpPr>
        <p:spPr>
          <a:xfrm>
            <a:off x="274320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Profiler &amp; hot-code detection</a:t>
            </a:r>
            <a:endParaRPr lang="en-US" sz="1200" dirty="0"/>
          </a:p>
        </p:txBody>
      </p:sp>
      <p:sp>
        <p:nvSpPr>
          <p:cNvPr id="19" name="Text 17"/>
          <p:cNvSpPr txBox="1"/>
          <p:nvPr/>
        </p:nvSpPr>
        <p:spPr>
          <a:xfrm>
            <a:off x="274320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Back-edge counters · differential testing · timeline</a:t>
            </a:r>
            <a:endParaRPr lang="en-US" sz="1050" dirty="0"/>
          </a:p>
        </p:txBody>
      </p:sp>
      <p:sp>
        <p:nvSpPr>
          <p:cNvPr id="20" name="Shape 18"/>
          <p:cNvSpPr/>
          <p:nvPr/>
        </p:nvSpPr>
        <p:spPr>
          <a:xfrm>
            <a:off x="466344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4846320" y="1463040"/>
            <a:ext cx="502920" cy="502920"/>
          </a:xfrm>
          <a:prstGeom prst="ellipse">
            <a:avLst/>
          </a:prstGeom>
          <a:solidFill>
            <a:srgbClr val="548687"/>
          </a:solidFill>
          <a:ln w="12700">
            <a:solidFill>
              <a:srgbClr val="548687"/>
            </a:solidFill>
            <a:prstDash val="solid"/>
          </a:ln>
        </p:spPr>
      </p:sp>
      <p:sp>
        <p:nvSpPr>
          <p:cNvPr id="22" name="Text 20"/>
          <p:cNvSpPr txBox="1"/>
          <p:nvPr/>
        </p:nvSpPr>
        <p:spPr>
          <a:xfrm>
            <a:off x="484632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txBox="1"/>
          <p:nvPr/>
        </p:nvSpPr>
        <p:spPr>
          <a:xfrm>
            <a:off x="548640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24" name="Text 22"/>
          <p:cNvSpPr txBox="1"/>
          <p:nvPr/>
        </p:nvSpPr>
        <p:spPr>
          <a:xfrm>
            <a:off x="484632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Mayan Manit</a:t>
            </a:r>
            <a:endParaRPr lang="en-US" sz="1400" dirty="0"/>
          </a:p>
        </p:txBody>
      </p:sp>
      <p:sp>
        <p:nvSpPr>
          <p:cNvPr id="25" name="Text 23"/>
          <p:cNvSpPr txBox="1"/>
          <p:nvPr/>
        </p:nvSpPr>
        <p:spPr>
          <a:xfrm>
            <a:off x="484632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24BCE0506</a:t>
            </a:r>
            <a:endParaRPr lang="en-US" sz="1000" dirty="0"/>
          </a:p>
        </p:txBody>
      </p:sp>
      <p:sp>
        <p:nvSpPr>
          <p:cNvPr id="26" name="Text 24"/>
          <p:cNvSpPr txBox="1"/>
          <p:nvPr/>
        </p:nvSpPr>
        <p:spPr>
          <a:xfrm>
            <a:off x="484632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Inline cache &amp; hit rate</a:t>
            </a:r>
            <a:endParaRPr lang="en-US" sz="1200" dirty="0"/>
          </a:p>
        </p:txBody>
      </p:sp>
      <p:sp>
        <p:nvSpPr>
          <p:cNvPr id="27" name="Text 25"/>
          <p:cNvSpPr txBox="1"/>
          <p:nvPr/>
        </p:nvSpPr>
        <p:spPr>
          <a:xfrm>
            <a:off x="484632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State machine · hit rate · performance</a:t>
            </a:r>
            <a:endParaRPr lang="en-US" sz="1050" dirty="0"/>
          </a:p>
        </p:txBody>
      </p:sp>
      <p:sp>
        <p:nvSpPr>
          <p:cNvPr id="28" name="Shape 26"/>
          <p:cNvSpPr/>
          <p:nvPr/>
        </p:nvSpPr>
        <p:spPr>
          <a:xfrm>
            <a:off x="676656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949440" y="1463040"/>
            <a:ext cx="502920" cy="502920"/>
          </a:xfrm>
          <a:prstGeom prst="ellipse">
            <a:avLst/>
          </a:prstGeom>
          <a:solidFill>
            <a:srgbClr val="548687"/>
          </a:solidFill>
          <a:ln w="12700">
            <a:solidFill>
              <a:srgbClr val="548687"/>
            </a:solidFill>
            <a:prstDash val="solid"/>
          </a:ln>
        </p:spPr>
      </p:sp>
      <p:sp>
        <p:nvSpPr>
          <p:cNvPr id="30" name="Text 28"/>
          <p:cNvSpPr txBox="1"/>
          <p:nvPr/>
        </p:nvSpPr>
        <p:spPr>
          <a:xfrm>
            <a:off x="694944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Text 29"/>
          <p:cNvSpPr txBox="1"/>
          <p:nvPr/>
        </p:nvSpPr>
        <p:spPr>
          <a:xfrm>
            <a:off x="758952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6 min</a:t>
            </a:r>
            <a:endParaRPr lang="en-US" sz="1100" dirty="0"/>
          </a:p>
        </p:txBody>
      </p:sp>
      <p:sp>
        <p:nvSpPr>
          <p:cNvPr id="32" name="Text 30"/>
          <p:cNvSpPr txBox="1"/>
          <p:nvPr/>
        </p:nvSpPr>
        <p:spPr>
          <a:xfrm>
            <a:off x="694944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Ehsan Abdulkhader</a:t>
            </a:r>
            <a:endParaRPr lang="en-US" sz="1400" dirty="0"/>
          </a:p>
        </p:txBody>
      </p:sp>
      <p:sp>
        <p:nvSpPr>
          <p:cNvPr id="33" name="Text 31"/>
          <p:cNvSpPr txBox="1"/>
          <p:nvPr/>
        </p:nvSpPr>
        <p:spPr>
          <a:xfrm>
            <a:off x="694944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24BCT0089</a:t>
            </a:r>
            <a:endParaRPr lang="en-US" sz="1000" dirty="0"/>
          </a:p>
        </p:txBody>
      </p:sp>
      <p:sp>
        <p:nvSpPr>
          <p:cNvPr id="34" name="Text 32"/>
          <p:cNvSpPr txBox="1"/>
          <p:nvPr/>
        </p:nvSpPr>
        <p:spPr>
          <a:xfrm>
            <a:off x="694944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Tier-2 codegen &amp; deopt</a:t>
            </a:r>
            <a:endParaRPr lang="en-US" sz="1200" dirty="0"/>
          </a:p>
        </p:txBody>
      </p:sp>
      <p:sp>
        <p:nvSpPr>
          <p:cNvPr id="35" name="Text 33"/>
          <p:cNvSpPr txBox="1"/>
          <p:nvPr/>
        </p:nvSpPr>
        <p:spPr>
          <a:xfrm>
            <a:off x="694944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Versioning · deopt · JS front end · conclusions</a:t>
            </a:r>
            <a:endParaRPr lang="en-US" sz="1050" dirty="0"/>
          </a:p>
        </p:txBody>
      </p:sp>
      <p:sp>
        <p:nvSpPr>
          <p:cNvPr id="36" name="Text 34"/>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Scope: the complete reference implementation: VM, inline cache, tier 2 with deopt, and a JavaScript front end checked against Node.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01</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Chilukuri Charith Reddy</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VM &amp; Hot-Path Integration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Objective status since Review 1</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stack-based bytecode VM</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Baseline interpreter: TC1–TC12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Objectives: final status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834640"/>
                <a:gridCol w="1188720"/>
                <a:gridCol w="420624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Stack-based VM &amp; bytecode format</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Full instruction set implemented</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Baseline interpreter</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TC1–TC12 passing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Hot-code detection / profiling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Loop back-edge counters (TC11); threshold is a setting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Inline caching (mono / poly / mega)</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All states + invalidation (IC1–IC4); mega cache tuned (slide 21)</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Tier-2 fast path + deoptimisation</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Guarded fast path and deopt working in the model (IC5)</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Benchmark &amp; differential testing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0 mismatches; 6 JS programs identical to Node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All 6 objectives met in the reference implementation; native machine code is future work (slide 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5</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A stack-based bytecode VM</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Shape 4"/>
          <p:cNvSpPr/>
          <p:nvPr/>
        </p:nvSpPr>
        <p:spPr>
          <a:xfrm>
            <a:off x="822960" y="1188720"/>
            <a:ext cx="2926080" cy="658368"/>
          </a:xfrm>
          <a:prstGeom prst="roundRect">
            <a:avLst>
              <a:gd name="adj" fmla="val 11111"/>
            </a:avLst>
          </a:prstGeom>
          <a:solidFill>
            <a:srgbClr val="E6F8FF"/>
          </a:solidFill>
          <a:ln w="12700">
            <a:solidFill>
              <a:srgbClr val="E6F8FF"/>
            </a:solidFill>
            <a:prstDash val="solid"/>
          </a:ln>
        </p:spPr>
      </p:sp>
      <p:sp>
        <p:nvSpPr>
          <p:cNvPr id="7" name="Text 5"/>
          <p:cNvSpPr txBox="1"/>
          <p:nvPr/>
        </p:nvSpPr>
        <p:spPr>
          <a:xfrm>
            <a:off x="1005840" y="126187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FETCH</a:t>
            </a:r>
            <a:endParaRPr lang="en-US" sz="1300" dirty="0"/>
          </a:p>
        </p:txBody>
      </p:sp>
      <p:sp>
        <p:nvSpPr>
          <p:cNvPr id="8" name="Text 6"/>
          <p:cNvSpPr txBox="1"/>
          <p:nvPr/>
        </p:nvSpPr>
        <p:spPr>
          <a:xfrm>
            <a:off x="1005840" y="153619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ourier New" pitchFamily="34" charset="0"/>
                <a:ea typeface="Courier New" pitchFamily="34" charset="-122"/>
                <a:cs typeface="Courier New" pitchFamily="34" charset="-120"/>
              </a:rPr>
              <a:t>op, arg = program[pc]</a:t>
            </a:r>
            <a:endParaRPr lang="en-US" sz="1100" dirty="0"/>
          </a:p>
        </p:txBody>
      </p:sp>
      <p:sp>
        <p:nvSpPr>
          <p:cNvPr id="9" name="Shape 7"/>
          <p:cNvSpPr/>
          <p:nvPr/>
        </p:nvSpPr>
        <p:spPr>
          <a:xfrm>
            <a:off x="2286000" y="1865376"/>
            <a:ext cx="0" cy="274320"/>
          </a:xfrm>
          <a:prstGeom prst="line">
            <a:avLst/>
          </a:prstGeom>
          <a:noFill/>
          <a:ln w="22225">
            <a:solidFill>
              <a:srgbClr val="7D6A6B"/>
            </a:solidFill>
            <a:prstDash val="solid"/>
            <a:tailEnd type="triangle"/>
          </a:ln>
        </p:spPr>
      </p:sp>
      <p:sp>
        <p:nvSpPr>
          <p:cNvPr id="10" name="Shape 8"/>
          <p:cNvSpPr/>
          <p:nvPr/>
        </p:nvSpPr>
        <p:spPr>
          <a:xfrm>
            <a:off x="822960" y="2148840"/>
            <a:ext cx="2926080" cy="658368"/>
          </a:xfrm>
          <a:prstGeom prst="roundRect">
            <a:avLst>
              <a:gd name="adj" fmla="val 11111"/>
            </a:avLst>
          </a:prstGeom>
          <a:solidFill>
            <a:srgbClr val="E6F8FF"/>
          </a:solidFill>
          <a:ln w="12700">
            <a:solidFill>
              <a:srgbClr val="E6F8FF"/>
            </a:solidFill>
            <a:prstDash val="solid"/>
          </a:ln>
        </p:spPr>
      </p:sp>
      <p:sp>
        <p:nvSpPr>
          <p:cNvPr id="11" name="Text 9"/>
          <p:cNvSpPr txBox="1"/>
          <p:nvPr/>
        </p:nvSpPr>
        <p:spPr>
          <a:xfrm>
            <a:off x="1005840" y="222199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DECODE</a:t>
            </a:r>
            <a:endParaRPr lang="en-US" sz="1300" dirty="0"/>
          </a:p>
        </p:txBody>
      </p:sp>
      <p:sp>
        <p:nvSpPr>
          <p:cNvPr id="12" name="Text 10"/>
          <p:cNvSpPr txBox="1"/>
          <p:nvPr/>
        </p:nvSpPr>
        <p:spPr>
          <a:xfrm>
            <a:off x="1005840" y="249631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which opcode is it?</a:t>
            </a:r>
            <a:endParaRPr lang="en-US" sz="1100" dirty="0"/>
          </a:p>
        </p:txBody>
      </p:sp>
      <p:sp>
        <p:nvSpPr>
          <p:cNvPr id="13" name="Shape 11"/>
          <p:cNvSpPr/>
          <p:nvPr/>
        </p:nvSpPr>
        <p:spPr>
          <a:xfrm>
            <a:off x="2286000" y="2825496"/>
            <a:ext cx="0" cy="274320"/>
          </a:xfrm>
          <a:prstGeom prst="line">
            <a:avLst/>
          </a:prstGeom>
          <a:noFill/>
          <a:ln w="22225">
            <a:solidFill>
              <a:srgbClr val="7D6A6B"/>
            </a:solidFill>
            <a:prstDash val="solid"/>
            <a:tailEnd type="triangle"/>
          </a:ln>
        </p:spPr>
      </p:sp>
      <p:sp>
        <p:nvSpPr>
          <p:cNvPr id="14" name="Shape 12"/>
          <p:cNvSpPr/>
          <p:nvPr/>
        </p:nvSpPr>
        <p:spPr>
          <a:xfrm>
            <a:off x="822960" y="3108960"/>
            <a:ext cx="2926080" cy="658368"/>
          </a:xfrm>
          <a:prstGeom prst="roundRect">
            <a:avLst>
              <a:gd name="adj" fmla="val 11111"/>
            </a:avLst>
          </a:prstGeom>
          <a:solidFill>
            <a:srgbClr val="548687"/>
          </a:solidFill>
          <a:ln w="12700">
            <a:solidFill>
              <a:srgbClr val="548687"/>
            </a:solidFill>
            <a:prstDash val="solid"/>
          </a:ln>
        </p:spPr>
      </p:sp>
      <p:sp>
        <p:nvSpPr>
          <p:cNvPr id="15" name="Text 13"/>
          <p:cNvSpPr txBox="1"/>
          <p:nvPr/>
        </p:nvSpPr>
        <p:spPr>
          <a:xfrm>
            <a:off x="1005840" y="3182112"/>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EXECUTE</a:t>
            </a:r>
            <a:endParaRPr lang="en-US" sz="1300" dirty="0"/>
          </a:p>
        </p:txBody>
      </p:sp>
      <p:sp>
        <p:nvSpPr>
          <p:cNvPr id="16" name="Text 14"/>
          <p:cNvSpPr txBox="1"/>
          <p:nvPr/>
        </p:nvSpPr>
        <p:spPr>
          <a:xfrm>
            <a:off x="1005840" y="3456432"/>
            <a:ext cx="25603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update stack, locals, pc</a:t>
            </a:r>
            <a:endParaRPr lang="en-US" sz="1100" dirty="0"/>
          </a:p>
        </p:txBody>
      </p:sp>
      <p:sp>
        <p:nvSpPr>
          <p:cNvPr id="17" name="Shape 15"/>
          <p:cNvSpPr/>
          <p:nvPr/>
        </p:nvSpPr>
        <p:spPr>
          <a:xfrm>
            <a:off x="548640" y="1517904"/>
            <a:ext cx="0" cy="1920240"/>
          </a:xfrm>
          <a:prstGeom prst="line">
            <a:avLst/>
          </a:prstGeom>
          <a:noFill/>
          <a:ln w="22225">
            <a:solidFill>
              <a:srgbClr val="E1B07E"/>
            </a:solidFill>
            <a:prstDash val="solid"/>
          </a:ln>
        </p:spPr>
      </p:sp>
      <p:sp>
        <p:nvSpPr>
          <p:cNvPr id="18" name="Shape 16"/>
          <p:cNvSpPr/>
          <p:nvPr/>
        </p:nvSpPr>
        <p:spPr>
          <a:xfrm>
            <a:off x="548640" y="3438144"/>
            <a:ext cx="274320" cy="0"/>
          </a:xfrm>
          <a:prstGeom prst="line">
            <a:avLst/>
          </a:prstGeom>
          <a:noFill/>
          <a:ln w="22225">
            <a:solidFill>
              <a:srgbClr val="E1B07E"/>
            </a:solidFill>
            <a:prstDash val="solid"/>
          </a:ln>
        </p:spPr>
      </p:sp>
      <p:sp>
        <p:nvSpPr>
          <p:cNvPr id="19" name="Shape 17"/>
          <p:cNvSpPr/>
          <p:nvPr/>
        </p:nvSpPr>
        <p:spPr>
          <a:xfrm>
            <a:off x="548640" y="1517904"/>
            <a:ext cx="274320" cy="0"/>
          </a:xfrm>
          <a:prstGeom prst="line">
            <a:avLst/>
          </a:prstGeom>
          <a:noFill/>
          <a:ln w="22225">
            <a:solidFill>
              <a:srgbClr val="E1B07E"/>
            </a:solidFill>
            <a:prstDash val="solid"/>
            <a:tailEnd type="triangle"/>
          </a:ln>
        </p:spPr>
      </p:sp>
      <p:sp>
        <p:nvSpPr>
          <p:cNvPr id="20" name="Text 18"/>
          <p:cNvSpPr txBox="1"/>
          <p:nvPr/>
        </p:nvSpPr>
        <p:spPr>
          <a:xfrm>
            <a:off x="822960" y="4114800"/>
            <a:ext cx="292608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repeat until HALT</a:t>
            </a:r>
            <a:endParaRPr lang="en-US" sz="1100" dirty="0"/>
          </a:p>
        </p:txBody>
      </p:sp>
      <p:sp>
        <p:nvSpPr>
          <p:cNvPr id="21" name="Text 19"/>
          <p:cNvSpPr txBox="1"/>
          <p:nvPr/>
        </p:nvSpPr>
        <p:spPr>
          <a:xfrm>
            <a:off x="4389120" y="118872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Stack</a:t>
            </a:r>
            <a:endParaRPr lang="en-US" sz="1200" dirty="0"/>
          </a:p>
        </p:txBody>
      </p:sp>
      <p:sp>
        <p:nvSpPr>
          <p:cNvPr id="22" name="Shape 20"/>
          <p:cNvSpPr/>
          <p:nvPr/>
        </p:nvSpPr>
        <p:spPr>
          <a:xfrm>
            <a:off x="5486400" y="1225296"/>
            <a:ext cx="548640" cy="292608"/>
          </a:xfrm>
          <a:prstGeom prst="roundRect">
            <a:avLst>
              <a:gd name="adj" fmla="val 25000"/>
            </a:avLst>
          </a:prstGeom>
          <a:solidFill>
            <a:srgbClr val="F6E7DB"/>
          </a:solidFill>
          <a:ln w="12700">
            <a:solidFill>
              <a:srgbClr val="F6E7DB"/>
            </a:solidFill>
            <a:prstDash val="solid"/>
          </a:ln>
        </p:spPr>
      </p:sp>
      <p:sp>
        <p:nvSpPr>
          <p:cNvPr id="23" name="Text 21"/>
          <p:cNvSpPr txBox="1"/>
          <p:nvPr/>
        </p:nvSpPr>
        <p:spPr>
          <a:xfrm>
            <a:off x="5486400" y="1225296"/>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PUSH</a:t>
            </a:r>
            <a:endParaRPr lang="en-US" sz="1050" dirty="0"/>
          </a:p>
        </p:txBody>
      </p:sp>
      <p:sp>
        <p:nvSpPr>
          <p:cNvPr id="24" name="Shape 22"/>
          <p:cNvSpPr/>
          <p:nvPr/>
        </p:nvSpPr>
        <p:spPr>
          <a:xfrm>
            <a:off x="6126480" y="1225296"/>
            <a:ext cx="457200" cy="292608"/>
          </a:xfrm>
          <a:prstGeom prst="roundRect">
            <a:avLst>
              <a:gd name="adj" fmla="val 25000"/>
            </a:avLst>
          </a:prstGeom>
          <a:solidFill>
            <a:srgbClr val="F6E7DB"/>
          </a:solidFill>
          <a:ln w="12700">
            <a:solidFill>
              <a:srgbClr val="F6E7DB"/>
            </a:solidFill>
            <a:prstDash val="solid"/>
          </a:ln>
        </p:spPr>
      </p:sp>
      <p:sp>
        <p:nvSpPr>
          <p:cNvPr id="25" name="Text 23"/>
          <p:cNvSpPr txBox="1"/>
          <p:nvPr/>
        </p:nvSpPr>
        <p:spPr>
          <a:xfrm>
            <a:off x="6126480" y="1225296"/>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POP</a:t>
            </a:r>
            <a:endParaRPr lang="en-US" sz="1050" dirty="0"/>
          </a:p>
        </p:txBody>
      </p:sp>
      <p:sp>
        <p:nvSpPr>
          <p:cNvPr id="26" name="Text 24"/>
          <p:cNvSpPr txBox="1"/>
          <p:nvPr/>
        </p:nvSpPr>
        <p:spPr>
          <a:xfrm>
            <a:off x="4389120" y="1664208"/>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Arithmetic</a:t>
            </a:r>
            <a:endParaRPr lang="en-US" sz="1200" dirty="0"/>
          </a:p>
        </p:txBody>
      </p:sp>
      <p:sp>
        <p:nvSpPr>
          <p:cNvPr id="27" name="Shape 25"/>
          <p:cNvSpPr/>
          <p:nvPr/>
        </p:nvSpPr>
        <p:spPr>
          <a:xfrm>
            <a:off x="5486400" y="1700784"/>
            <a:ext cx="457200" cy="292608"/>
          </a:xfrm>
          <a:prstGeom prst="roundRect">
            <a:avLst>
              <a:gd name="adj" fmla="val 25000"/>
            </a:avLst>
          </a:prstGeom>
          <a:solidFill>
            <a:srgbClr val="F6E7DB"/>
          </a:solidFill>
          <a:ln w="12700">
            <a:solidFill>
              <a:srgbClr val="F6E7DB"/>
            </a:solidFill>
            <a:prstDash val="solid"/>
          </a:ln>
        </p:spPr>
      </p:sp>
      <p:sp>
        <p:nvSpPr>
          <p:cNvPr id="28" name="Text 26"/>
          <p:cNvSpPr txBox="1"/>
          <p:nvPr/>
        </p:nvSpPr>
        <p:spPr>
          <a:xfrm>
            <a:off x="548640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ADD</a:t>
            </a:r>
            <a:endParaRPr lang="en-US" sz="1050" dirty="0"/>
          </a:p>
        </p:txBody>
      </p:sp>
      <p:sp>
        <p:nvSpPr>
          <p:cNvPr id="29" name="Shape 27"/>
          <p:cNvSpPr/>
          <p:nvPr/>
        </p:nvSpPr>
        <p:spPr>
          <a:xfrm>
            <a:off x="6035040" y="1700784"/>
            <a:ext cx="457200" cy="292608"/>
          </a:xfrm>
          <a:prstGeom prst="roundRect">
            <a:avLst>
              <a:gd name="adj" fmla="val 25000"/>
            </a:avLst>
          </a:prstGeom>
          <a:solidFill>
            <a:srgbClr val="F6E7DB"/>
          </a:solidFill>
          <a:ln w="12700">
            <a:solidFill>
              <a:srgbClr val="F6E7DB"/>
            </a:solidFill>
            <a:prstDash val="solid"/>
          </a:ln>
        </p:spPr>
      </p:sp>
      <p:sp>
        <p:nvSpPr>
          <p:cNvPr id="30" name="Text 28"/>
          <p:cNvSpPr txBox="1"/>
          <p:nvPr/>
        </p:nvSpPr>
        <p:spPr>
          <a:xfrm>
            <a:off x="603504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SUB</a:t>
            </a:r>
            <a:endParaRPr lang="en-US" sz="1050" dirty="0"/>
          </a:p>
        </p:txBody>
      </p:sp>
      <p:sp>
        <p:nvSpPr>
          <p:cNvPr id="31" name="Shape 29"/>
          <p:cNvSpPr/>
          <p:nvPr/>
        </p:nvSpPr>
        <p:spPr>
          <a:xfrm>
            <a:off x="6583680" y="1700784"/>
            <a:ext cx="457200" cy="292608"/>
          </a:xfrm>
          <a:prstGeom prst="roundRect">
            <a:avLst>
              <a:gd name="adj" fmla="val 25000"/>
            </a:avLst>
          </a:prstGeom>
          <a:solidFill>
            <a:srgbClr val="F6E7DB"/>
          </a:solidFill>
          <a:ln w="12700">
            <a:solidFill>
              <a:srgbClr val="F6E7DB"/>
            </a:solidFill>
            <a:prstDash val="solid"/>
          </a:ln>
        </p:spPr>
      </p:sp>
      <p:sp>
        <p:nvSpPr>
          <p:cNvPr id="32" name="Text 30"/>
          <p:cNvSpPr txBox="1"/>
          <p:nvPr/>
        </p:nvSpPr>
        <p:spPr>
          <a:xfrm>
            <a:off x="658368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MUL</a:t>
            </a:r>
            <a:endParaRPr lang="en-US" sz="1050" dirty="0"/>
          </a:p>
        </p:txBody>
      </p:sp>
      <p:sp>
        <p:nvSpPr>
          <p:cNvPr id="33" name="Shape 31"/>
          <p:cNvSpPr/>
          <p:nvPr/>
        </p:nvSpPr>
        <p:spPr>
          <a:xfrm>
            <a:off x="7132320" y="1700784"/>
            <a:ext cx="457200" cy="292608"/>
          </a:xfrm>
          <a:prstGeom prst="roundRect">
            <a:avLst>
              <a:gd name="adj" fmla="val 25000"/>
            </a:avLst>
          </a:prstGeom>
          <a:solidFill>
            <a:srgbClr val="F6E7DB"/>
          </a:solidFill>
          <a:ln w="12700">
            <a:solidFill>
              <a:srgbClr val="F6E7DB"/>
            </a:solidFill>
            <a:prstDash val="solid"/>
          </a:ln>
        </p:spPr>
      </p:sp>
      <p:sp>
        <p:nvSpPr>
          <p:cNvPr id="34" name="Text 32"/>
          <p:cNvSpPr txBox="1"/>
          <p:nvPr/>
        </p:nvSpPr>
        <p:spPr>
          <a:xfrm>
            <a:off x="713232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DIV</a:t>
            </a:r>
            <a:endParaRPr lang="en-US" sz="1050" dirty="0"/>
          </a:p>
        </p:txBody>
      </p:sp>
      <p:sp>
        <p:nvSpPr>
          <p:cNvPr id="35" name="Text 33"/>
          <p:cNvSpPr txBox="1"/>
          <p:nvPr/>
        </p:nvSpPr>
        <p:spPr>
          <a:xfrm>
            <a:off x="4389120" y="2139696"/>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Locals</a:t>
            </a:r>
            <a:endParaRPr lang="en-US" sz="1200" dirty="0"/>
          </a:p>
        </p:txBody>
      </p:sp>
      <p:sp>
        <p:nvSpPr>
          <p:cNvPr id="36" name="Shape 34"/>
          <p:cNvSpPr/>
          <p:nvPr/>
        </p:nvSpPr>
        <p:spPr>
          <a:xfrm>
            <a:off x="5486400" y="2176272"/>
            <a:ext cx="548640" cy="292608"/>
          </a:xfrm>
          <a:prstGeom prst="roundRect">
            <a:avLst>
              <a:gd name="adj" fmla="val 25000"/>
            </a:avLst>
          </a:prstGeom>
          <a:solidFill>
            <a:srgbClr val="F6E7DB"/>
          </a:solidFill>
          <a:ln w="12700">
            <a:solidFill>
              <a:srgbClr val="F6E7DB"/>
            </a:solidFill>
            <a:prstDash val="solid"/>
          </a:ln>
        </p:spPr>
      </p:sp>
      <p:sp>
        <p:nvSpPr>
          <p:cNvPr id="37" name="Text 35"/>
          <p:cNvSpPr txBox="1"/>
          <p:nvPr/>
        </p:nvSpPr>
        <p:spPr>
          <a:xfrm>
            <a:off x="5486400" y="2176272"/>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a:t>
            </a:r>
            <a:endParaRPr lang="en-US" sz="1050" dirty="0"/>
          </a:p>
        </p:txBody>
      </p:sp>
      <p:sp>
        <p:nvSpPr>
          <p:cNvPr id="38" name="Shape 36"/>
          <p:cNvSpPr/>
          <p:nvPr/>
        </p:nvSpPr>
        <p:spPr>
          <a:xfrm>
            <a:off x="6126480" y="2176272"/>
            <a:ext cx="640080" cy="292608"/>
          </a:xfrm>
          <a:prstGeom prst="roundRect">
            <a:avLst>
              <a:gd name="adj" fmla="val 25000"/>
            </a:avLst>
          </a:prstGeom>
          <a:solidFill>
            <a:srgbClr val="F6E7DB"/>
          </a:solidFill>
          <a:ln w="12700">
            <a:solidFill>
              <a:srgbClr val="F6E7DB"/>
            </a:solidFill>
            <a:prstDash val="solid"/>
          </a:ln>
        </p:spPr>
      </p:sp>
      <p:sp>
        <p:nvSpPr>
          <p:cNvPr id="39" name="Text 37"/>
          <p:cNvSpPr txBox="1"/>
          <p:nvPr/>
        </p:nvSpPr>
        <p:spPr>
          <a:xfrm>
            <a:off x="6126480" y="2176272"/>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STORE</a:t>
            </a:r>
            <a:endParaRPr lang="en-US" sz="1050" dirty="0"/>
          </a:p>
        </p:txBody>
      </p:sp>
      <p:sp>
        <p:nvSpPr>
          <p:cNvPr id="40" name="Text 38"/>
          <p:cNvSpPr txBox="1"/>
          <p:nvPr/>
        </p:nvSpPr>
        <p:spPr>
          <a:xfrm>
            <a:off x="4389120" y="2615184"/>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Control</a:t>
            </a:r>
            <a:endParaRPr lang="en-US" sz="1200" dirty="0"/>
          </a:p>
        </p:txBody>
      </p:sp>
      <p:sp>
        <p:nvSpPr>
          <p:cNvPr id="41" name="Shape 39"/>
          <p:cNvSpPr/>
          <p:nvPr/>
        </p:nvSpPr>
        <p:spPr>
          <a:xfrm>
            <a:off x="5486400" y="2651760"/>
            <a:ext cx="457200" cy="292608"/>
          </a:xfrm>
          <a:prstGeom prst="roundRect">
            <a:avLst>
              <a:gd name="adj" fmla="val 25000"/>
            </a:avLst>
          </a:prstGeom>
          <a:solidFill>
            <a:srgbClr val="F6E7DB"/>
          </a:solidFill>
          <a:ln w="12700">
            <a:solidFill>
              <a:srgbClr val="F6E7DB"/>
            </a:solidFill>
            <a:prstDash val="solid"/>
          </a:ln>
        </p:spPr>
      </p:sp>
      <p:sp>
        <p:nvSpPr>
          <p:cNvPr id="42" name="Text 40"/>
          <p:cNvSpPr txBox="1"/>
          <p:nvPr/>
        </p:nvSpPr>
        <p:spPr>
          <a:xfrm>
            <a:off x="5486400" y="2651760"/>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JMP</a:t>
            </a:r>
            <a:endParaRPr lang="en-US" sz="1050" dirty="0"/>
          </a:p>
        </p:txBody>
      </p:sp>
      <p:sp>
        <p:nvSpPr>
          <p:cNvPr id="43" name="Shape 41"/>
          <p:cNvSpPr/>
          <p:nvPr/>
        </p:nvSpPr>
        <p:spPr>
          <a:xfrm>
            <a:off x="6035040" y="2651760"/>
            <a:ext cx="365760" cy="292608"/>
          </a:xfrm>
          <a:prstGeom prst="roundRect">
            <a:avLst>
              <a:gd name="adj" fmla="val 25000"/>
            </a:avLst>
          </a:prstGeom>
          <a:solidFill>
            <a:srgbClr val="F6E7DB"/>
          </a:solidFill>
          <a:ln w="12700">
            <a:solidFill>
              <a:srgbClr val="F6E7DB"/>
            </a:solidFill>
            <a:prstDash val="solid"/>
          </a:ln>
        </p:spPr>
      </p:sp>
      <p:sp>
        <p:nvSpPr>
          <p:cNvPr id="44" name="Text 42"/>
          <p:cNvSpPr txBox="1"/>
          <p:nvPr/>
        </p:nvSpPr>
        <p:spPr>
          <a:xfrm>
            <a:off x="60350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JZ</a:t>
            </a:r>
            <a:endParaRPr lang="en-US" sz="1050" dirty="0"/>
          </a:p>
        </p:txBody>
      </p:sp>
      <p:sp>
        <p:nvSpPr>
          <p:cNvPr id="45" name="Shape 43"/>
          <p:cNvSpPr/>
          <p:nvPr/>
        </p:nvSpPr>
        <p:spPr>
          <a:xfrm>
            <a:off x="6492240" y="2651760"/>
            <a:ext cx="365760" cy="292608"/>
          </a:xfrm>
          <a:prstGeom prst="roundRect">
            <a:avLst>
              <a:gd name="adj" fmla="val 25000"/>
            </a:avLst>
          </a:prstGeom>
          <a:solidFill>
            <a:srgbClr val="F6E7DB"/>
          </a:solidFill>
          <a:ln w="12700">
            <a:solidFill>
              <a:srgbClr val="F6E7DB"/>
            </a:solidFill>
            <a:prstDash val="solid"/>
          </a:ln>
        </p:spPr>
      </p:sp>
      <p:sp>
        <p:nvSpPr>
          <p:cNvPr id="46" name="Text 44"/>
          <p:cNvSpPr txBox="1"/>
          <p:nvPr/>
        </p:nvSpPr>
        <p:spPr>
          <a:xfrm>
            <a:off x="64922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LT</a:t>
            </a:r>
            <a:endParaRPr lang="en-US" sz="1050" dirty="0"/>
          </a:p>
        </p:txBody>
      </p:sp>
      <p:sp>
        <p:nvSpPr>
          <p:cNvPr id="47" name="Text 45"/>
          <p:cNvSpPr txBox="1"/>
          <p:nvPr/>
        </p:nvSpPr>
        <p:spPr>
          <a:xfrm>
            <a:off x="4389120" y="3090672"/>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I/O</a:t>
            </a:r>
            <a:endParaRPr lang="en-US" sz="1200" dirty="0"/>
          </a:p>
        </p:txBody>
      </p:sp>
      <p:sp>
        <p:nvSpPr>
          <p:cNvPr id="48" name="Shape 46"/>
          <p:cNvSpPr/>
          <p:nvPr/>
        </p:nvSpPr>
        <p:spPr>
          <a:xfrm>
            <a:off x="5486400" y="3127248"/>
            <a:ext cx="640080" cy="292608"/>
          </a:xfrm>
          <a:prstGeom prst="roundRect">
            <a:avLst>
              <a:gd name="adj" fmla="val 25000"/>
            </a:avLst>
          </a:prstGeom>
          <a:solidFill>
            <a:srgbClr val="F6E7DB"/>
          </a:solidFill>
          <a:ln w="12700">
            <a:solidFill>
              <a:srgbClr val="F6E7DB"/>
            </a:solidFill>
            <a:prstDash val="solid"/>
          </a:ln>
        </p:spPr>
      </p:sp>
      <p:sp>
        <p:nvSpPr>
          <p:cNvPr id="49" name="Text 47"/>
          <p:cNvSpPr txBox="1"/>
          <p:nvPr/>
        </p:nvSpPr>
        <p:spPr>
          <a:xfrm>
            <a:off x="5486400" y="3127248"/>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PRINT</a:t>
            </a:r>
            <a:endParaRPr lang="en-US" sz="1050" dirty="0"/>
          </a:p>
        </p:txBody>
      </p:sp>
      <p:sp>
        <p:nvSpPr>
          <p:cNvPr id="50" name="Shape 48"/>
          <p:cNvSpPr/>
          <p:nvPr/>
        </p:nvSpPr>
        <p:spPr>
          <a:xfrm>
            <a:off x="6217920" y="3127248"/>
            <a:ext cx="548640" cy="292608"/>
          </a:xfrm>
          <a:prstGeom prst="roundRect">
            <a:avLst>
              <a:gd name="adj" fmla="val 25000"/>
            </a:avLst>
          </a:prstGeom>
          <a:solidFill>
            <a:srgbClr val="F6E7DB"/>
          </a:solidFill>
          <a:ln w="12700">
            <a:solidFill>
              <a:srgbClr val="F6E7DB"/>
            </a:solidFill>
            <a:prstDash val="solid"/>
          </a:ln>
        </p:spPr>
      </p:sp>
      <p:sp>
        <p:nvSpPr>
          <p:cNvPr id="51" name="Text 49"/>
          <p:cNvSpPr txBox="1"/>
          <p:nvPr/>
        </p:nvSpPr>
        <p:spPr>
          <a:xfrm>
            <a:off x="6217920" y="3127248"/>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HALT</a:t>
            </a:r>
            <a:endParaRPr lang="en-US" sz="1050" dirty="0"/>
          </a:p>
        </p:txBody>
      </p:sp>
      <p:sp>
        <p:nvSpPr>
          <p:cNvPr id="52" name="Text 50"/>
          <p:cNvSpPr txBox="1"/>
          <p:nvPr/>
        </p:nvSpPr>
        <p:spPr>
          <a:xfrm>
            <a:off x="4389120" y="356616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Objects</a:t>
            </a:r>
            <a:endParaRPr lang="en-US" sz="1200" dirty="0"/>
          </a:p>
        </p:txBody>
      </p:sp>
      <p:sp>
        <p:nvSpPr>
          <p:cNvPr id="53" name="Shape 51"/>
          <p:cNvSpPr/>
          <p:nvPr/>
        </p:nvSpPr>
        <p:spPr>
          <a:xfrm>
            <a:off x="5486400" y="3602736"/>
            <a:ext cx="822960" cy="292608"/>
          </a:xfrm>
          <a:prstGeom prst="roundRect">
            <a:avLst>
              <a:gd name="adj" fmla="val 25000"/>
            </a:avLst>
          </a:prstGeom>
          <a:solidFill>
            <a:srgbClr val="E1B07E"/>
          </a:solidFill>
          <a:ln w="12700">
            <a:solidFill>
              <a:srgbClr val="E1B07E"/>
            </a:solidFill>
            <a:prstDash val="solid"/>
          </a:ln>
        </p:spPr>
      </p:sp>
      <p:sp>
        <p:nvSpPr>
          <p:cNvPr id="54" name="Text 52"/>
          <p:cNvSpPr txBox="1"/>
          <p:nvPr/>
        </p:nvSpPr>
        <p:spPr>
          <a:xfrm>
            <a:off x="5486400" y="3602736"/>
            <a:ext cx="8229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LOADOBJ</a:t>
            </a:r>
            <a:endParaRPr lang="en-US" sz="1050" dirty="0"/>
          </a:p>
        </p:txBody>
      </p:sp>
      <p:sp>
        <p:nvSpPr>
          <p:cNvPr id="55" name="Shape 53"/>
          <p:cNvSpPr/>
          <p:nvPr/>
        </p:nvSpPr>
        <p:spPr>
          <a:xfrm>
            <a:off x="6400800" y="3602736"/>
            <a:ext cx="914400" cy="292608"/>
          </a:xfrm>
          <a:prstGeom prst="roundRect">
            <a:avLst>
              <a:gd name="adj" fmla="val 25000"/>
            </a:avLst>
          </a:prstGeom>
          <a:solidFill>
            <a:srgbClr val="E1B07E"/>
          </a:solidFill>
          <a:ln w="12700">
            <a:solidFill>
              <a:srgbClr val="E1B07E"/>
            </a:solidFill>
            <a:prstDash val="solid"/>
          </a:ln>
        </p:spPr>
      </p:sp>
      <p:sp>
        <p:nvSpPr>
          <p:cNvPr id="56" name="Text 54"/>
          <p:cNvSpPr txBox="1"/>
          <p:nvPr/>
        </p:nvSpPr>
        <p:spPr>
          <a:xfrm>
            <a:off x="6400800" y="3602736"/>
            <a:ext cx="9144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GETFIELD</a:t>
            </a:r>
            <a:endParaRPr lang="en-US" sz="1050" dirty="0"/>
          </a:p>
        </p:txBody>
      </p:sp>
      <p:sp>
        <p:nvSpPr>
          <p:cNvPr id="57" name="Text 55"/>
          <p:cNvSpPr txBox="1"/>
          <p:nvPr/>
        </p:nvSpPr>
        <p:spPr>
          <a:xfrm>
            <a:off x="4389120" y="4114800"/>
            <a:ext cx="429768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13 core opcodes from Review 1, plus LOADOBJ / GETFIELD for property access (used by the inline cache).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Baseline interpreter: correctness first</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Text 4"/>
          <p:cNvSpPr txBox="1"/>
          <p:nvPr/>
        </p:nvSpPr>
        <p:spPr>
          <a:xfrm>
            <a:off x="457200" y="1371600"/>
            <a:ext cx="2743200" cy="1005840"/>
          </a:xfrm>
          <a:prstGeom prst="rect">
            <a:avLst/>
          </a:prstGeom>
          <a:noFill/>
          <a:ln/>
        </p:spPr>
        <p:txBody>
          <a:bodyPr wrap="square" lIns="0" tIns="0" rIns="0" bIns="0" rtlCol="0" anchor="ctr"/>
          <a:lstStyle/>
          <a:p>
            <a:pPr indent="0" marL="0">
              <a:buNone/>
            </a:pPr>
            <a:r>
              <a:rPr lang="en-US" sz="6000" b="1" dirty="0">
                <a:solidFill>
                  <a:srgbClr val="548687"/>
                </a:solidFill>
                <a:latin typeface="Cambria" pitchFamily="34" charset="0"/>
                <a:ea typeface="Cambria" pitchFamily="34" charset="-122"/>
                <a:cs typeface="Cambria" pitchFamily="34" charset="-120"/>
              </a:rPr>
              <a:t>12 / 12</a:t>
            </a:r>
            <a:endParaRPr lang="en-US" sz="6000" dirty="0"/>
          </a:p>
        </p:txBody>
      </p:sp>
      <p:sp>
        <p:nvSpPr>
          <p:cNvPr id="7" name="Text 5"/>
          <p:cNvSpPr txBox="1"/>
          <p:nvPr/>
        </p:nvSpPr>
        <p:spPr>
          <a:xfrm>
            <a:off x="457200" y="2377440"/>
            <a:ext cx="27432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baseline test cases passing</a:t>
            </a:r>
            <a:endParaRPr lang="en-US" sz="1400" dirty="0"/>
          </a:p>
        </p:txBody>
      </p:sp>
      <p:sp>
        <p:nvSpPr>
          <p:cNvPr id="8" name="Text 6"/>
          <p:cNvSpPr txBox="1"/>
          <p:nvPr/>
        </p:nvSpPr>
        <p:spPr>
          <a:xfrm>
            <a:off x="457200" y="2880360"/>
            <a:ext cx="2651760" cy="1005840"/>
          </a:xfrm>
          <a:prstGeom prst="rect">
            <a:avLst/>
          </a:prstGeom>
          <a:noFill/>
          <a:ln/>
        </p:spPr>
        <p:txBody>
          <a:bodyPr wrap="square" lIns="0" tIns="0" rIns="0" bIns="0" rtlCol="0" anchor="t"/>
          <a:lstStyle/>
          <a:p>
            <a:pPr indent="0" marL="0">
              <a:buNone/>
            </a:pPr>
            <a:r>
              <a:rPr lang="en-US" sz="1200" dirty="0">
                <a:solidFill>
                  <a:srgbClr val="7D6A6B"/>
                </a:solidFill>
                <a:latin typeface="Calibri" pitchFamily="34" charset="0"/>
                <a:ea typeface="Calibri" pitchFamily="34" charset="-122"/>
                <a:cs typeface="Calibri" pitchFamily="34" charset="-120"/>
              </a:rPr>
              <a:t>The baseline interpreter is our correctness oracle: every cached or compiled result is diffed against it.</a:t>
            </a:r>
            <a:endParaRPr lang="en-US" sz="1200" dirty="0"/>
          </a:p>
        </p:txBody>
      </p:sp>
      <p:sp>
        <p:nvSpPr>
          <p:cNvPr id="9" name="Shape 7"/>
          <p:cNvSpPr/>
          <p:nvPr/>
        </p:nvSpPr>
        <p:spPr>
          <a:xfrm>
            <a:off x="3474720" y="1234440"/>
            <a:ext cx="1645920" cy="640080"/>
          </a:xfrm>
          <a:prstGeom prst="roundRect">
            <a:avLst>
              <a:gd name="adj" fmla="val 11429"/>
            </a:avLst>
          </a:prstGeom>
          <a:solidFill>
            <a:srgbClr val="E6F8FF"/>
          </a:solidFill>
          <a:ln w="12700">
            <a:solidFill>
              <a:srgbClr val="E6F8FF"/>
            </a:solidFill>
            <a:prstDash val="solid"/>
          </a:ln>
        </p:spPr>
      </p:sp>
      <p:sp>
        <p:nvSpPr>
          <p:cNvPr id="10" name="Text 8"/>
          <p:cNvSpPr txBox="1"/>
          <p:nvPr/>
        </p:nvSpPr>
        <p:spPr>
          <a:xfrm>
            <a:off x="3584448"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a:t>
            </a:r>
            <a:endParaRPr lang="en-US" sz="1100" dirty="0"/>
          </a:p>
        </p:txBody>
      </p:sp>
      <p:sp>
        <p:nvSpPr>
          <p:cNvPr id="11" name="Text 9"/>
          <p:cNvSpPr txBox="1"/>
          <p:nvPr/>
        </p:nvSpPr>
        <p:spPr>
          <a:xfrm>
            <a:off x="4709160"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3584448"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+ 20 = 30</a:t>
            </a:r>
            <a:endParaRPr lang="en-US" sz="1050" dirty="0"/>
          </a:p>
        </p:txBody>
      </p:sp>
      <p:sp>
        <p:nvSpPr>
          <p:cNvPr id="13" name="Shape 11"/>
          <p:cNvSpPr/>
          <p:nvPr/>
        </p:nvSpPr>
        <p:spPr>
          <a:xfrm>
            <a:off x="5230368" y="1234440"/>
            <a:ext cx="1645920" cy="640080"/>
          </a:xfrm>
          <a:prstGeom prst="roundRect">
            <a:avLst>
              <a:gd name="adj" fmla="val 11429"/>
            </a:avLst>
          </a:prstGeom>
          <a:solidFill>
            <a:srgbClr val="E6F8FF"/>
          </a:solidFill>
          <a:ln w="12700">
            <a:solidFill>
              <a:srgbClr val="E6F8FF"/>
            </a:solidFill>
            <a:prstDash val="solid"/>
          </a:ln>
        </p:spPr>
      </p:sp>
      <p:sp>
        <p:nvSpPr>
          <p:cNvPr id="14" name="Text 12"/>
          <p:cNvSpPr txBox="1"/>
          <p:nvPr/>
        </p:nvSpPr>
        <p:spPr>
          <a:xfrm>
            <a:off x="5340096"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TC2</a:t>
            </a:r>
            <a:endParaRPr lang="en-US" sz="1100" dirty="0"/>
          </a:p>
        </p:txBody>
      </p:sp>
      <p:sp>
        <p:nvSpPr>
          <p:cNvPr id="15" name="Text 13"/>
          <p:cNvSpPr txBox="1"/>
          <p:nvPr/>
        </p:nvSpPr>
        <p:spPr>
          <a:xfrm>
            <a:off x="6464808"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5340096"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20 − 5 = 15</a:t>
            </a:r>
            <a:endParaRPr lang="en-US" sz="1050" dirty="0"/>
          </a:p>
        </p:txBody>
      </p:sp>
      <p:sp>
        <p:nvSpPr>
          <p:cNvPr id="17" name="Shape 15"/>
          <p:cNvSpPr/>
          <p:nvPr/>
        </p:nvSpPr>
        <p:spPr>
          <a:xfrm>
            <a:off x="6986016" y="1234440"/>
            <a:ext cx="1645920" cy="640080"/>
          </a:xfrm>
          <a:prstGeom prst="roundRect">
            <a:avLst>
              <a:gd name="adj" fmla="val 11429"/>
            </a:avLst>
          </a:prstGeom>
          <a:solidFill>
            <a:srgbClr val="E6F8FF"/>
          </a:solidFill>
          <a:ln w="12700">
            <a:solidFill>
              <a:srgbClr val="E6F8FF"/>
            </a:solidFill>
            <a:prstDash val="solid"/>
          </a:ln>
        </p:spPr>
      </p:sp>
      <p:sp>
        <p:nvSpPr>
          <p:cNvPr id="18" name="Text 16"/>
          <p:cNvSpPr txBox="1"/>
          <p:nvPr/>
        </p:nvSpPr>
        <p:spPr>
          <a:xfrm>
            <a:off x="7095744"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TC3</a:t>
            </a:r>
            <a:endParaRPr lang="en-US" sz="1100" dirty="0"/>
          </a:p>
        </p:txBody>
      </p:sp>
      <p:sp>
        <p:nvSpPr>
          <p:cNvPr id="19" name="Text 17"/>
          <p:cNvSpPr txBox="1"/>
          <p:nvPr/>
        </p:nvSpPr>
        <p:spPr>
          <a:xfrm>
            <a:off x="8220456"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7095744"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5 = 50</a:t>
            </a:r>
            <a:endParaRPr lang="en-US" sz="1050" dirty="0"/>
          </a:p>
        </p:txBody>
      </p:sp>
      <p:sp>
        <p:nvSpPr>
          <p:cNvPr id="21" name="Shape 19"/>
          <p:cNvSpPr/>
          <p:nvPr/>
        </p:nvSpPr>
        <p:spPr>
          <a:xfrm>
            <a:off x="3474720" y="2011680"/>
            <a:ext cx="1645920" cy="640080"/>
          </a:xfrm>
          <a:prstGeom prst="roundRect">
            <a:avLst>
              <a:gd name="adj" fmla="val 11429"/>
            </a:avLst>
          </a:prstGeom>
          <a:solidFill>
            <a:srgbClr val="E6F8FF"/>
          </a:solidFill>
          <a:ln w="12700">
            <a:solidFill>
              <a:srgbClr val="E6F8FF"/>
            </a:solidFill>
            <a:prstDash val="solid"/>
          </a:ln>
        </p:spPr>
      </p:sp>
      <p:sp>
        <p:nvSpPr>
          <p:cNvPr id="22" name="Text 20"/>
          <p:cNvSpPr txBox="1"/>
          <p:nvPr/>
        </p:nvSpPr>
        <p:spPr>
          <a:xfrm>
            <a:off x="3584448"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TC4</a:t>
            </a:r>
            <a:endParaRPr lang="en-US" sz="1100" dirty="0"/>
          </a:p>
        </p:txBody>
      </p:sp>
      <p:sp>
        <p:nvSpPr>
          <p:cNvPr id="23" name="Text 21"/>
          <p:cNvSpPr txBox="1"/>
          <p:nvPr/>
        </p:nvSpPr>
        <p:spPr>
          <a:xfrm>
            <a:off x="4709160"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3584448"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4 = 5</a:t>
            </a:r>
            <a:endParaRPr lang="en-US" sz="1050" dirty="0"/>
          </a:p>
        </p:txBody>
      </p:sp>
      <p:sp>
        <p:nvSpPr>
          <p:cNvPr id="25" name="Shape 23"/>
          <p:cNvSpPr/>
          <p:nvPr/>
        </p:nvSpPr>
        <p:spPr>
          <a:xfrm>
            <a:off x="5230368" y="2011680"/>
            <a:ext cx="1645920" cy="640080"/>
          </a:xfrm>
          <a:prstGeom prst="roundRect">
            <a:avLst>
              <a:gd name="adj" fmla="val 11429"/>
            </a:avLst>
          </a:prstGeom>
          <a:solidFill>
            <a:srgbClr val="E6F8FF"/>
          </a:solidFill>
          <a:ln w="12700">
            <a:solidFill>
              <a:srgbClr val="E6F8FF"/>
            </a:solidFill>
            <a:prstDash val="solid"/>
          </a:ln>
        </p:spPr>
      </p:sp>
      <p:sp>
        <p:nvSpPr>
          <p:cNvPr id="26" name="Text 24"/>
          <p:cNvSpPr txBox="1"/>
          <p:nvPr/>
        </p:nvSpPr>
        <p:spPr>
          <a:xfrm>
            <a:off x="5340096"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TC5</a:t>
            </a:r>
            <a:endParaRPr lang="en-US" sz="1100" dirty="0"/>
          </a:p>
        </p:txBody>
      </p:sp>
      <p:sp>
        <p:nvSpPr>
          <p:cNvPr id="27" name="Text 25"/>
          <p:cNvSpPr txBox="1"/>
          <p:nvPr/>
        </p:nvSpPr>
        <p:spPr>
          <a:xfrm>
            <a:off x="6464808"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5340096"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(10+20) × 5 = 150</a:t>
            </a:r>
            <a:endParaRPr lang="en-US" sz="1050" dirty="0"/>
          </a:p>
        </p:txBody>
      </p:sp>
      <p:sp>
        <p:nvSpPr>
          <p:cNvPr id="29" name="Shape 27"/>
          <p:cNvSpPr/>
          <p:nvPr/>
        </p:nvSpPr>
        <p:spPr>
          <a:xfrm>
            <a:off x="6986016" y="2011680"/>
            <a:ext cx="1645920" cy="640080"/>
          </a:xfrm>
          <a:prstGeom prst="roundRect">
            <a:avLst>
              <a:gd name="adj" fmla="val 11429"/>
            </a:avLst>
          </a:prstGeom>
          <a:solidFill>
            <a:srgbClr val="E6F8FF"/>
          </a:solidFill>
          <a:ln w="12700">
            <a:solidFill>
              <a:srgbClr val="E6F8FF"/>
            </a:solidFill>
            <a:prstDash val="solid"/>
          </a:ln>
        </p:spPr>
      </p:sp>
      <p:sp>
        <p:nvSpPr>
          <p:cNvPr id="30" name="Text 28"/>
          <p:cNvSpPr txBox="1"/>
          <p:nvPr/>
        </p:nvSpPr>
        <p:spPr>
          <a:xfrm>
            <a:off x="7095744"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TC6</a:t>
            </a:r>
            <a:endParaRPr lang="en-US" sz="1100" dirty="0"/>
          </a:p>
        </p:txBody>
      </p:sp>
      <p:sp>
        <p:nvSpPr>
          <p:cNvPr id="31" name="Text 29"/>
          <p:cNvSpPr txBox="1"/>
          <p:nvPr/>
        </p:nvSpPr>
        <p:spPr>
          <a:xfrm>
            <a:off x="8220456"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7095744"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 0 raises error</a:t>
            </a:r>
            <a:endParaRPr lang="en-US" sz="1050" dirty="0"/>
          </a:p>
        </p:txBody>
      </p:sp>
      <p:sp>
        <p:nvSpPr>
          <p:cNvPr id="33" name="Shape 31"/>
          <p:cNvSpPr/>
          <p:nvPr/>
        </p:nvSpPr>
        <p:spPr>
          <a:xfrm>
            <a:off x="3474720" y="2788920"/>
            <a:ext cx="1645920" cy="640080"/>
          </a:xfrm>
          <a:prstGeom prst="roundRect">
            <a:avLst>
              <a:gd name="adj" fmla="val 11429"/>
            </a:avLst>
          </a:prstGeom>
          <a:solidFill>
            <a:srgbClr val="C1EEFF"/>
          </a:solidFill>
          <a:ln w="12700">
            <a:solidFill>
              <a:srgbClr val="C1EEFF"/>
            </a:solidFill>
            <a:prstDash val="solid"/>
          </a:ln>
        </p:spPr>
      </p:sp>
      <p:sp>
        <p:nvSpPr>
          <p:cNvPr id="34" name="Text 32"/>
          <p:cNvSpPr txBox="1"/>
          <p:nvPr/>
        </p:nvSpPr>
        <p:spPr>
          <a:xfrm>
            <a:off x="3584448"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TC7</a:t>
            </a:r>
            <a:endParaRPr lang="en-US" sz="1100" dirty="0"/>
          </a:p>
        </p:txBody>
      </p:sp>
      <p:sp>
        <p:nvSpPr>
          <p:cNvPr id="35" name="Text 33"/>
          <p:cNvSpPr txBox="1"/>
          <p:nvPr/>
        </p:nvSpPr>
        <p:spPr>
          <a:xfrm>
            <a:off x="4709160"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6" name="Text 34"/>
          <p:cNvSpPr txBox="1"/>
          <p:nvPr/>
        </p:nvSpPr>
        <p:spPr>
          <a:xfrm>
            <a:off x="3584448"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LOAD/STORE ×4 slots</a:t>
            </a:r>
            <a:endParaRPr lang="en-US" sz="1050" dirty="0"/>
          </a:p>
        </p:txBody>
      </p:sp>
      <p:sp>
        <p:nvSpPr>
          <p:cNvPr id="37" name="Shape 35"/>
          <p:cNvSpPr/>
          <p:nvPr/>
        </p:nvSpPr>
        <p:spPr>
          <a:xfrm>
            <a:off x="5230368" y="2788920"/>
            <a:ext cx="1645920" cy="640080"/>
          </a:xfrm>
          <a:prstGeom prst="roundRect">
            <a:avLst>
              <a:gd name="adj" fmla="val 11429"/>
            </a:avLst>
          </a:prstGeom>
          <a:solidFill>
            <a:srgbClr val="C1EEFF"/>
          </a:solidFill>
          <a:ln w="12700">
            <a:solidFill>
              <a:srgbClr val="C1EEFF"/>
            </a:solidFill>
            <a:prstDash val="solid"/>
          </a:ln>
        </p:spPr>
      </p:sp>
      <p:sp>
        <p:nvSpPr>
          <p:cNvPr id="38" name="Text 36"/>
          <p:cNvSpPr txBox="1"/>
          <p:nvPr/>
        </p:nvSpPr>
        <p:spPr>
          <a:xfrm>
            <a:off x="5340096"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TC8</a:t>
            </a:r>
            <a:endParaRPr lang="en-US" sz="1100" dirty="0"/>
          </a:p>
        </p:txBody>
      </p:sp>
      <p:sp>
        <p:nvSpPr>
          <p:cNvPr id="39" name="Text 37"/>
          <p:cNvSpPr txBox="1"/>
          <p:nvPr/>
        </p:nvSpPr>
        <p:spPr>
          <a:xfrm>
            <a:off x="6464808"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0" name="Text 38"/>
          <p:cNvSpPr txBox="1"/>
          <p:nvPr/>
        </p:nvSpPr>
        <p:spPr>
          <a:xfrm>
            <a:off x="5340096"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JMP skips PRINT</a:t>
            </a:r>
            <a:endParaRPr lang="en-US" sz="1050" dirty="0"/>
          </a:p>
        </p:txBody>
      </p:sp>
      <p:sp>
        <p:nvSpPr>
          <p:cNvPr id="41" name="Shape 39"/>
          <p:cNvSpPr/>
          <p:nvPr/>
        </p:nvSpPr>
        <p:spPr>
          <a:xfrm>
            <a:off x="6986016" y="2788920"/>
            <a:ext cx="1645920" cy="640080"/>
          </a:xfrm>
          <a:prstGeom prst="roundRect">
            <a:avLst>
              <a:gd name="adj" fmla="val 11429"/>
            </a:avLst>
          </a:prstGeom>
          <a:solidFill>
            <a:srgbClr val="C1EEFF"/>
          </a:solidFill>
          <a:ln w="12700">
            <a:solidFill>
              <a:srgbClr val="C1EEFF"/>
            </a:solidFill>
            <a:prstDash val="solid"/>
          </a:ln>
        </p:spPr>
      </p:sp>
      <p:sp>
        <p:nvSpPr>
          <p:cNvPr id="42" name="Text 40"/>
          <p:cNvSpPr txBox="1"/>
          <p:nvPr/>
        </p:nvSpPr>
        <p:spPr>
          <a:xfrm>
            <a:off x="7095744"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TC9</a:t>
            </a:r>
            <a:endParaRPr lang="en-US" sz="1100" dirty="0"/>
          </a:p>
        </p:txBody>
      </p:sp>
      <p:sp>
        <p:nvSpPr>
          <p:cNvPr id="43" name="Text 41"/>
          <p:cNvSpPr txBox="1"/>
          <p:nvPr/>
        </p:nvSpPr>
        <p:spPr>
          <a:xfrm>
            <a:off x="8220456"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4" name="Text 42"/>
          <p:cNvSpPr txBox="1"/>
          <p:nvPr/>
        </p:nvSpPr>
        <p:spPr>
          <a:xfrm>
            <a:off x="7095744"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JZ taken / not taken</a:t>
            </a:r>
            <a:endParaRPr lang="en-US" sz="1050" dirty="0"/>
          </a:p>
        </p:txBody>
      </p:sp>
      <p:sp>
        <p:nvSpPr>
          <p:cNvPr id="45" name="Shape 43"/>
          <p:cNvSpPr/>
          <p:nvPr/>
        </p:nvSpPr>
        <p:spPr>
          <a:xfrm>
            <a:off x="3474720" y="3566160"/>
            <a:ext cx="1645920" cy="640080"/>
          </a:xfrm>
          <a:prstGeom prst="roundRect">
            <a:avLst>
              <a:gd name="adj" fmla="val 11429"/>
            </a:avLst>
          </a:prstGeom>
          <a:solidFill>
            <a:srgbClr val="C1EEFF"/>
          </a:solidFill>
          <a:ln w="12700">
            <a:solidFill>
              <a:srgbClr val="C1EEFF"/>
            </a:solidFill>
            <a:prstDash val="solid"/>
          </a:ln>
        </p:spPr>
      </p:sp>
      <p:sp>
        <p:nvSpPr>
          <p:cNvPr id="46" name="Text 44"/>
          <p:cNvSpPr txBox="1"/>
          <p:nvPr/>
        </p:nvSpPr>
        <p:spPr>
          <a:xfrm>
            <a:off x="3584448"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TC10</a:t>
            </a:r>
            <a:endParaRPr lang="en-US" sz="1100" dirty="0"/>
          </a:p>
        </p:txBody>
      </p:sp>
      <p:sp>
        <p:nvSpPr>
          <p:cNvPr id="47" name="Text 45"/>
          <p:cNvSpPr txBox="1"/>
          <p:nvPr/>
        </p:nvSpPr>
        <p:spPr>
          <a:xfrm>
            <a:off x="4709160"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8" name="Text 46"/>
          <p:cNvSpPr txBox="1"/>
          <p:nvPr/>
        </p:nvSpPr>
        <p:spPr>
          <a:xfrm>
            <a:off x="3584448"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LT: &lt;, &gt;, =</a:t>
            </a:r>
            <a:endParaRPr lang="en-US" sz="1050" dirty="0"/>
          </a:p>
        </p:txBody>
      </p:sp>
      <p:sp>
        <p:nvSpPr>
          <p:cNvPr id="49" name="Shape 47"/>
          <p:cNvSpPr/>
          <p:nvPr/>
        </p:nvSpPr>
        <p:spPr>
          <a:xfrm>
            <a:off x="5230368" y="3566160"/>
            <a:ext cx="1645920" cy="640080"/>
          </a:xfrm>
          <a:prstGeom prst="roundRect">
            <a:avLst>
              <a:gd name="adj" fmla="val 11429"/>
            </a:avLst>
          </a:prstGeom>
          <a:solidFill>
            <a:srgbClr val="C1EEFF"/>
          </a:solidFill>
          <a:ln w="12700">
            <a:solidFill>
              <a:srgbClr val="C1EEFF"/>
            </a:solidFill>
            <a:prstDash val="solid"/>
          </a:ln>
        </p:spPr>
      </p:sp>
      <p:sp>
        <p:nvSpPr>
          <p:cNvPr id="50" name="Text 48"/>
          <p:cNvSpPr txBox="1"/>
          <p:nvPr/>
        </p:nvSpPr>
        <p:spPr>
          <a:xfrm>
            <a:off x="5340096"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TC11</a:t>
            </a:r>
            <a:endParaRPr lang="en-US" sz="1100" dirty="0"/>
          </a:p>
        </p:txBody>
      </p:sp>
      <p:sp>
        <p:nvSpPr>
          <p:cNvPr id="51" name="Text 49"/>
          <p:cNvSpPr txBox="1"/>
          <p:nvPr/>
        </p:nvSpPr>
        <p:spPr>
          <a:xfrm>
            <a:off x="6464808"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5340096"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Loop flagged hot</a:t>
            </a:r>
            <a:endParaRPr lang="en-US" sz="1050" dirty="0"/>
          </a:p>
        </p:txBody>
      </p:sp>
      <p:sp>
        <p:nvSpPr>
          <p:cNvPr id="53" name="Shape 51"/>
          <p:cNvSpPr/>
          <p:nvPr/>
        </p:nvSpPr>
        <p:spPr>
          <a:xfrm>
            <a:off x="6986016" y="3566160"/>
            <a:ext cx="1645920" cy="640080"/>
          </a:xfrm>
          <a:prstGeom prst="roundRect">
            <a:avLst>
              <a:gd name="adj" fmla="val 11429"/>
            </a:avLst>
          </a:prstGeom>
          <a:solidFill>
            <a:srgbClr val="C1EEFF"/>
          </a:solidFill>
          <a:ln w="12700">
            <a:solidFill>
              <a:srgbClr val="C1EEFF"/>
            </a:solidFill>
            <a:prstDash val="solid"/>
          </a:ln>
        </p:spPr>
      </p:sp>
      <p:sp>
        <p:nvSpPr>
          <p:cNvPr id="54" name="Text 52"/>
          <p:cNvSpPr txBox="1"/>
          <p:nvPr/>
        </p:nvSpPr>
        <p:spPr>
          <a:xfrm>
            <a:off x="7095744"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TC12</a:t>
            </a:r>
            <a:endParaRPr lang="en-US" sz="1100" dirty="0"/>
          </a:p>
        </p:txBody>
      </p:sp>
      <p:sp>
        <p:nvSpPr>
          <p:cNvPr id="55" name="Text 53"/>
          <p:cNvSpPr txBox="1"/>
          <p:nvPr/>
        </p:nvSpPr>
        <p:spPr>
          <a:xfrm>
            <a:off x="8220456"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7095744"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1000-deep push/pop</a:t>
            </a:r>
            <a:endParaRPr lang="en-US" sz="1050" dirty="0"/>
          </a:p>
        </p:txBody>
      </p:sp>
      <p:sp>
        <p:nvSpPr>
          <p:cNvPr id="57" name="Text 55"/>
          <p:cNvSpPr txBox="1"/>
          <p:nvPr/>
        </p:nvSpPr>
        <p:spPr>
          <a:xfrm>
            <a:off x="3474720" y="4389120"/>
            <a:ext cx="521208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Darker tiles: TC7–TC12, new since Review 1 (control flow, hot-loop detection, stack stress).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02</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Vatsal Sharma</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Profiler &amp; Hot-Code Detection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How hot loops are detected</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Differential testing</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Timeline &amp; milestones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Hot code via back-edge counters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143000"/>
            <a:ext cx="3657600" cy="3429000"/>
          </a:xfrm>
          <a:prstGeom prst="roundRect">
            <a:avLst>
              <a:gd name="adj" fmla="val 2133"/>
            </a:avLst>
          </a:prstGeom>
          <a:solidFill>
            <a:srgbClr val="513B3C"/>
          </a:solidFill>
          <a:ln w="12700">
            <a:solidFill>
              <a:srgbClr val="513B3C"/>
            </a:solidFill>
            <a:prstDash val="solid"/>
          </a:ln>
        </p:spPr>
      </p:sp>
      <p:sp>
        <p:nvSpPr>
          <p:cNvPr id="7" name="Text 5"/>
          <p:cNvSpPr txBox="1"/>
          <p:nvPr/>
        </p:nvSpPr>
        <p:spPr>
          <a:xfrm>
            <a:off x="640080" y="128016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0</a:t>
            </a:r>
            <a:endParaRPr lang="en-US" sz="1050" dirty="0"/>
          </a:p>
        </p:txBody>
      </p:sp>
      <p:sp>
        <p:nvSpPr>
          <p:cNvPr id="8" name="Text 6"/>
          <p:cNvSpPr txBox="1"/>
          <p:nvPr/>
        </p:nvSpPr>
        <p:spPr>
          <a:xfrm>
            <a:off x="1097280" y="128016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0</a:t>
            </a:r>
            <a:endParaRPr lang="en-US" sz="1100" dirty="0"/>
          </a:p>
        </p:txBody>
      </p:sp>
      <p:sp>
        <p:nvSpPr>
          <p:cNvPr id="9" name="Text 7"/>
          <p:cNvSpPr txBox="1"/>
          <p:nvPr/>
        </p:nvSpPr>
        <p:spPr>
          <a:xfrm>
            <a:off x="2514600" y="128016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0</a:t>
            </a:r>
            <a:endParaRPr lang="en-US" sz="1000" dirty="0"/>
          </a:p>
        </p:txBody>
      </p:sp>
      <p:sp>
        <p:nvSpPr>
          <p:cNvPr id="10" name="Text 8"/>
          <p:cNvSpPr txBox="1"/>
          <p:nvPr/>
        </p:nvSpPr>
        <p:spPr>
          <a:xfrm>
            <a:off x="640080" y="154533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1</a:t>
            </a:r>
            <a:endParaRPr lang="en-US" sz="1050" dirty="0"/>
          </a:p>
        </p:txBody>
      </p:sp>
      <p:sp>
        <p:nvSpPr>
          <p:cNvPr id="11" name="Text 9"/>
          <p:cNvSpPr txBox="1"/>
          <p:nvPr/>
        </p:nvSpPr>
        <p:spPr>
          <a:xfrm>
            <a:off x="1097280" y="154533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12" name="Text 10"/>
          <p:cNvSpPr txBox="1"/>
          <p:nvPr/>
        </p:nvSpPr>
        <p:spPr>
          <a:xfrm>
            <a:off x="2514600" y="1545336"/>
            <a:ext cx="1463040" cy="246888"/>
          </a:xfrm>
          <a:prstGeom prst="rect">
            <a:avLst/>
          </a:prstGeom>
          <a:noFill/>
          <a:ln/>
        </p:spPr>
        <p:txBody>
          <a:bodyPr wrap="square" lIns="0" tIns="0" rIns="0" bIns="0" rtlCol="0" anchor="ctr"/>
          <a:lstStyle/>
          <a:p>
            <a:pPr indent="0" marL="0">
              <a:buNone/>
            </a:pPr>
            <a:endParaRPr lang="en-US" sz="1000" dirty="0"/>
          </a:p>
        </p:txBody>
      </p:sp>
      <p:sp>
        <p:nvSpPr>
          <p:cNvPr id="13" name="Text 11"/>
          <p:cNvSpPr txBox="1"/>
          <p:nvPr/>
        </p:nvSpPr>
        <p:spPr>
          <a:xfrm>
            <a:off x="640080" y="181051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2</a:t>
            </a:r>
            <a:endParaRPr lang="en-US" sz="1050" dirty="0"/>
          </a:p>
        </p:txBody>
      </p:sp>
      <p:sp>
        <p:nvSpPr>
          <p:cNvPr id="14" name="Text 12"/>
          <p:cNvSpPr txBox="1"/>
          <p:nvPr/>
        </p:nvSpPr>
        <p:spPr>
          <a:xfrm>
            <a:off x="1097280" y="1810512"/>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LOAD 0</a:t>
            </a:r>
            <a:endParaRPr lang="en-US" sz="1100" dirty="0"/>
          </a:p>
        </p:txBody>
      </p:sp>
      <p:sp>
        <p:nvSpPr>
          <p:cNvPr id="15" name="Text 13"/>
          <p:cNvSpPr txBox="1"/>
          <p:nvPr/>
        </p:nvSpPr>
        <p:spPr>
          <a:xfrm>
            <a:off x="2514600" y="1810512"/>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 loop head</a:t>
            </a:r>
            <a:endParaRPr lang="en-US" sz="1000" dirty="0"/>
          </a:p>
        </p:txBody>
      </p:sp>
      <p:sp>
        <p:nvSpPr>
          <p:cNvPr id="16" name="Text 14"/>
          <p:cNvSpPr txBox="1"/>
          <p:nvPr/>
        </p:nvSpPr>
        <p:spPr>
          <a:xfrm>
            <a:off x="640080" y="207568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3</a:t>
            </a:r>
            <a:endParaRPr lang="en-US" sz="1050" dirty="0"/>
          </a:p>
        </p:txBody>
      </p:sp>
      <p:sp>
        <p:nvSpPr>
          <p:cNvPr id="17" name="Text 15"/>
          <p:cNvSpPr txBox="1"/>
          <p:nvPr/>
        </p:nvSpPr>
        <p:spPr>
          <a:xfrm>
            <a:off x="1097280" y="207568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10</a:t>
            </a:r>
            <a:endParaRPr lang="en-US" sz="1100" dirty="0"/>
          </a:p>
        </p:txBody>
      </p:sp>
      <p:sp>
        <p:nvSpPr>
          <p:cNvPr id="18" name="Text 16"/>
          <p:cNvSpPr txBox="1"/>
          <p:nvPr/>
        </p:nvSpPr>
        <p:spPr>
          <a:xfrm>
            <a:off x="2514600" y="2075688"/>
            <a:ext cx="1463040" cy="246888"/>
          </a:xfrm>
          <a:prstGeom prst="rect">
            <a:avLst/>
          </a:prstGeom>
          <a:noFill/>
          <a:ln/>
        </p:spPr>
        <p:txBody>
          <a:bodyPr wrap="square" lIns="0" tIns="0" rIns="0" bIns="0" rtlCol="0" anchor="ctr"/>
          <a:lstStyle/>
          <a:p>
            <a:pPr indent="0" marL="0">
              <a:buNone/>
            </a:pPr>
            <a:endParaRPr lang="en-US" sz="1000" dirty="0"/>
          </a:p>
        </p:txBody>
      </p:sp>
      <p:sp>
        <p:nvSpPr>
          <p:cNvPr id="19" name="Text 17"/>
          <p:cNvSpPr txBox="1"/>
          <p:nvPr/>
        </p:nvSpPr>
        <p:spPr>
          <a:xfrm>
            <a:off x="640080" y="234086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4</a:t>
            </a:r>
            <a:endParaRPr lang="en-US" sz="1050" dirty="0"/>
          </a:p>
        </p:txBody>
      </p:sp>
      <p:sp>
        <p:nvSpPr>
          <p:cNvPr id="20" name="Text 18"/>
          <p:cNvSpPr txBox="1"/>
          <p:nvPr/>
        </p:nvSpPr>
        <p:spPr>
          <a:xfrm>
            <a:off x="1097280" y="234086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LT</a:t>
            </a:r>
            <a:endParaRPr lang="en-US" sz="1100" dirty="0"/>
          </a:p>
        </p:txBody>
      </p:sp>
      <p:sp>
        <p:nvSpPr>
          <p:cNvPr id="21" name="Text 19"/>
          <p:cNvSpPr txBox="1"/>
          <p:nvPr/>
        </p:nvSpPr>
        <p:spPr>
          <a:xfrm>
            <a:off x="2514600" y="2340864"/>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&lt; 10 ?</a:t>
            </a:r>
            <a:endParaRPr lang="en-US" sz="1000" dirty="0"/>
          </a:p>
        </p:txBody>
      </p:sp>
      <p:sp>
        <p:nvSpPr>
          <p:cNvPr id="22" name="Text 20"/>
          <p:cNvSpPr txBox="1"/>
          <p:nvPr/>
        </p:nvSpPr>
        <p:spPr>
          <a:xfrm>
            <a:off x="640080" y="260604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5</a:t>
            </a:r>
            <a:endParaRPr lang="en-US" sz="1050" dirty="0"/>
          </a:p>
        </p:txBody>
      </p:sp>
      <p:sp>
        <p:nvSpPr>
          <p:cNvPr id="23" name="Text 21"/>
          <p:cNvSpPr txBox="1"/>
          <p:nvPr/>
        </p:nvSpPr>
        <p:spPr>
          <a:xfrm>
            <a:off x="1097280" y="260604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JZ 11</a:t>
            </a:r>
            <a:endParaRPr lang="en-US" sz="1100" dirty="0"/>
          </a:p>
        </p:txBody>
      </p:sp>
      <p:sp>
        <p:nvSpPr>
          <p:cNvPr id="24" name="Text 22"/>
          <p:cNvSpPr txBox="1"/>
          <p:nvPr/>
        </p:nvSpPr>
        <p:spPr>
          <a:xfrm>
            <a:off x="2514600" y="260604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exit</a:t>
            </a:r>
            <a:endParaRPr lang="en-US" sz="1000" dirty="0"/>
          </a:p>
        </p:txBody>
      </p:sp>
      <p:sp>
        <p:nvSpPr>
          <p:cNvPr id="25" name="Text 23"/>
          <p:cNvSpPr txBox="1"/>
          <p:nvPr/>
        </p:nvSpPr>
        <p:spPr>
          <a:xfrm>
            <a:off x="640080" y="287121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6</a:t>
            </a:r>
            <a:endParaRPr lang="en-US" sz="1050" dirty="0"/>
          </a:p>
        </p:txBody>
      </p:sp>
      <p:sp>
        <p:nvSpPr>
          <p:cNvPr id="26" name="Text 24"/>
          <p:cNvSpPr txBox="1"/>
          <p:nvPr/>
        </p:nvSpPr>
        <p:spPr>
          <a:xfrm>
            <a:off x="1097280" y="287121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0</a:t>
            </a:r>
            <a:endParaRPr lang="en-US" sz="1100" dirty="0"/>
          </a:p>
        </p:txBody>
      </p:sp>
      <p:sp>
        <p:nvSpPr>
          <p:cNvPr id="27" name="Text 25"/>
          <p:cNvSpPr txBox="1"/>
          <p:nvPr/>
        </p:nvSpPr>
        <p:spPr>
          <a:xfrm>
            <a:off x="2514600" y="287121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i + 1</a:t>
            </a:r>
            <a:endParaRPr lang="en-US" sz="1000" dirty="0"/>
          </a:p>
        </p:txBody>
      </p:sp>
      <p:sp>
        <p:nvSpPr>
          <p:cNvPr id="28" name="Text 26"/>
          <p:cNvSpPr txBox="1"/>
          <p:nvPr/>
        </p:nvSpPr>
        <p:spPr>
          <a:xfrm>
            <a:off x="640080" y="313639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7</a:t>
            </a:r>
            <a:endParaRPr lang="en-US" sz="1050" dirty="0"/>
          </a:p>
        </p:txBody>
      </p:sp>
      <p:sp>
        <p:nvSpPr>
          <p:cNvPr id="29" name="Text 27"/>
          <p:cNvSpPr txBox="1"/>
          <p:nvPr/>
        </p:nvSpPr>
        <p:spPr>
          <a:xfrm>
            <a:off x="1097280" y="313639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a:t>
            </a:r>
            <a:endParaRPr lang="en-US" sz="1100" dirty="0"/>
          </a:p>
        </p:txBody>
      </p:sp>
      <p:sp>
        <p:nvSpPr>
          <p:cNvPr id="30" name="Text 28"/>
          <p:cNvSpPr txBox="1"/>
          <p:nvPr/>
        </p:nvSpPr>
        <p:spPr>
          <a:xfrm>
            <a:off x="2514600" y="3136392"/>
            <a:ext cx="1463040" cy="246888"/>
          </a:xfrm>
          <a:prstGeom prst="rect">
            <a:avLst/>
          </a:prstGeom>
          <a:noFill/>
          <a:ln/>
        </p:spPr>
        <p:txBody>
          <a:bodyPr wrap="square" lIns="0" tIns="0" rIns="0" bIns="0" rtlCol="0" anchor="ctr"/>
          <a:lstStyle/>
          <a:p>
            <a:pPr indent="0" marL="0">
              <a:buNone/>
            </a:pPr>
            <a:endParaRPr lang="en-US" sz="1000" dirty="0"/>
          </a:p>
        </p:txBody>
      </p:sp>
      <p:sp>
        <p:nvSpPr>
          <p:cNvPr id="31" name="Text 29"/>
          <p:cNvSpPr txBox="1"/>
          <p:nvPr/>
        </p:nvSpPr>
        <p:spPr>
          <a:xfrm>
            <a:off x="640080" y="340156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8</a:t>
            </a:r>
            <a:endParaRPr lang="en-US" sz="1050" dirty="0"/>
          </a:p>
        </p:txBody>
      </p:sp>
      <p:sp>
        <p:nvSpPr>
          <p:cNvPr id="32" name="Text 30"/>
          <p:cNvSpPr txBox="1"/>
          <p:nvPr/>
        </p:nvSpPr>
        <p:spPr>
          <a:xfrm>
            <a:off x="1097280" y="340156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3" name="Text 31"/>
          <p:cNvSpPr txBox="1"/>
          <p:nvPr/>
        </p:nvSpPr>
        <p:spPr>
          <a:xfrm>
            <a:off x="2514600" y="3401568"/>
            <a:ext cx="1463040" cy="246888"/>
          </a:xfrm>
          <a:prstGeom prst="rect">
            <a:avLst/>
          </a:prstGeom>
          <a:noFill/>
          <a:ln/>
        </p:spPr>
        <p:txBody>
          <a:bodyPr wrap="square" lIns="0" tIns="0" rIns="0" bIns="0" rtlCol="0" anchor="ctr"/>
          <a:lstStyle/>
          <a:p>
            <a:pPr indent="0" marL="0">
              <a:buNone/>
            </a:pPr>
            <a:endParaRPr lang="en-US" sz="1000" dirty="0"/>
          </a:p>
        </p:txBody>
      </p:sp>
      <p:sp>
        <p:nvSpPr>
          <p:cNvPr id="34" name="Text 32"/>
          <p:cNvSpPr txBox="1"/>
          <p:nvPr/>
        </p:nvSpPr>
        <p:spPr>
          <a:xfrm>
            <a:off x="640080" y="366674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9</a:t>
            </a:r>
            <a:endParaRPr lang="en-US" sz="1050" dirty="0"/>
          </a:p>
        </p:txBody>
      </p:sp>
      <p:sp>
        <p:nvSpPr>
          <p:cNvPr id="35" name="Text 33"/>
          <p:cNvSpPr txBox="1"/>
          <p:nvPr/>
        </p:nvSpPr>
        <p:spPr>
          <a:xfrm>
            <a:off x="1097280" y="366674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36" name="Text 34"/>
          <p:cNvSpPr txBox="1"/>
          <p:nvPr/>
        </p:nvSpPr>
        <p:spPr>
          <a:xfrm>
            <a:off x="2514600" y="3666744"/>
            <a:ext cx="1463040" cy="246888"/>
          </a:xfrm>
          <a:prstGeom prst="rect">
            <a:avLst/>
          </a:prstGeom>
          <a:noFill/>
          <a:ln/>
        </p:spPr>
        <p:txBody>
          <a:bodyPr wrap="square" lIns="0" tIns="0" rIns="0" bIns="0" rtlCol="0" anchor="ctr"/>
          <a:lstStyle/>
          <a:p>
            <a:pPr indent="0" marL="0">
              <a:buNone/>
            </a:pPr>
            <a:endParaRPr lang="en-US" sz="1000" dirty="0"/>
          </a:p>
        </p:txBody>
      </p:sp>
      <p:sp>
        <p:nvSpPr>
          <p:cNvPr id="37" name="Text 35"/>
          <p:cNvSpPr txBox="1"/>
          <p:nvPr/>
        </p:nvSpPr>
        <p:spPr>
          <a:xfrm>
            <a:off x="640080" y="393192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10</a:t>
            </a:r>
            <a:endParaRPr lang="en-US" sz="1050" dirty="0"/>
          </a:p>
        </p:txBody>
      </p:sp>
      <p:sp>
        <p:nvSpPr>
          <p:cNvPr id="38" name="Text 36"/>
          <p:cNvSpPr txBox="1"/>
          <p:nvPr/>
        </p:nvSpPr>
        <p:spPr>
          <a:xfrm>
            <a:off x="1097280" y="3931920"/>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JMP 2</a:t>
            </a:r>
            <a:endParaRPr lang="en-US" sz="1100" dirty="0"/>
          </a:p>
        </p:txBody>
      </p:sp>
      <p:sp>
        <p:nvSpPr>
          <p:cNvPr id="39" name="Text 37"/>
          <p:cNvSpPr txBox="1"/>
          <p:nvPr/>
        </p:nvSpPr>
        <p:spPr>
          <a:xfrm>
            <a:off x="2514600" y="3931920"/>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back-edge</a:t>
            </a:r>
            <a:endParaRPr lang="en-US" sz="1000" dirty="0"/>
          </a:p>
        </p:txBody>
      </p:sp>
      <p:sp>
        <p:nvSpPr>
          <p:cNvPr id="40" name="Text 38"/>
          <p:cNvSpPr txBox="1"/>
          <p:nvPr/>
        </p:nvSpPr>
        <p:spPr>
          <a:xfrm>
            <a:off x="640080" y="419709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11</a:t>
            </a:r>
            <a:endParaRPr lang="en-US" sz="1050" dirty="0"/>
          </a:p>
        </p:txBody>
      </p:sp>
      <p:sp>
        <p:nvSpPr>
          <p:cNvPr id="41" name="Text 39"/>
          <p:cNvSpPr txBox="1"/>
          <p:nvPr/>
        </p:nvSpPr>
        <p:spPr>
          <a:xfrm>
            <a:off x="1097280" y="419709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HALT</a:t>
            </a:r>
            <a:endParaRPr lang="en-US" sz="1100" dirty="0"/>
          </a:p>
        </p:txBody>
      </p:sp>
      <p:sp>
        <p:nvSpPr>
          <p:cNvPr id="42" name="Text 40"/>
          <p:cNvSpPr txBox="1"/>
          <p:nvPr/>
        </p:nvSpPr>
        <p:spPr>
          <a:xfrm>
            <a:off x="2514600" y="4197096"/>
            <a:ext cx="1463040" cy="246888"/>
          </a:xfrm>
          <a:prstGeom prst="rect">
            <a:avLst/>
          </a:prstGeom>
          <a:noFill/>
          <a:ln/>
        </p:spPr>
        <p:txBody>
          <a:bodyPr wrap="square" lIns="0" tIns="0" rIns="0" bIns="0" rtlCol="0" anchor="ctr"/>
          <a:lstStyle/>
          <a:p>
            <a:pPr indent="0" marL="0">
              <a:buNone/>
            </a:pPr>
            <a:endParaRPr lang="en-US" sz="1000" dirty="0"/>
          </a:p>
        </p:txBody>
      </p:sp>
      <p:sp>
        <p:nvSpPr>
          <p:cNvPr id="43" name="Shape 41"/>
          <p:cNvSpPr/>
          <p:nvPr/>
        </p:nvSpPr>
        <p:spPr>
          <a:xfrm>
            <a:off x="4480560" y="1188720"/>
            <a:ext cx="457200" cy="457200"/>
          </a:xfrm>
          <a:prstGeom prst="ellipse">
            <a:avLst/>
          </a:prstGeom>
          <a:solidFill>
            <a:srgbClr val="548687"/>
          </a:solidFill>
          <a:ln w="12700">
            <a:solidFill>
              <a:srgbClr val="548687"/>
            </a:solidFill>
            <a:prstDash val="solid"/>
          </a:ln>
        </p:spPr>
      </p:sp>
      <p:sp>
        <p:nvSpPr>
          <p:cNvPr id="44" name="Text 42"/>
          <p:cNvSpPr txBox="1"/>
          <p:nvPr/>
        </p:nvSpPr>
        <p:spPr>
          <a:xfrm>
            <a:off x="448056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5" name="Text 43"/>
          <p:cNvSpPr txBox="1"/>
          <p:nvPr/>
        </p:nvSpPr>
        <p:spPr>
          <a:xfrm>
            <a:off x="5120640" y="117043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Count</a:t>
            </a:r>
            <a:endParaRPr lang="en-US" sz="1400" dirty="0"/>
          </a:p>
        </p:txBody>
      </p:sp>
      <p:sp>
        <p:nvSpPr>
          <p:cNvPr id="46" name="Text 44"/>
          <p:cNvSpPr txBox="1"/>
          <p:nvPr/>
        </p:nvSpPr>
        <p:spPr>
          <a:xfrm>
            <a:off x="5120640" y="144475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Every backward jump (JMP to an earlier address) adds 1 to a counter for its target.</a:t>
            </a:r>
            <a:endParaRPr lang="en-US" sz="1150" dirty="0"/>
          </a:p>
        </p:txBody>
      </p:sp>
      <p:sp>
        <p:nvSpPr>
          <p:cNvPr id="47" name="Shape 45"/>
          <p:cNvSpPr/>
          <p:nvPr/>
        </p:nvSpPr>
        <p:spPr>
          <a:xfrm>
            <a:off x="4480560" y="2057400"/>
            <a:ext cx="457200" cy="457200"/>
          </a:xfrm>
          <a:prstGeom prst="ellipse">
            <a:avLst/>
          </a:prstGeom>
          <a:solidFill>
            <a:srgbClr val="548687"/>
          </a:solidFill>
          <a:ln w="12700">
            <a:solidFill>
              <a:srgbClr val="548687"/>
            </a:solidFill>
            <a:prstDash val="solid"/>
          </a:ln>
        </p:spPr>
      </p:sp>
      <p:sp>
        <p:nvSpPr>
          <p:cNvPr id="48" name="Text 46"/>
          <p:cNvSpPr txBox="1"/>
          <p:nvPr/>
        </p:nvSpPr>
        <p:spPr>
          <a:xfrm>
            <a:off x="4480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49" name="Text 47"/>
          <p:cNvSpPr txBox="1"/>
          <p:nvPr/>
        </p:nvSpPr>
        <p:spPr>
          <a:xfrm>
            <a:off x="5120640" y="203911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Flag</a:t>
            </a:r>
            <a:endParaRPr lang="en-US" sz="1400" dirty="0"/>
          </a:p>
        </p:txBody>
      </p:sp>
      <p:sp>
        <p:nvSpPr>
          <p:cNvPr id="50" name="Text 48"/>
          <p:cNvSpPr txBox="1"/>
          <p:nvPr/>
        </p:nvSpPr>
        <p:spPr>
          <a:xfrm>
            <a:off x="5120640" y="231343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When a counter reaches the threshold, that loop head is marked hot.</a:t>
            </a:r>
            <a:endParaRPr lang="en-US" sz="1150" dirty="0"/>
          </a:p>
        </p:txBody>
      </p:sp>
      <p:sp>
        <p:nvSpPr>
          <p:cNvPr id="51" name="Shape 49"/>
          <p:cNvSpPr/>
          <p:nvPr/>
        </p:nvSpPr>
        <p:spPr>
          <a:xfrm>
            <a:off x="4480560" y="2926080"/>
            <a:ext cx="457200" cy="457200"/>
          </a:xfrm>
          <a:prstGeom prst="ellipse">
            <a:avLst/>
          </a:prstGeom>
          <a:solidFill>
            <a:srgbClr val="548687"/>
          </a:solidFill>
          <a:ln w="12700">
            <a:solidFill>
              <a:srgbClr val="548687"/>
            </a:solidFill>
            <a:prstDash val="solid"/>
          </a:ln>
        </p:spPr>
      </p:sp>
      <p:sp>
        <p:nvSpPr>
          <p:cNvPr id="52" name="Text 50"/>
          <p:cNvSpPr txBox="1"/>
          <p:nvPr/>
        </p:nvSpPr>
        <p:spPr>
          <a:xfrm>
            <a:off x="4480560"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3" name="Text 51"/>
          <p:cNvSpPr txBox="1"/>
          <p:nvPr/>
        </p:nvSpPr>
        <p:spPr>
          <a:xfrm>
            <a:off x="5120640" y="290779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Hand off</a:t>
            </a:r>
            <a:endParaRPr lang="en-US" sz="1400" dirty="0"/>
          </a:p>
        </p:txBody>
      </p:sp>
      <p:sp>
        <p:nvSpPr>
          <p:cNvPr id="54" name="Text 52"/>
          <p:cNvSpPr txBox="1"/>
          <p:nvPr/>
        </p:nvSpPr>
        <p:spPr>
          <a:xfrm>
            <a:off x="5120640" y="318211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Hot loops are tier-2 candidates — their field-access sites get compiled.</a:t>
            </a:r>
            <a:endParaRPr lang="en-US" sz="1150" dirty="0"/>
          </a:p>
        </p:txBody>
      </p:sp>
      <p:sp>
        <p:nvSpPr>
          <p:cNvPr id="55" name="Shape 53"/>
          <p:cNvSpPr/>
          <p:nvPr/>
        </p:nvSpPr>
        <p:spPr>
          <a:xfrm>
            <a:off x="4480560" y="3840480"/>
            <a:ext cx="4206240" cy="685800"/>
          </a:xfrm>
          <a:prstGeom prst="roundRect">
            <a:avLst>
              <a:gd name="adj" fmla="val 10667"/>
            </a:avLst>
          </a:prstGeom>
          <a:solidFill>
            <a:srgbClr val="C1EEFF"/>
          </a:solidFill>
          <a:ln w="12700">
            <a:solidFill>
              <a:srgbClr val="C1EEFF"/>
            </a:solidFill>
            <a:prstDash val="solid"/>
          </a:ln>
        </p:spPr>
      </p:sp>
      <p:sp>
        <p:nvSpPr>
          <p:cNvPr id="56" name="Text 54"/>
          <p:cNvSpPr txBox="1"/>
          <p:nvPr/>
        </p:nvSpPr>
        <p:spPr>
          <a:xfrm>
            <a:off x="4663440" y="3840480"/>
            <a:ext cx="3931920" cy="685800"/>
          </a:xfrm>
          <a:prstGeom prst="rect">
            <a:avLst/>
          </a:prstGeom>
          <a:noFill/>
          <a:ln/>
        </p:spPr>
        <p:txBody>
          <a:bodyPr wrap="square" lIns="0" tIns="0" rIns="0" bIns="0" rtlCol="0" anchor="ctr"/>
          <a:lstStyle/>
          <a:p>
            <a:pPr indent="0" marL="0">
              <a:buNone/>
            </a:pPr>
            <a:r>
              <a:rPr lang="en-US" sz="1150" b="1" dirty="0">
                <a:solidFill>
                  <a:srgbClr val="513B3C"/>
                </a:solidFill>
                <a:latin typeface="Calibri" pitchFamily="34" charset="0"/>
                <a:ea typeface="Calibri" pitchFamily="34" charset="-122"/>
                <a:cs typeface="Calibri" pitchFamily="34" charset="-120"/>
              </a:rPr>
              <a:t>TC11: </a:t>
            </a:r>
            <a:pPr indent="0" marL="0">
              <a:buNone/>
            </a:pPr>
            <a:r>
              <a:rPr lang="en-US" sz="1150" dirty="0">
                <a:solidFill>
                  <a:srgbClr val="513B3C"/>
                </a:solidFill>
                <a:latin typeface="Calibri" pitchFamily="34" charset="0"/>
                <a:ea typeface="Calibri" pitchFamily="34" charset="-122"/>
                <a:cs typeface="Calibri" pitchFamily="34" charset="-120"/>
              </a:rPr>
              <a:t>10 back-edges to address 2 → flagged hot (threshold is a VM setting, default 5).</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Differential testing</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737360"/>
            <a:ext cx="1828800" cy="914400"/>
          </a:xfrm>
          <a:prstGeom prst="roundRect">
            <a:avLst>
              <a:gd name="adj" fmla="val 8000"/>
            </a:avLst>
          </a:prstGeom>
          <a:solidFill>
            <a:srgbClr val="F6E7DB"/>
          </a:solidFill>
          <a:ln w="12700">
            <a:solidFill>
              <a:srgbClr val="F6E7DB"/>
            </a:solidFill>
            <a:prstDash val="solid"/>
          </a:ln>
        </p:spPr>
      </p:sp>
      <p:sp>
        <p:nvSpPr>
          <p:cNvPr id="7" name="Text 5"/>
          <p:cNvSpPr txBox="1"/>
          <p:nvPr/>
        </p:nvSpPr>
        <p:spPr>
          <a:xfrm>
            <a:off x="548640" y="1737360"/>
            <a:ext cx="164592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Workload generator</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mono / poly / mega, fixed seed</a:t>
            </a:r>
            <a:endParaRPr lang="en-US" sz="1200" dirty="0"/>
          </a:p>
        </p:txBody>
      </p:sp>
      <p:sp>
        <p:nvSpPr>
          <p:cNvPr id="8" name="Shape 6"/>
          <p:cNvSpPr/>
          <p:nvPr/>
        </p:nvSpPr>
        <p:spPr>
          <a:xfrm>
            <a:off x="2926080" y="1188720"/>
            <a:ext cx="2011680" cy="731520"/>
          </a:xfrm>
          <a:prstGeom prst="roundRect">
            <a:avLst>
              <a:gd name="adj" fmla="val 10000"/>
            </a:avLst>
          </a:prstGeom>
          <a:solidFill>
            <a:srgbClr val="E6F8FF"/>
          </a:solidFill>
          <a:ln w="12700">
            <a:solidFill>
              <a:srgbClr val="E6F8FF"/>
            </a:solidFill>
            <a:prstDash val="solid"/>
          </a:ln>
        </p:spPr>
      </p:sp>
      <p:sp>
        <p:nvSpPr>
          <p:cNvPr id="9" name="Text 7"/>
          <p:cNvSpPr txBox="1"/>
          <p:nvPr/>
        </p:nvSpPr>
        <p:spPr>
          <a:xfrm>
            <a:off x="2926080" y="1188720"/>
            <a:ext cx="2011680" cy="7315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Baseline interpreter</a:t>
            </a:r>
            <a:endParaRPr lang="en-US" sz="1200" dirty="0"/>
          </a:p>
        </p:txBody>
      </p:sp>
      <p:sp>
        <p:nvSpPr>
          <p:cNvPr id="10" name="Shape 8"/>
          <p:cNvSpPr/>
          <p:nvPr/>
        </p:nvSpPr>
        <p:spPr>
          <a:xfrm>
            <a:off x="2926080" y="2468880"/>
            <a:ext cx="2011680" cy="731520"/>
          </a:xfrm>
          <a:prstGeom prst="roundRect">
            <a:avLst>
              <a:gd name="adj" fmla="val 10000"/>
            </a:avLst>
          </a:prstGeom>
          <a:solidFill>
            <a:srgbClr val="548687"/>
          </a:solidFill>
          <a:ln w="12700">
            <a:solidFill>
              <a:srgbClr val="548687"/>
            </a:solidFill>
            <a:prstDash val="solid"/>
          </a:ln>
        </p:spPr>
      </p:sp>
      <p:sp>
        <p:nvSpPr>
          <p:cNvPr id="11" name="Text 9"/>
          <p:cNvSpPr txBox="1"/>
          <p:nvPr/>
        </p:nvSpPr>
        <p:spPr>
          <a:xfrm>
            <a:off x="2926080" y="2468880"/>
            <a:ext cx="2011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Interpreter + inline cache</a:t>
            </a:r>
            <a:endParaRPr lang="en-US" sz="1200" dirty="0"/>
          </a:p>
        </p:txBody>
      </p:sp>
      <p:sp>
        <p:nvSpPr>
          <p:cNvPr id="12" name="Shape 10"/>
          <p:cNvSpPr/>
          <p:nvPr/>
        </p:nvSpPr>
        <p:spPr>
          <a:xfrm flipV="1">
            <a:off x="2286000" y="1554480"/>
            <a:ext cx="640080" cy="502920"/>
          </a:xfrm>
          <a:prstGeom prst="line">
            <a:avLst/>
          </a:prstGeom>
          <a:noFill/>
          <a:ln w="22225">
            <a:solidFill>
              <a:srgbClr val="7D6A6B"/>
            </a:solidFill>
            <a:prstDash val="solid"/>
            <a:tailEnd type="triangle"/>
          </a:ln>
        </p:spPr>
      </p:sp>
      <p:sp>
        <p:nvSpPr>
          <p:cNvPr id="13" name="Shape 11"/>
          <p:cNvSpPr/>
          <p:nvPr/>
        </p:nvSpPr>
        <p:spPr>
          <a:xfrm>
            <a:off x="2286000" y="2240280"/>
            <a:ext cx="640080" cy="594360"/>
          </a:xfrm>
          <a:prstGeom prst="line">
            <a:avLst/>
          </a:prstGeom>
          <a:noFill/>
          <a:ln w="22225">
            <a:solidFill>
              <a:srgbClr val="7D6A6B"/>
            </a:solidFill>
            <a:prstDash val="solid"/>
            <a:tailEnd type="triangle"/>
          </a:ln>
        </p:spPr>
      </p:sp>
      <p:sp>
        <p:nvSpPr>
          <p:cNvPr id="14" name="Shape 12"/>
          <p:cNvSpPr/>
          <p:nvPr/>
        </p:nvSpPr>
        <p:spPr>
          <a:xfrm>
            <a:off x="5577840" y="1737360"/>
            <a:ext cx="1371600" cy="914400"/>
          </a:xfrm>
          <a:prstGeom prst="roundRect">
            <a:avLst>
              <a:gd name="adj" fmla="val 8000"/>
            </a:avLst>
          </a:prstGeom>
          <a:solidFill>
            <a:srgbClr val="F6E7DB"/>
          </a:solidFill>
          <a:ln w="12700">
            <a:solidFill>
              <a:srgbClr val="F6E7DB"/>
            </a:solidFill>
            <a:prstDash val="solid"/>
          </a:ln>
        </p:spPr>
      </p:sp>
      <p:sp>
        <p:nvSpPr>
          <p:cNvPr id="15" name="Text 13"/>
          <p:cNvSpPr txBox="1"/>
          <p:nvPr/>
        </p:nvSpPr>
        <p:spPr>
          <a:xfrm>
            <a:off x="5577840" y="1737360"/>
            <a:ext cx="137160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Compare</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every output value</a:t>
            </a:r>
            <a:endParaRPr lang="en-US" sz="1200" dirty="0"/>
          </a:p>
        </p:txBody>
      </p:sp>
      <p:sp>
        <p:nvSpPr>
          <p:cNvPr id="16" name="Shape 14"/>
          <p:cNvSpPr/>
          <p:nvPr/>
        </p:nvSpPr>
        <p:spPr>
          <a:xfrm>
            <a:off x="4937760" y="1554480"/>
            <a:ext cx="640080" cy="502920"/>
          </a:xfrm>
          <a:prstGeom prst="line">
            <a:avLst/>
          </a:prstGeom>
          <a:noFill/>
          <a:ln w="22225">
            <a:solidFill>
              <a:srgbClr val="7D6A6B"/>
            </a:solidFill>
            <a:prstDash val="solid"/>
            <a:tailEnd type="triangle"/>
          </a:ln>
        </p:spPr>
      </p:sp>
      <p:sp>
        <p:nvSpPr>
          <p:cNvPr id="17" name="Shape 15"/>
          <p:cNvSpPr/>
          <p:nvPr/>
        </p:nvSpPr>
        <p:spPr>
          <a:xfrm flipV="1">
            <a:off x="4937760" y="2240280"/>
            <a:ext cx="640080" cy="594360"/>
          </a:xfrm>
          <a:prstGeom prst="line">
            <a:avLst/>
          </a:prstGeom>
          <a:noFill/>
          <a:ln w="22225">
            <a:solidFill>
              <a:srgbClr val="7D6A6B"/>
            </a:solidFill>
            <a:prstDash val="solid"/>
            <a:tailEnd type="triangle"/>
          </a:ln>
        </p:spPr>
      </p:sp>
      <p:sp>
        <p:nvSpPr>
          <p:cNvPr id="18" name="Shape 16"/>
          <p:cNvSpPr/>
          <p:nvPr/>
        </p:nvSpPr>
        <p:spPr>
          <a:xfrm>
            <a:off x="7406640" y="1600200"/>
            <a:ext cx="1188720" cy="1188720"/>
          </a:xfrm>
          <a:prstGeom prst="ellipse">
            <a:avLst/>
          </a:prstGeom>
          <a:solidFill>
            <a:srgbClr val="548687"/>
          </a:solidFill>
          <a:ln w="12700">
            <a:solidFill>
              <a:srgbClr val="548687"/>
            </a:solidFill>
            <a:prstDash val="solid"/>
          </a:ln>
        </p:spPr>
      </p:sp>
      <p:sp>
        <p:nvSpPr>
          <p:cNvPr id="19" name="Text 17"/>
          <p:cNvSpPr txBox="1"/>
          <p:nvPr/>
        </p:nvSpPr>
        <p:spPr>
          <a:xfrm>
            <a:off x="7406640" y="16002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0" name="Shape 18"/>
          <p:cNvSpPr/>
          <p:nvPr/>
        </p:nvSpPr>
        <p:spPr>
          <a:xfrm>
            <a:off x="6949440" y="2194560"/>
            <a:ext cx="457200" cy="0"/>
          </a:xfrm>
          <a:prstGeom prst="line">
            <a:avLst/>
          </a:prstGeom>
          <a:noFill/>
          <a:ln w="22225">
            <a:solidFill>
              <a:srgbClr val="7D6A6B"/>
            </a:solidFill>
            <a:prstDash val="solid"/>
            <a:tailEnd type="triangle"/>
          </a:ln>
        </p:spPr>
      </p:sp>
      <p:sp>
        <p:nvSpPr>
          <p:cNvPr id="21" name="Text 19"/>
          <p:cNvSpPr txBox="1"/>
          <p:nvPr/>
        </p:nvSpPr>
        <p:spPr>
          <a:xfrm>
            <a:off x="7178040" y="2834640"/>
            <a:ext cx="1645920" cy="2743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mismatches</a:t>
            </a:r>
            <a:endParaRPr lang="en-US" sz="1200" dirty="0"/>
          </a:p>
        </p:txBody>
      </p:sp>
      <p:sp>
        <p:nvSpPr>
          <p:cNvPr id="22" name="Shape 20"/>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3" name="Text 21"/>
          <p:cNvSpPr txBox="1"/>
          <p:nvPr/>
        </p:nvSpPr>
        <p:spPr>
          <a:xfrm>
            <a:off x="64008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300,000</a:t>
            </a:r>
            <a:endParaRPr lang="en-US" sz="2600" dirty="0"/>
          </a:p>
        </p:txBody>
      </p:sp>
      <p:sp>
        <p:nvSpPr>
          <p:cNvPr id="24" name="Text 22"/>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field accesses compared</a:t>
            </a:r>
            <a:endParaRPr lang="en-US" sz="1200" dirty="0"/>
          </a:p>
        </p:txBody>
      </p:sp>
      <p:sp>
        <p:nvSpPr>
          <p:cNvPr id="25" name="Shape 23"/>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342900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workload types</a:t>
            </a:r>
            <a:endParaRPr lang="en-US" sz="1200" dirty="0"/>
          </a:p>
        </p:txBody>
      </p:sp>
      <p:sp>
        <p:nvSpPr>
          <p:cNvPr id="28" name="Shape 26"/>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29" name="Text 27"/>
          <p:cNvSpPr txBox="1"/>
          <p:nvPr/>
        </p:nvSpPr>
        <p:spPr>
          <a:xfrm>
            <a:off x="621792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17 / 17</a:t>
            </a:r>
            <a:endParaRPr lang="en-US" sz="2600" dirty="0"/>
          </a:p>
        </p:txBody>
      </p:sp>
      <p:sp>
        <p:nvSpPr>
          <p:cNvPr id="30" name="Text 28"/>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TC + IC tests passing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10</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Timeline: all milestones complete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971550" y="2331720"/>
            <a:ext cx="7200900" cy="0"/>
          </a:xfrm>
          <a:prstGeom prst="line">
            <a:avLst/>
          </a:prstGeom>
          <a:noFill/>
          <a:ln w="25400">
            <a:solidFill>
              <a:srgbClr val="CFC4C4"/>
            </a:solidFill>
            <a:prstDash val="solid"/>
          </a:ln>
        </p:spPr>
      </p:sp>
      <p:sp>
        <p:nvSpPr>
          <p:cNvPr id="7" name="Shape 5"/>
          <p:cNvSpPr/>
          <p:nvPr/>
        </p:nvSpPr>
        <p:spPr>
          <a:xfrm>
            <a:off x="788670" y="2148840"/>
            <a:ext cx="365760" cy="365760"/>
          </a:xfrm>
          <a:prstGeom prst="ellipse">
            <a:avLst/>
          </a:prstGeom>
          <a:solidFill>
            <a:srgbClr val="548687"/>
          </a:solidFill>
          <a:ln w="19050">
            <a:solidFill>
              <a:srgbClr val="548687"/>
            </a:solidFill>
            <a:prstDash val="solid"/>
          </a:ln>
        </p:spPr>
      </p:sp>
      <p:sp>
        <p:nvSpPr>
          <p:cNvPr id="8" name="Text 6"/>
          <p:cNvSpPr txBox="1"/>
          <p:nvPr/>
        </p:nvSpPr>
        <p:spPr>
          <a:xfrm>
            <a:off x="4686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9" name="Text 7"/>
          <p:cNvSpPr txBox="1"/>
          <p:nvPr/>
        </p:nvSpPr>
        <p:spPr>
          <a:xfrm>
            <a:off x="4594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Bytecode format, stack VM</a:t>
            </a:r>
            <a:endParaRPr lang="en-US" sz="1000" dirty="0"/>
          </a:p>
        </p:txBody>
      </p:sp>
      <p:sp>
        <p:nvSpPr>
          <p:cNvPr id="10" name="Shape 8"/>
          <p:cNvSpPr/>
          <p:nvPr/>
        </p:nvSpPr>
        <p:spPr>
          <a:xfrm>
            <a:off x="1817370" y="2148840"/>
            <a:ext cx="365760" cy="365760"/>
          </a:xfrm>
          <a:prstGeom prst="ellipse">
            <a:avLst/>
          </a:prstGeom>
          <a:solidFill>
            <a:srgbClr val="548687"/>
          </a:solidFill>
          <a:ln w="19050">
            <a:solidFill>
              <a:srgbClr val="548687"/>
            </a:solidFill>
            <a:prstDash val="solid"/>
          </a:ln>
        </p:spPr>
      </p:sp>
      <p:sp>
        <p:nvSpPr>
          <p:cNvPr id="11" name="Text 9"/>
          <p:cNvSpPr txBox="1"/>
          <p:nvPr/>
        </p:nvSpPr>
        <p:spPr>
          <a:xfrm>
            <a:off x="14973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3</a:t>
            </a:r>
            <a:endParaRPr lang="en-US" sz="1100" dirty="0"/>
          </a:p>
        </p:txBody>
      </p:sp>
      <p:sp>
        <p:nvSpPr>
          <p:cNvPr id="12" name="Text 10"/>
          <p:cNvSpPr txBox="1"/>
          <p:nvPr/>
        </p:nvSpPr>
        <p:spPr>
          <a:xfrm>
            <a:off x="14881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Baseline interpreter · Review 1</a:t>
            </a:r>
            <a:endParaRPr lang="en-US" sz="1000" dirty="0"/>
          </a:p>
        </p:txBody>
      </p:sp>
      <p:sp>
        <p:nvSpPr>
          <p:cNvPr id="13" name="Shape 11"/>
          <p:cNvSpPr/>
          <p:nvPr/>
        </p:nvSpPr>
        <p:spPr>
          <a:xfrm>
            <a:off x="2846070" y="2148840"/>
            <a:ext cx="365760" cy="365760"/>
          </a:xfrm>
          <a:prstGeom prst="ellipse">
            <a:avLst/>
          </a:prstGeom>
          <a:solidFill>
            <a:srgbClr val="548687"/>
          </a:solidFill>
          <a:ln w="19050">
            <a:solidFill>
              <a:srgbClr val="548687"/>
            </a:solidFill>
            <a:prstDash val="solid"/>
          </a:ln>
        </p:spPr>
      </p:sp>
      <p:sp>
        <p:nvSpPr>
          <p:cNvPr id="14" name="Text 12"/>
          <p:cNvSpPr txBox="1"/>
          <p:nvPr/>
        </p:nvSpPr>
        <p:spPr>
          <a:xfrm>
            <a:off x="25260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4–5</a:t>
            </a:r>
            <a:endParaRPr lang="en-US" sz="1100" dirty="0"/>
          </a:p>
        </p:txBody>
      </p:sp>
      <p:sp>
        <p:nvSpPr>
          <p:cNvPr id="15" name="Text 13"/>
          <p:cNvSpPr txBox="1"/>
          <p:nvPr/>
        </p:nvSpPr>
        <p:spPr>
          <a:xfrm>
            <a:off x="25168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IC state machine design (M1)</a:t>
            </a:r>
            <a:endParaRPr lang="en-US" sz="1000" dirty="0"/>
          </a:p>
        </p:txBody>
      </p:sp>
      <p:sp>
        <p:nvSpPr>
          <p:cNvPr id="16" name="Shape 14"/>
          <p:cNvSpPr/>
          <p:nvPr/>
        </p:nvSpPr>
        <p:spPr>
          <a:xfrm>
            <a:off x="3874770" y="2148840"/>
            <a:ext cx="365760" cy="365760"/>
          </a:xfrm>
          <a:prstGeom prst="ellipse">
            <a:avLst/>
          </a:prstGeom>
          <a:solidFill>
            <a:srgbClr val="548687"/>
          </a:solidFill>
          <a:ln w="19050">
            <a:solidFill>
              <a:srgbClr val="548687"/>
            </a:solidFill>
            <a:prstDash val="solid"/>
          </a:ln>
        </p:spPr>
      </p:sp>
      <p:sp>
        <p:nvSpPr>
          <p:cNvPr id="17" name="Text 15"/>
          <p:cNvSpPr txBox="1"/>
          <p:nvPr/>
        </p:nvSpPr>
        <p:spPr>
          <a:xfrm>
            <a:off x="35547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6–7</a:t>
            </a:r>
            <a:endParaRPr lang="en-US" sz="1100" dirty="0"/>
          </a:p>
        </p:txBody>
      </p:sp>
      <p:sp>
        <p:nvSpPr>
          <p:cNvPr id="18" name="Text 16"/>
          <p:cNvSpPr txBox="1"/>
          <p:nvPr/>
        </p:nvSpPr>
        <p:spPr>
          <a:xfrm>
            <a:off x="35455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Profiling + IC integrated (M2)</a:t>
            </a:r>
            <a:endParaRPr lang="en-US" sz="1000" dirty="0"/>
          </a:p>
        </p:txBody>
      </p:sp>
      <p:sp>
        <p:nvSpPr>
          <p:cNvPr id="19" name="Shape 17"/>
          <p:cNvSpPr/>
          <p:nvPr/>
        </p:nvSpPr>
        <p:spPr>
          <a:xfrm>
            <a:off x="4903470" y="2148840"/>
            <a:ext cx="365760" cy="365760"/>
          </a:xfrm>
          <a:prstGeom prst="ellipse">
            <a:avLst/>
          </a:prstGeom>
          <a:solidFill>
            <a:srgbClr val="548687"/>
          </a:solidFill>
          <a:ln w="19050">
            <a:solidFill>
              <a:srgbClr val="548687"/>
            </a:solidFill>
            <a:prstDash val="solid"/>
          </a:ln>
        </p:spPr>
      </p:sp>
      <p:sp>
        <p:nvSpPr>
          <p:cNvPr id="20" name="Text 18"/>
          <p:cNvSpPr txBox="1"/>
          <p:nvPr/>
        </p:nvSpPr>
        <p:spPr>
          <a:xfrm>
            <a:off x="45834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8–9</a:t>
            </a:r>
            <a:endParaRPr lang="en-US" sz="1100" dirty="0"/>
          </a:p>
        </p:txBody>
      </p:sp>
      <p:sp>
        <p:nvSpPr>
          <p:cNvPr id="21" name="Text 19"/>
          <p:cNvSpPr txBox="1"/>
          <p:nvPr/>
        </p:nvSpPr>
        <p:spPr>
          <a:xfrm>
            <a:off x="45742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Tier-2 mono path + deopt (M3)</a:t>
            </a:r>
            <a:endParaRPr lang="en-US" sz="1000" dirty="0"/>
          </a:p>
        </p:txBody>
      </p:sp>
      <p:sp>
        <p:nvSpPr>
          <p:cNvPr id="22" name="Shape 20"/>
          <p:cNvSpPr/>
          <p:nvPr/>
        </p:nvSpPr>
        <p:spPr>
          <a:xfrm>
            <a:off x="5932170" y="2148840"/>
            <a:ext cx="365760" cy="365760"/>
          </a:xfrm>
          <a:prstGeom prst="ellipse">
            <a:avLst/>
          </a:prstGeom>
          <a:solidFill>
            <a:srgbClr val="548687"/>
          </a:solidFill>
          <a:ln w="19050">
            <a:solidFill>
              <a:srgbClr val="548687"/>
            </a:solidFill>
            <a:prstDash val="solid"/>
          </a:ln>
        </p:spPr>
      </p:sp>
      <p:sp>
        <p:nvSpPr>
          <p:cNvPr id="23" name="Text 21"/>
          <p:cNvSpPr txBox="1"/>
          <p:nvPr/>
        </p:nvSpPr>
        <p:spPr>
          <a:xfrm>
            <a:off x="56121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10</a:t>
            </a:r>
            <a:endParaRPr lang="en-US" sz="1100" dirty="0"/>
          </a:p>
        </p:txBody>
      </p:sp>
      <p:sp>
        <p:nvSpPr>
          <p:cNvPr id="24" name="Text 22"/>
          <p:cNvSpPr txBox="1"/>
          <p:nvPr/>
        </p:nvSpPr>
        <p:spPr>
          <a:xfrm>
            <a:off x="56029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More workloads · Review 2</a:t>
            </a:r>
            <a:endParaRPr lang="en-US" sz="1000" dirty="0"/>
          </a:p>
        </p:txBody>
      </p:sp>
      <p:sp>
        <p:nvSpPr>
          <p:cNvPr id="25" name="Shape 23"/>
          <p:cNvSpPr/>
          <p:nvPr/>
        </p:nvSpPr>
        <p:spPr>
          <a:xfrm>
            <a:off x="6960870" y="2148840"/>
            <a:ext cx="365760" cy="365760"/>
          </a:xfrm>
          <a:prstGeom prst="ellipse">
            <a:avLst/>
          </a:prstGeom>
          <a:solidFill>
            <a:srgbClr val="548687"/>
          </a:solidFill>
          <a:ln w="19050">
            <a:solidFill>
              <a:srgbClr val="548687"/>
            </a:solidFill>
            <a:prstDash val="solid"/>
          </a:ln>
        </p:spPr>
      </p:sp>
      <p:sp>
        <p:nvSpPr>
          <p:cNvPr id="26" name="Text 24"/>
          <p:cNvSpPr txBox="1"/>
          <p:nvPr/>
        </p:nvSpPr>
        <p:spPr>
          <a:xfrm>
            <a:off x="66408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11</a:t>
            </a:r>
            <a:endParaRPr lang="en-US" sz="1100" dirty="0"/>
          </a:p>
        </p:txBody>
      </p:sp>
      <p:sp>
        <p:nvSpPr>
          <p:cNvPr id="27" name="Text 25"/>
          <p:cNvSpPr txBox="1"/>
          <p:nvPr/>
        </p:nvSpPr>
        <p:spPr>
          <a:xfrm>
            <a:off x="66316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JS front end · mega tuning</a:t>
            </a:r>
            <a:endParaRPr lang="en-US" sz="1000" dirty="0"/>
          </a:p>
        </p:txBody>
      </p:sp>
      <p:sp>
        <p:nvSpPr>
          <p:cNvPr id="28" name="Shape 26"/>
          <p:cNvSpPr/>
          <p:nvPr/>
        </p:nvSpPr>
        <p:spPr>
          <a:xfrm>
            <a:off x="7989570" y="2148840"/>
            <a:ext cx="365760" cy="365760"/>
          </a:xfrm>
          <a:prstGeom prst="ellipse">
            <a:avLst/>
          </a:prstGeom>
          <a:solidFill>
            <a:srgbClr val="548687"/>
          </a:solidFill>
          <a:ln w="19050">
            <a:solidFill>
              <a:srgbClr val="548687"/>
            </a:solidFill>
            <a:prstDash val="solid"/>
          </a:ln>
        </p:spPr>
      </p:sp>
      <p:sp>
        <p:nvSpPr>
          <p:cNvPr id="29" name="Text 27"/>
          <p:cNvSpPr txBox="1"/>
          <p:nvPr/>
        </p:nvSpPr>
        <p:spPr>
          <a:xfrm>
            <a:off x="76695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30" name="Text 28"/>
          <p:cNvSpPr txBox="1"/>
          <p:nvPr/>
        </p:nvSpPr>
        <p:spPr>
          <a:xfrm>
            <a:off x="76603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Final results &amp; report (M4)</a:t>
            </a:r>
            <a:endParaRPr lang="en-US" sz="1000" dirty="0"/>
          </a:p>
        </p:txBody>
      </p:sp>
      <p:sp>
        <p:nvSpPr>
          <p:cNvPr id="31" name="Shape 29"/>
          <p:cNvSpPr/>
          <p:nvPr/>
        </p:nvSpPr>
        <p:spPr>
          <a:xfrm>
            <a:off x="457200" y="3749040"/>
            <a:ext cx="201168" cy="201168"/>
          </a:xfrm>
          <a:prstGeom prst="ellipse">
            <a:avLst/>
          </a:prstGeom>
          <a:solidFill>
            <a:srgbClr val="548687"/>
          </a:solidFill>
          <a:ln w="12700">
            <a:solidFill>
              <a:srgbClr val="548687"/>
            </a:solidFill>
            <a:prstDash val="solid"/>
          </a:ln>
        </p:spPr>
      </p:sp>
      <p:sp>
        <p:nvSpPr>
          <p:cNvPr id="32" name="Text 30"/>
          <p:cNvSpPr txBox="1"/>
          <p:nvPr/>
        </p:nvSpPr>
        <p:spPr>
          <a:xfrm>
            <a:off x="73152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Complete</a:t>
            </a:r>
            <a:endParaRPr lang="en-US" sz="1100" dirty="0"/>
          </a:p>
        </p:txBody>
      </p:sp>
      <p:sp>
        <p:nvSpPr>
          <p:cNvPr id="39" name="Shape 37"/>
          <p:cNvSpPr/>
          <p:nvPr/>
        </p:nvSpPr>
        <p:spPr>
          <a:xfrm>
            <a:off x="457200" y="4160520"/>
            <a:ext cx="8229600" cy="457200"/>
          </a:xfrm>
          <a:prstGeom prst="roundRect">
            <a:avLst>
              <a:gd name="adj" fmla="val 16000"/>
            </a:avLst>
          </a:prstGeom>
          <a:solidFill>
            <a:srgbClr val="F6E7DB"/>
          </a:solidFill>
          <a:ln w="12700">
            <a:solidFill>
              <a:srgbClr val="F6E7DB"/>
            </a:solidFill>
            <a:prstDash val="solid"/>
          </a:ln>
        </p:spPr>
      </p:sp>
      <p:sp>
        <p:nvSpPr>
          <p:cNvPr id="40" name="Text 38"/>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M1 cache design, M2 interpreter + cache, M3 tier 2 with deopt and M4 final results are all complete.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03</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Mayan Manit</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Inline Cache Integration &amp; Hit Rate</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inline-cache state machine</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Measured hit rates</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Performance and tuning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The inline-cache state machine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sp>
        <p:nvSpPr>
          <p:cNvPr id="6" name="Text 4"/>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250" i="1" dirty="0">
                <a:solidFill>
                  <a:srgbClr val="7D6A6B"/>
                </a:solidFill>
                <a:latin typeface="Calibri" pitchFamily="34" charset="0"/>
                <a:ea typeface="Calibri" pitchFamily="34" charset="-122"/>
                <a:cs typeface="Calibri" pitchFamily="34" charset="-120"/>
              </a:rPr>
              <a:t>Each GETFIELD site remembers “objects of shape S keep field x at slot k” — so it can skip scanning all field names.</a:t>
            </a:r>
            <a:endParaRPr lang="en-US" sz="1250" dirty="0"/>
          </a:p>
        </p:txBody>
      </p:sp>
      <p:sp>
        <p:nvSpPr>
          <p:cNvPr id="7" name="Shape 5"/>
          <p:cNvSpPr/>
          <p:nvPr/>
        </p:nvSpPr>
        <p:spPr>
          <a:xfrm>
            <a:off x="685800" y="1508760"/>
            <a:ext cx="1097280" cy="1097280"/>
          </a:xfrm>
          <a:prstGeom prst="ellipse">
            <a:avLst/>
          </a:prstGeom>
          <a:solidFill>
            <a:srgbClr val="C1EEFF"/>
          </a:solidFill>
          <a:ln w="12700">
            <a:solidFill>
              <a:srgbClr val="C1EEFF"/>
            </a:solidFill>
            <a:prstDash val="solid"/>
          </a:ln>
        </p:spPr>
      </p:sp>
      <p:sp>
        <p:nvSpPr>
          <p:cNvPr id="8" name="Text 6"/>
          <p:cNvSpPr txBox="1"/>
          <p:nvPr/>
        </p:nvSpPr>
        <p:spPr>
          <a:xfrm>
            <a:off x="68580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UNINIT</a:t>
            </a:r>
            <a:endParaRPr lang="en-US" sz="1300" dirty="0"/>
          </a:p>
        </p:txBody>
      </p:sp>
      <p:sp>
        <p:nvSpPr>
          <p:cNvPr id="9" name="Text 7"/>
          <p:cNvSpPr txBox="1"/>
          <p:nvPr/>
        </p:nvSpPr>
        <p:spPr>
          <a:xfrm>
            <a:off x="36576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Never executed</a:t>
            </a:r>
            <a:endParaRPr lang="en-US" sz="1100" dirty="0"/>
          </a:p>
        </p:txBody>
      </p:sp>
      <p:sp>
        <p:nvSpPr>
          <p:cNvPr id="10" name="Shape 8"/>
          <p:cNvSpPr/>
          <p:nvPr/>
        </p:nvSpPr>
        <p:spPr>
          <a:xfrm>
            <a:off x="1828800" y="2057400"/>
            <a:ext cx="914400" cy="0"/>
          </a:xfrm>
          <a:prstGeom prst="line">
            <a:avLst/>
          </a:prstGeom>
          <a:noFill/>
          <a:ln w="22225">
            <a:solidFill>
              <a:srgbClr val="7D6A6B"/>
            </a:solidFill>
            <a:prstDash val="solid"/>
            <a:tailEnd type="triangle"/>
          </a:ln>
        </p:spPr>
      </p:sp>
      <p:sp>
        <p:nvSpPr>
          <p:cNvPr id="11" name="Text 9"/>
          <p:cNvSpPr txBox="1"/>
          <p:nvPr/>
        </p:nvSpPr>
        <p:spPr>
          <a:xfrm>
            <a:off x="178308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1st shape</a:t>
            </a:r>
            <a:endParaRPr lang="en-US" sz="1000" dirty="0"/>
          </a:p>
        </p:txBody>
      </p:sp>
      <p:sp>
        <p:nvSpPr>
          <p:cNvPr id="12" name="Shape 10"/>
          <p:cNvSpPr/>
          <p:nvPr/>
        </p:nvSpPr>
        <p:spPr>
          <a:xfrm>
            <a:off x="2788920" y="1508760"/>
            <a:ext cx="1097280" cy="1097280"/>
          </a:xfrm>
          <a:prstGeom prst="ellipse">
            <a:avLst/>
          </a:prstGeom>
          <a:solidFill>
            <a:srgbClr val="548687"/>
          </a:solidFill>
          <a:ln w="12700">
            <a:solidFill>
              <a:srgbClr val="548687"/>
            </a:solidFill>
            <a:prstDash val="solid"/>
          </a:ln>
        </p:spPr>
      </p:sp>
      <p:sp>
        <p:nvSpPr>
          <p:cNvPr id="13" name="Text 11"/>
          <p:cNvSpPr txBox="1"/>
          <p:nvPr/>
        </p:nvSpPr>
        <p:spPr>
          <a:xfrm>
            <a:off x="278892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MONO</a:t>
            </a:r>
            <a:endParaRPr lang="en-US" sz="1300" dirty="0"/>
          </a:p>
        </p:txBody>
      </p:sp>
      <p:sp>
        <p:nvSpPr>
          <p:cNvPr id="14" name="Text 12"/>
          <p:cNvSpPr txBox="1"/>
          <p:nvPr/>
        </p:nvSpPr>
        <p:spPr>
          <a:xfrm>
            <a:off x="246888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1 shape: one check, direct read</a:t>
            </a:r>
            <a:endParaRPr lang="en-US" sz="1100" dirty="0"/>
          </a:p>
        </p:txBody>
      </p:sp>
      <p:sp>
        <p:nvSpPr>
          <p:cNvPr id="15" name="Shape 13"/>
          <p:cNvSpPr/>
          <p:nvPr/>
        </p:nvSpPr>
        <p:spPr>
          <a:xfrm>
            <a:off x="3931920" y="2057400"/>
            <a:ext cx="914400" cy="0"/>
          </a:xfrm>
          <a:prstGeom prst="line">
            <a:avLst/>
          </a:prstGeom>
          <a:noFill/>
          <a:ln w="22225">
            <a:solidFill>
              <a:srgbClr val="7D6A6B"/>
            </a:solidFill>
            <a:prstDash val="solid"/>
            <a:tailEnd type="triangle"/>
          </a:ln>
        </p:spPr>
      </p:sp>
      <p:sp>
        <p:nvSpPr>
          <p:cNvPr id="16" name="Text 14"/>
          <p:cNvSpPr txBox="1"/>
          <p:nvPr/>
        </p:nvSpPr>
        <p:spPr>
          <a:xfrm>
            <a:off x="388620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new shape</a:t>
            </a:r>
            <a:endParaRPr lang="en-US" sz="1000" dirty="0"/>
          </a:p>
        </p:txBody>
      </p:sp>
      <p:sp>
        <p:nvSpPr>
          <p:cNvPr id="17" name="Shape 15"/>
          <p:cNvSpPr/>
          <p:nvPr/>
        </p:nvSpPr>
        <p:spPr>
          <a:xfrm>
            <a:off x="4892040" y="1508760"/>
            <a:ext cx="1097280" cy="1097280"/>
          </a:xfrm>
          <a:prstGeom prst="ellipse">
            <a:avLst/>
          </a:prstGeom>
          <a:solidFill>
            <a:srgbClr val="E1B07E"/>
          </a:solidFill>
          <a:ln w="12700">
            <a:solidFill>
              <a:srgbClr val="E1B07E"/>
            </a:solidFill>
            <a:prstDash val="solid"/>
          </a:ln>
        </p:spPr>
      </p:sp>
      <p:sp>
        <p:nvSpPr>
          <p:cNvPr id="18" name="Text 16"/>
          <p:cNvSpPr txBox="1"/>
          <p:nvPr/>
        </p:nvSpPr>
        <p:spPr>
          <a:xfrm>
            <a:off x="489204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POLY</a:t>
            </a:r>
            <a:endParaRPr lang="en-US" sz="1300" dirty="0"/>
          </a:p>
        </p:txBody>
      </p:sp>
      <p:sp>
        <p:nvSpPr>
          <p:cNvPr id="19" name="Text 17"/>
          <p:cNvSpPr txBox="1"/>
          <p:nvPr/>
        </p:nvSpPr>
        <p:spPr>
          <a:xfrm>
            <a:off x="457200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2–4 shapes: short list of checks</a:t>
            </a:r>
            <a:endParaRPr lang="en-US" sz="1100" dirty="0"/>
          </a:p>
        </p:txBody>
      </p:sp>
      <p:sp>
        <p:nvSpPr>
          <p:cNvPr id="20" name="Shape 18"/>
          <p:cNvSpPr/>
          <p:nvPr/>
        </p:nvSpPr>
        <p:spPr>
          <a:xfrm>
            <a:off x="6035040" y="2057400"/>
            <a:ext cx="914400" cy="0"/>
          </a:xfrm>
          <a:prstGeom prst="line">
            <a:avLst/>
          </a:prstGeom>
          <a:noFill/>
          <a:ln w="22225">
            <a:solidFill>
              <a:srgbClr val="7D6A6B"/>
            </a:solidFill>
            <a:prstDash val="solid"/>
            <a:tailEnd type="triangle"/>
          </a:ln>
        </p:spPr>
      </p:sp>
      <p:sp>
        <p:nvSpPr>
          <p:cNvPr id="21" name="Text 19"/>
          <p:cNvSpPr txBox="1"/>
          <p:nvPr/>
        </p:nvSpPr>
        <p:spPr>
          <a:xfrm>
            <a:off x="598932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5th shape</a:t>
            </a:r>
            <a:endParaRPr lang="en-US" sz="1000" dirty="0"/>
          </a:p>
        </p:txBody>
      </p:sp>
      <p:sp>
        <p:nvSpPr>
          <p:cNvPr id="22" name="Shape 20"/>
          <p:cNvSpPr/>
          <p:nvPr/>
        </p:nvSpPr>
        <p:spPr>
          <a:xfrm>
            <a:off x="6995160" y="1508760"/>
            <a:ext cx="1097280" cy="1097280"/>
          </a:xfrm>
          <a:prstGeom prst="ellipse">
            <a:avLst/>
          </a:prstGeom>
          <a:solidFill>
            <a:srgbClr val="513B3C"/>
          </a:solidFill>
          <a:ln w="12700">
            <a:solidFill>
              <a:srgbClr val="513B3C"/>
            </a:solidFill>
            <a:prstDash val="solid"/>
          </a:ln>
        </p:spPr>
      </p:sp>
      <p:sp>
        <p:nvSpPr>
          <p:cNvPr id="23" name="Text 21"/>
          <p:cNvSpPr txBox="1"/>
          <p:nvPr/>
        </p:nvSpPr>
        <p:spPr>
          <a:xfrm>
            <a:off x="699516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MEGA</a:t>
            </a:r>
            <a:endParaRPr lang="en-US" sz="1300" dirty="0"/>
          </a:p>
        </p:txBody>
      </p:sp>
      <p:sp>
        <p:nvSpPr>
          <p:cNvPr id="24" name="Text 22"/>
          <p:cNvSpPr txBox="1"/>
          <p:nvPr/>
        </p:nvSpPr>
        <p:spPr>
          <a:xfrm>
            <a:off x="667512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5+ shapes: 4-slot shared table, FIFO eviction</a:t>
            </a:r>
            <a:endParaRPr lang="en-US" sz="1100" dirty="0"/>
          </a:p>
        </p:txBody>
      </p:sp>
      <p:sp>
        <p:nvSpPr>
          <p:cNvPr id="25" name="Shape 23"/>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64008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IC1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27" name="Text 25"/>
          <p:cNvSpPr txBox="1"/>
          <p:nvPr/>
        </p:nvSpPr>
        <p:spPr>
          <a:xfrm>
            <a:off x="64008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1 shape → MONO</a:t>
            </a:r>
            <a:endParaRPr lang="en-US" sz="1200" dirty="0"/>
          </a:p>
        </p:txBody>
      </p:sp>
      <p:sp>
        <p:nvSpPr>
          <p:cNvPr id="28" name="Text 26"/>
          <p:cNvSpPr txBox="1"/>
          <p:nvPr/>
        </p:nvSpPr>
        <p:spPr>
          <a:xfrm>
            <a:off x="64008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1 miss in 1,000</a:t>
            </a:r>
            <a:endParaRPr lang="en-US" sz="1100" dirty="0"/>
          </a:p>
        </p:txBody>
      </p:sp>
      <p:sp>
        <p:nvSpPr>
          <p:cNvPr id="29" name="Shape 27"/>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30" name="Text 28"/>
          <p:cNvSpPr txBox="1"/>
          <p:nvPr/>
        </p:nvSpPr>
        <p:spPr>
          <a:xfrm>
            <a:off x="342900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IC2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1" name="Text 29"/>
          <p:cNvSpPr txBox="1"/>
          <p:nvPr/>
        </p:nvSpPr>
        <p:spPr>
          <a:xfrm>
            <a:off x="342900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3 shapes → POLY</a:t>
            </a:r>
            <a:endParaRPr lang="en-US" sz="1200" dirty="0"/>
          </a:p>
        </p:txBody>
      </p:sp>
      <p:sp>
        <p:nvSpPr>
          <p:cNvPr id="32" name="Text 30"/>
          <p:cNvSpPr txBox="1"/>
          <p:nvPr/>
        </p:nvSpPr>
        <p:spPr>
          <a:xfrm>
            <a:off x="342900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3 misses in 1,000</a:t>
            </a:r>
            <a:endParaRPr lang="en-US" sz="1100" dirty="0"/>
          </a:p>
        </p:txBody>
      </p:sp>
      <p:sp>
        <p:nvSpPr>
          <p:cNvPr id="33" name="Shape 31"/>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34" name="Text 32"/>
          <p:cNvSpPr txBox="1"/>
          <p:nvPr/>
        </p:nvSpPr>
        <p:spPr>
          <a:xfrm>
            <a:off x="621792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IC3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5" name="Text 33"/>
          <p:cNvSpPr txBox="1"/>
          <p:nvPr/>
        </p:nvSpPr>
        <p:spPr>
          <a:xfrm>
            <a:off x="621792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8 shapes → MEGA</a:t>
            </a:r>
            <a:endParaRPr lang="en-US" sz="1200" dirty="0"/>
          </a:p>
        </p:txBody>
      </p:sp>
      <p:sp>
        <p:nvSpPr>
          <p:cNvPr id="36" name="Text 34"/>
          <p:cNvSpPr txBox="1"/>
          <p:nvPr/>
        </p:nvSpPr>
        <p:spPr>
          <a:xfrm>
            <a:off x="621792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correct, 0 mismatches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13</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Measured cache hit rate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7548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Hits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Misses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Mono</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99,999</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Poly</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99,997</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Mega</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24,932</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75,068</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bl>
          </a:graphicData>
        </a:graphic>
      </p:graphicFrame>
      <p:sp>
        <p:nvSpPr>
          <p:cNvPr id="8" name="Shape 4"/>
          <p:cNvSpPr/>
          <p:nvPr/>
        </p:nvSpPr>
        <p:spPr>
          <a:xfrm>
            <a:off x="5394960" y="2926080"/>
            <a:ext cx="3291840" cy="1645920"/>
          </a:xfrm>
          <a:prstGeom prst="roundRect">
            <a:avLst>
              <a:gd name="adj" fmla="val 4444"/>
            </a:avLst>
          </a:prstGeom>
          <a:solidFill>
            <a:srgbClr val="F6E7DB"/>
          </a:solidFill>
          <a:ln w="12700">
            <a:solidFill>
              <a:srgbClr val="F6E7DB"/>
            </a:solidFill>
            <a:prstDash val="solid"/>
          </a:ln>
        </p:spPr>
      </p:sp>
      <p:sp>
        <p:nvSpPr>
          <p:cNvPr id="9" name="Text 5"/>
          <p:cNvSpPr txBox="1"/>
          <p:nvPr/>
        </p:nvSpPr>
        <p:spPr>
          <a:xfrm>
            <a:off x="5394960" y="2697480"/>
            <a:ext cx="3291840" cy="182880"/>
          </a:xfrm>
          <a:prstGeom prst="rect">
            <a:avLst/>
          </a:prstGeom>
          <a:noFill/>
          <a:ln/>
        </p:spPr>
        <p:txBody>
          <a:bodyPr wrap="square" lIns="0" tIns="0" rIns="0" bIns="0" rtlCol="0" anchor="ctr"/>
          <a:lstStyle/>
          <a:p>
            <a:pPr indent="0" marL="0">
              <a:buNone/>
            </a:pPr>
            <a:r>
              <a:rPr lang="en-US" sz="950" i="1" dirty="0">
                <a:solidFill>
                  <a:srgbClr val="7D6A6B"/>
                </a:solidFill>
                <a:latin typeface="Calibri" pitchFamily="34" charset="0"/>
                <a:ea typeface="Calibri" pitchFamily="34" charset="-122"/>
                <a:cs typeface="Calibri" pitchFamily="34" charset="-120"/>
              </a:rPr>
              <a:t>n = 100,000 accesses per workload</a:t>
            </a:r>
            <a:endParaRPr lang="en-US" sz="950" dirty="0"/>
          </a:p>
        </p:txBody>
      </p:sp>
      <p:sp>
        <p:nvSpPr>
          <p:cNvPr id="10" name="Text 6"/>
          <p:cNvSpPr txBox="1"/>
          <p:nvPr/>
        </p:nvSpPr>
        <p:spPr>
          <a:xfrm>
            <a:off x="5577840" y="3017520"/>
            <a:ext cx="2926080" cy="1463040"/>
          </a:xfrm>
          <a:prstGeom prst="rect">
            <a:avLst/>
          </a:prstGeom>
          <a:noFill/>
          <a:ln/>
        </p:spPr>
        <p:txBody>
          <a:bodyPr wrap="square" lIns="0" tIns="0" rIns="0" bIns="0" rtlCol="0" anchor="t"/>
          <a:lstStyle/>
          <a:p>
            <a:pPr indent="0" marL="0">
              <a:spcAft>
                <a:spcPts val="600"/>
              </a:spcAft>
              <a:buNone/>
            </a:pPr>
            <a:r>
              <a:rPr lang="en-US" sz="1200" b="1" dirty="0">
                <a:solidFill>
                  <a:srgbClr val="513B3C"/>
                </a:solidFill>
                <a:latin typeface="Calibri" pitchFamily="34" charset="0"/>
                <a:ea typeface="Calibri" pitchFamily="34" charset="-122"/>
                <a:cs typeface="Calibri" pitchFamily="34" charset="-120"/>
              </a:rPr>
              <a:t>Why only 24.9% in MEGA?</a:t>
            </a:r>
            <a:endParaRPr lang="en-US" sz="1200" dirty="0"/>
          </a:p>
          <a:p>
            <a:pPr indent="0" marL="0">
              <a:spcAft>
                <a:spcPts val="600"/>
              </a:spcAft>
              <a:buNone/>
            </a:pPr>
            <a:r>
              <a:rPr lang="en-US" sz="1200" dirty="0">
                <a:solidFill>
                  <a:srgbClr val="513B3C"/>
                </a:solidFill>
                <a:latin typeface="Calibri" pitchFamily="34" charset="0"/>
                <a:ea typeface="Calibri" pitchFamily="34" charset="-122"/>
                <a:cs typeface="Calibri" pitchFamily="34" charset="-120"/>
              </a:rPr>
              <a:t>16 shapes compete for 4 slots. FIFO keeps evicting an entry just before it is needed again, so ~3 of 4 accesses miss.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Performance: IC vs baseline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297680"/>
            <a:ext cx="4663440" cy="32004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n = 100,000 accesses each · baseline 0.611 / 0.427 / 0.395 s · with IC 0.273 / 0.278 / 0.442 s · single run, varies ± a few %</a:t>
            </a:r>
            <a:endParaRPr lang="en-US" sz="1000" dirty="0"/>
          </a:p>
        </p:txBody>
      </p:sp>
      <p:sp>
        <p:nvSpPr>
          <p:cNvPr id="8" name="Shape 5"/>
          <p:cNvSpPr/>
          <p:nvPr/>
        </p:nvSpPr>
        <p:spPr>
          <a:xfrm>
            <a:off x="5303520" y="1188720"/>
            <a:ext cx="3383280" cy="1417320"/>
          </a:xfrm>
          <a:prstGeom prst="roundRect">
            <a:avLst>
              <a:gd name="adj" fmla="val 5161"/>
            </a:avLst>
          </a:prstGeom>
          <a:solidFill>
            <a:srgbClr val="548687"/>
          </a:solidFill>
          <a:ln w="12700">
            <a:solidFill>
              <a:srgbClr val="548687"/>
            </a:solidFill>
            <a:prstDash val="solid"/>
          </a:ln>
        </p:spPr>
      </p:sp>
      <p:sp>
        <p:nvSpPr>
          <p:cNvPr id="9" name="Text 6"/>
          <p:cNvSpPr txBox="1"/>
          <p:nvPr/>
        </p:nvSpPr>
        <p:spPr>
          <a:xfrm>
            <a:off x="5486400" y="1298448"/>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Mono &amp; poly win</a:t>
            </a:r>
            <a:endParaRPr lang="en-US" sz="1400" dirty="0"/>
          </a:p>
        </p:txBody>
      </p:sp>
      <p:sp>
        <p:nvSpPr>
          <p:cNvPr id="10" name="Text 7"/>
          <p:cNvSpPr txBox="1"/>
          <p:nvPr/>
        </p:nvSpPr>
        <p:spPr>
          <a:xfrm>
            <a:off x="5486400" y="1645920"/>
            <a:ext cx="301752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cache hit replaces a scan over ~200 field names with one or a few shape checks. On 6-field objects it loses (slide 20).</a:t>
            </a:r>
            <a:endParaRPr lang="en-US" sz="1150" dirty="0"/>
          </a:p>
        </p:txBody>
      </p:sp>
      <p:sp>
        <p:nvSpPr>
          <p:cNvPr id="11" name="Shape 8"/>
          <p:cNvSpPr/>
          <p:nvPr/>
        </p:nvSpPr>
        <p:spPr>
          <a:xfrm>
            <a:off x="5303520" y="2788920"/>
            <a:ext cx="3383280" cy="1417320"/>
          </a:xfrm>
          <a:prstGeom prst="roundRect">
            <a:avLst>
              <a:gd name="adj" fmla="val 5161"/>
            </a:avLst>
          </a:prstGeom>
          <a:solidFill>
            <a:srgbClr val="E1B07E"/>
          </a:solidFill>
          <a:ln w="12700">
            <a:solidFill>
              <a:srgbClr val="E1B07E"/>
            </a:solidFill>
            <a:prstDash val="solid"/>
          </a:ln>
        </p:spPr>
      </p:sp>
      <p:sp>
        <p:nvSpPr>
          <p:cNvPr id="12" name="Text 9"/>
          <p:cNvSpPr txBox="1"/>
          <p:nvPr/>
        </p:nvSpPr>
        <p:spPr>
          <a:xfrm>
            <a:off x="5486400" y="2898648"/>
            <a:ext cx="301752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Mega loses (0.89×)</a:t>
            </a:r>
            <a:endParaRPr lang="en-US" sz="1400" dirty="0"/>
          </a:p>
        </p:txBody>
      </p:sp>
      <p:sp>
        <p:nvSpPr>
          <p:cNvPr id="13" name="Text 10"/>
          <p:cNvSpPr txBox="1"/>
          <p:nvPr/>
        </p:nvSpPr>
        <p:spPr>
          <a:xfrm>
            <a:off x="5486400" y="3246120"/>
            <a:ext cx="3017520" cy="8686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Thrashing: the bookkeeping costs more than the scan it replaces. Fixed by capacity: 16 slots gives 1.49× (slide 21).</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04</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Ehsan Abdulkhader</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Tier-2 Codegen &amp; Deoptimisation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Stale caches &amp; deopt (IC4, IC5)</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JavaScript front end, checked against Node</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Mega tuning, conclusions &amp; future work</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Stale caches: shape versioning (IC4)</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Text 4"/>
          <p:cNvSpPr txBox="1"/>
          <p:nvPr/>
        </p:nvSpPr>
        <p:spPr>
          <a:xfrm>
            <a:off x="45720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Cache learns: x is at slot 2</a:t>
            </a:r>
            <a:endParaRPr lang="en-US" sz="1200" dirty="0"/>
          </a:p>
        </p:txBody>
      </p:sp>
      <p:sp>
        <p:nvSpPr>
          <p:cNvPr id="7" name="Shape 5"/>
          <p:cNvSpPr/>
          <p:nvPr/>
        </p:nvSpPr>
        <p:spPr>
          <a:xfrm>
            <a:off x="457200" y="1417320"/>
            <a:ext cx="713232" cy="502920"/>
          </a:xfrm>
          <a:prstGeom prst="roundRect">
            <a:avLst>
              <a:gd name="adj" fmla="val 14545"/>
            </a:avLst>
          </a:prstGeom>
          <a:solidFill>
            <a:srgbClr val="E6F8FF"/>
          </a:solidFill>
          <a:ln w="12700">
            <a:solidFill>
              <a:srgbClr val="E6F8FF"/>
            </a:solidFill>
            <a:prstDash val="solid"/>
          </a:ln>
        </p:spPr>
      </p:sp>
      <p:sp>
        <p:nvSpPr>
          <p:cNvPr id="8" name="Text 6"/>
          <p:cNvSpPr txBox="1"/>
          <p:nvPr/>
        </p:nvSpPr>
        <p:spPr>
          <a:xfrm>
            <a:off x="4572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9" name="Text 7"/>
          <p:cNvSpPr txBox="1"/>
          <p:nvPr/>
        </p:nvSpPr>
        <p:spPr>
          <a:xfrm>
            <a:off x="4572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10" name="Shape 8"/>
          <p:cNvSpPr/>
          <p:nvPr/>
        </p:nvSpPr>
        <p:spPr>
          <a:xfrm>
            <a:off x="1234440" y="1417320"/>
            <a:ext cx="713232" cy="502920"/>
          </a:xfrm>
          <a:prstGeom prst="roundRect">
            <a:avLst>
              <a:gd name="adj" fmla="val 14545"/>
            </a:avLst>
          </a:prstGeom>
          <a:solidFill>
            <a:srgbClr val="E6F8FF"/>
          </a:solidFill>
          <a:ln w="12700">
            <a:solidFill>
              <a:srgbClr val="E6F8FF"/>
            </a:solidFill>
            <a:prstDash val="solid"/>
          </a:ln>
        </p:spPr>
      </p:sp>
      <p:sp>
        <p:nvSpPr>
          <p:cNvPr id="11" name="Text 9"/>
          <p:cNvSpPr txBox="1"/>
          <p:nvPr/>
        </p:nvSpPr>
        <p:spPr>
          <a:xfrm>
            <a:off x="12344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12" name="Text 10"/>
          <p:cNvSpPr txBox="1"/>
          <p:nvPr/>
        </p:nvSpPr>
        <p:spPr>
          <a:xfrm>
            <a:off x="12344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13" name="Shape 11"/>
          <p:cNvSpPr/>
          <p:nvPr/>
        </p:nvSpPr>
        <p:spPr>
          <a:xfrm>
            <a:off x="2011680" y="1417320"/>
            <a:ext cx="713232" cy="502920"/>
          </a:xfrm>
          <a:prstGeom prst="roundRect">
            <a:avLst>
              <a:gd name="adj" fmla="val 14545"/>
            </a:avLst>
          </a:prstGeom>
          <a:solidFill>
            <a:srgbClr val="548687"/>
          </a:solidFill>
          <a:ln w="12700">
            <a:solidFill>
              <a:srgbClr val="548687"/>
            </a:solidFill>
            <a:prstDash val="solid"/>
          </a:ln>
        </p:spPr>
      </p:sp>
      <p:sp>
        <p:nvSpPr>
          <p:cNvPr id="14" name="Text 12"/>
          <p:cNvSpPr txBox="1"/>
          <p:nvPr/>
        </p:nvSpPr>
        <p:spPr>
          <a:xfrm>
            <a:off x="20116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15" name="Text 13"/>
          <p:cNvSpPr txBox="1"/>
          <p:nvPr/>
        </p:nvSpPr>
        <p:spPr>
          <a:xfrm>
            <a:off x="20116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16" name="Shape 14"/>
          <p:cNvSpPr/>
          <p:nvPr/>
        </p:nvSpPr>
        <p:spPr>
          <a:xfrm>
            <a:off x="2834640" y="1435608"/>
            <a:ext cx="457200" cy="457200"/>
          </a:xfrm>
          <a:prstGeom prst="ellipse">
            <a:avLst/>
          </a:prstGeom>
          <a:solidFill>
            <a:srgbClr val="E1B07E"/>
          </a:solidFill>
          <a:ln w="12700">
            <a:solidFill>
              <a:srgbClr val="E1B07E"/>
            </a:solidFill>
            <a:prstDash val="solid"/>
          </a:ln>
        </p:spPr>
      </p:sp>
      <p:sp>
        <p:nvSpPr>
          <p:cNvPr id="17" name="Text 15"/>
          <p:cNvSpPr txBox="1"/>
          <p:nvPr/>
        </p:nvSpPr>
        <p:spPr>
          <a:xfrm>
            <a:off x="28346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v0</a:t>
            </a:r>
            <a:endParaRPr lang="en-US" sz="1200" dirty="0"/>
          </a:p>
        </p:txBody>
      </p:sp>
      <p:sp>
        <p:nvSpPr>
          <p:cNvPr id="18" name="Text 16"/>
          <p:cNvSpPr txBox="1"/>
          <p:nvPr/>
        </p:nvSpPr>
        <p:spPr>
          <a:xfrm>
            <a:off x="448056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Field added to the shape in place</a:t>
            </a:r>
            <a:endParaRPr lang="en-US" sz="1200" dirty="0"/>
          </a:p>
        </p:txBody>
      </p:sp>
      <p:sp>
        <p:nvSpPr>
          <p:cNvPr id="19" name="Shape 17"/>
          <p:cNvSpPr/>
          <p:nvPr/>
        </p:nvSpPr>
        <p:spPr>
          <a:xfrm>
            <a:off x="4480560" y="1417320"/>
            <a:ext cx="713232" cy="502920"/>
          </a:xfrm>
          <a:prstGeom prst="roundRect">
            <a:avLst>
              <a:gd name="adj" fmla="val 14545"/>
            </a:avLst>
          </a:prstGeom>
          <a:solidFill>
            <a:srgbClr val="E6F8FF"/>
          </a:solidFill>
          <a:ln w="12700">
            <a:solidFill>
              <a:srgbClr val="E6F8FF"/>
            </a:solidFill>
            <a:prstDash val="solid"/>
          </a:ln>
        </p:spPr>
      </p:sp>
      <p:sp>
        <p:nvSpPr>
          <p:cNvPr id="20" name="Text 18"/>
          <p:cNvSpPr txBox="1"/>
          <p:nvPr/>
        </p:nvSpPr>
        <p:spPr>
          <a:xfrm>
            <a:off x="448056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new</a:t>
            </a:r>
            <a:endParaRPr lang="en-US" sz="1200" dirty="0"/>
          </a:p>
        </p:txBody>
      </p:sp>
      <p:sp>
        <p:nvSpPr>
          <p:cNvPr id="21" name="Text 19"/>
          <p:cNvSpPr txBox="1"/>
          <p:nvPr/>
        </p:nvSpPr>
        <p:spPr>
          <a:xfrm>
            <a:off x="448056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22" name="Shape 20"/>
          <p:cNvSpPr/>
          <p:nvPr/>
        </p:nvSpPr>
        <p:spPr>
          <a:xfrm>
            <a:off x="5257800" y="1417320"/>
            <a:ext cx="713232" cy="502920"/>
          </a:xfrm>
          <a:prstGeom prst="roundRect">
            <a:avLst>
              <a:gd name="adj" fmla="val 14545"/>
            </a:avLst>
          </a:prstGeom>
          <a:solidFill>
            <a:srgbClr val="E6F8FF"/>
          </a:solidFill>
          <a:ln w="12700">
            <a:solidFill>
              <a:srgbClr val="E6F8FF"/>
            </a:solidFill>
            <a:prstDash val="solid"/>
          </a:ln>
        </p:spPr>
      </p:sp>
      <p:sp>
        <p:nvSpPr>
          <p:cNvPr id="23" name="Text 21"/>
          <p:cNvSpPr txBox="1"/>
          <p:nvPr/>
        </p:nvSpPr>
        <p:spPr>
          <a:xfrm>
            <a:off x="52578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24" name="Text 22"/>
          <p:cNvSpPr txBox="1"/>
          <p:nvPr/>
        </p:nvSpPr>
        <p:spPr>
          <a:xfrm>
            <a:off x="52578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25" name="Shape 23"/>
          <p:cNvSpPr/>
          <p:nvPr/>
        </p:nvSpPr>
        <p:spPr>
          <a:xfrm>
            <a:off x="6035040" y="1417320"/>
            <a:ext cx="713232" cy="502920"/>
          </a:xfrm>
          <a:prstGeom prst="roundRect">
            <a:avLst>
              <a:gd name="adj" fmla="val 14545"/>
            </a:avLst>
          </a:prstGeom>
          <a:solidFill>
            <a:srgbClr val="E6F8FF"/>
          </a:solidFill>
          <a:ln w="12700">
            <a:solidFill>
              <a:srgbClr val="E6F8FF"/>
            </a:solidFill>
            <a:prstDash val="solid"/>
          </a:ln>
        </p:spPr>
      </p:sp>
      <p:sp>
        <p:nvSpPr>
          <p:cNvPr id="26" name="Text 24"/>
          <p:cNvSpPr txBox="1"/>
          <p:nvPr/>
        </p:nvSpPr>
        <p:spPr>
          <a:xfrm>
            <a:off x="60350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27" name="Text 25"/>
          <p:cNvSpPr txBox="1"/>
          <p:nvPr/>
        </p:nvSpPr>
        <p:spPr>
          <a:xfrm>
            <a:off x="60350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28" name="Shape 26"/>
          <p:cNvSpPr/>
          <p:nvPr/>
        </p:nvSpPr>
        <p:spPr>
          <a:xfrm>
            <a:off x="6812280" y="1417320"/>
            <a:ext cx="713232" cy="502920"/>
          </a:xfrm>
          <a:prstGeom prst="roundRect">
            <a:avLst>
              <a:gd name="adj" fmla="val 14545"/>
            </a:avLst>
          </a:prstGeom>
          <a:solidFill>
            <a:srgbClr val="548687"/>
          </a:solidFill>
          <a:ln w="12700">
            <a:solidFill>
              <a:srgbClr val="548687"/>
            </a:solidFill>
            <a:prstDash val="solid"/>
          </a:ln>
        </p:spPr>
      </p:sp>
      <p:sp>
        <p:nvSpPr>
          <p:cNvPr id="29" name="Text 27"/>
          <p:cNvSpPr txBox="1"/>
          <p:nvPr/>
        </p:nvSpPr>
        <p:spPr>
          <a:xfrm>
            <a:off x="68122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30" name="Text 28"/>
          <p:cNvSpPr txBox="1"/>
          <p:nvPr/>
        </p:nvSpPr>
        <p:spPr>
          <a:xfrm>
            <a:off x="68122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3</a:t>
            </a:r>
            <a:endParaRPr lang="en-US" sz="900" dirty="0"/>
          </a:p>
        </p:txBody>
      </p:sp>
      <p:sp>
        <p:nvSpPr>
          <p:cNvPr id="31" name="Shape 29"/>
          <p:cNvSpPr/>
          <p:nvPr/>
        </p:nvSpPr>
        <p:spPr>
          <a:xfrm>
            <a:off x="7635240" y="1435608"/>
            <a:ext cx="457200" cy="457200"/>
          </a:xfrm>
          <a:prstGeom prst="ellipse">
            <a:avLst/>
          </a:prstGeom>
          <a:solidFill>
            <a:srgbClr val="E1B07E"/>
          </a:solidFill>
          <a:ln w="12700">
            <a:solidFill>
              <a:srgbClr val="E1B07E"/>
            </a:solidFill>
            <a:prstDash val="solid"/>
          </a:ln>
        </p:spPr>
      </p:sp>
      <p:sp>
        <p:nvSpPr>
          <p:cNvPr id="32" name="Text 30"/>
          <p:cNvSpPr txBox="1"/>
          <p:nvPr/>
        </p:nvSpPr>
        <p:spPr>
          <a:xfrm>
            <a:off x="76352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v1</a:t>
            </a:r>
            <a:endParaRPr lang="en-US" sz="1200" dirty="0"/>
          </a:p>
        </p:txBody>
      </p:sp>
      <p:sp>
        <p:nvSpPr>
          <p:cNvPr id="33" name="Shape 31"/>
          <p:cNvSpPr/>
          <p:nvPr/>
        </p:nvSpPr>
        <p:spPr>
          <a:xfrm>
            <a:off x="3337560" y="1664208"/>
            <a:ext cx="1005840" cy="0"/>
          </a:xfrm>
          <a:prstGeom prst="line">
            <a:avLst/>
          </a:prstGeom>
          <a:noFill/>
          <a:ln w="22225">
            <a:solidFill>
              <a:srgbClr val="513B3C"/>
            </a:solidFill>
            <a:prstDash val="solid"/>
            <a:tailEnd type="triangle"/>
          </a:ln>
        </p:spPr>
      </p:sp>
      <p:sp>
        <p:nvSpPr>
          <p:cNvPr id="34" name="Text 32"/>
          <p:cNvSpPr txBox="1"/>
          <p:nvPr/>
        </p:nvSpPr>
        <p:spPr>
          <a:xfrm>
            <a:off x="3291840" y="1371600"/>
            <a:ext cx="109728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mutate</a:t>
            </a:r>
            <a:endParaRPr lang="en-US" sz="1000" dirty="0"/>
          </a:p>
        </p:txBody>
      </p:sp>
      <p:sp>
        <p:nvSpPr>
          <p:cNvPr id="35" name="Shape 33"/>
          <p:cNvSpPr/>
          <p:nvPr/>
        </p:nvSpPr>
        <p:spPr>
          <a:xfrm>
            <a:off x="457200" y="2606040"/>
            <a:ext cx="4023360" cy="1600200"/>
          </a:xfrm>
          <a:prstGeom prst="roundRect">
            <a:avLst>
              <a:gd name="adj" fmla="val 4571"/>
            </a:avLst>
          </a:prstGeom>
          <a:solidFill>
            <a:srgbClr val="F6E7DB"/>
          </a:solidFill>
          <a:ln w="12700">
            <a:solidFill>
              <a:srgbClr val="F6E7DB"/>
            </a:solidFill>
            <a:prstDash val="solid"/>
          </a:ln>
        </p:spPr>
      </p:sp>
      <p:sp>
        <p:nvSpPr>
          <p:cNvPr id="36" name="Text 34"/>
          <p:cNvSpPr txBox="1"/>
          <p:nvPr/>
        </p:nvSpPr>
        <p:spPr>
          <a:xfrm>
            <a:off x="640080" y="2697480"/>
            <a:ext cx="36576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Without a version check</a:t>
            </a:r>
            <a:endParaRPr lang="en-US" sz="1400" dirty="0"/>
          </a:p>
        </p:txBody>
      </p:sp>
      <p:sp>
        <p:nvSpPr>
          <p:cNvPr id="37" name="Text 35"/>
          <p:cNvSpPr txBox="1"/>
          <p:nvPr/>
        </p:nvSpPr>
        <p:spPr>
          <a:xfrm>
            <a:off x="640080" y="3035808"/>
            <a:ext cx="3657600" cy="6400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Same shape id → cache still says slot 2 → reads b = 2.</a:t>
            </a:r>
            <a:endParaRPr lang="en-US" sz="1150" dirty="0"/>
          </a:p>
        </p:txBody>
      </p:sp>
      <p:sp>
        <p:nvSpPr>
          <p:cNvPr id="38" name="Text 36"/>
          <p:cNvSpPr txBox="1"/>
          <p:nvPr/>
        </p:nvSpPr>
        <p:spPr>
          <a:xfrm>
            <a:off x="640080" y="3749040"/>
            <a:ext cx="3657600" cy="32004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  Wrong answer</a:t>
            </a:r>
            <a:endParaRPr lang="en-US" sz="1300" dirty="0"/>
          </a:p>
        </p:txBody>
      </p:sp>
      <p:sp>
        <p:nvSpPr>
          <p:cNvPr id="39" name="Shape 37"/>
          <p:cNvSpPr/>
          <p:nvPr/>
        </p:nvSpPr>
        <p:spPr>
          <a:xfrm>
            <a:off x="4663440" y="2606040"/>
            <a:ext cx="4023360" cy="1600200"/>
          </a:xfrm>
          <a:prstGeom prst="roundRect">
            <a:avLst>
              <a:gd name="adj" fmla="val 4571"/>
            </a:avLst>
          </a:prstGeom>
          <a:solidFill>
            <a:srgbClr val="548687"/>
          </a:solidFill>
          <a:ln w="12700">
            <a:solidFill>
              <a:srgbClr val="548687"/>
            </a:solidFill>
            <a:prstDash val="solid"/>
          </a:ln>
        </p:spPr>
      </p:sp>
      <p:sp>
        <p:nvSpPr>
          <p:cNvPr id="40" name="Text 38"/>
          <p:cNvSpPr txBox="1"/>
          <p:nvPr/>
        </p:nvSpPr>
        <p:spPr>
          <a:xfrm>
            <a:off x="4846320" y="269748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With a version check</a:t>
            </a:r>
            <a:endParaRPr lang="en-US" sz="1400" dirty="0"/>
          </a:p>
        </p:txBody>
      </p:sp>
      <p:sp>
        <p:nvSpPr>
          <p:cNvPr id="41" name="Text 39"/>
          <p:cNvSpPr txBox="1"/>
          <p:nvPr/>
        </p:nvSpPr>
        <p:spPr>
          <a:xfrm>
            <a:off x="4846320" y="3035808"/>
            <a:ext cx="3657600" cy="6400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Cache stored (shape, v0). Shape is now v1 → treated as a miss → re-lookup finds slot 3.</a:t>
            </a:r>
            <a:endParaRPr lang="en-US" sz="1150" dirty="0"/>
          </a:p>
        </p:txBody>
      </p:sp>
      <p:sp>
        <p:nvSpPr>
          <p:cNvPr id="42" name="Text 40"/>
          <p:cNvSpPr txBox="1"/>
          <p:nvPr/>
        </p:nvSpPr>
        <p:spPr>
          <a:xfrm>
            <a:off x="4846320" y="374904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Reads x = 3; exactly 1 re-miss</a:t>
            </a:r>
            <a:endParaRPr lang="en-US" sz="1300" dirty="0"/>
          </a:p>
        </p:txBody>
      </p:sp>
      <p:sp>
        <p:nvSpPr>
          <p:cNvPr id="43" name="Text 4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Lazy invalidation: nothing is flushed on mutation — stale entries are rejected the next time they are used.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17</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Tier-2 guards and deoptimisation (IC5)</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2103120" cy="868680"/>
          </a:xfrm>
          <a:prstGeom prst="roundRect">
            <a:avLst>
              <a:gd name="adj" fmla="val 8421"/>
            </a:avLst>
          </a:prstGeom>
          <a:solidFill>
            <a:srgbClr val="E6F8FF"/>
          </a:solidFill>
          <a:ln w="12700">
            <a:solidFill>
              <a:srgbClr val="E6F8FF"/>
            </a:solidFill>
            <a:prstDash val="solid"/>
          </a:ln>
        </p:spPr>
      </p:sp>
      <p:sp>
        <p:nvSpPr>
          <p:cNvPr id="7" name="Text 5"/>
          <p:cNvSpPr txBox="1"/>
          <p:nvPr/>
        </p:nvSpPr>
        <p:spPr>
          <a:xfrm>
            <a:off x="457200" y="1188720"/>
            <a:ext cx="2103120" cy="86868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Loop is hot</a:t>
            </a:r>
            <a:endParaRPr lang="en-US" sz="1200" dirty="0"/>
          </a:p>
          <a:p>
            <a:pPr algn="ctr" indent="0" marL="0">
              <a:buNone/>
            </a:pPr>
            <a:r>
              <a:rPr lang="en-US" sz="1200" dirty="0">
                <a:solidFill>
                  <a:srgbClr val="513B3C"/>
                </a:solidFill>
                <a:latin typeface="Calibri" pitchFamily="34" charset="0"/>
                <a:ea typeface="Calibri" pitchFamily="34" charset="-122"/>
                <a:cs typeface="Calibri" pitchFamily="34" charset="-120"/>
              </a:rPr>
              <a:t>and the site is MONO</a:t>
            </a:r>
            <a:endParaRPr lang="en-US" sz="1200" dirty="0"/>
          </a:p>
        </p:txBody>
      </p:sp>
      <p:sp>
        <p:nvSpPr>
          <p:cNvPr id="8" name="Shape 6"/>
          <p:cNvSpPr/>
          <p:nvPr/>
        </p:nvSpPr>
        <p:spPr>
          <a:xfrm>
            <a:off x="2606040" y="1618488"/>
            <a:ext cx="411480" cy="0"/>
          </a:xfrm>
          <a:prstGeom prst="line">
            <a:avLst/>
          </a:prstGeom>
          <a:noFill/>
          <a:ln w="22225">
            <a:solidFill>
              <a:srgbClr val="7D6A6B"/>
            </a:solidFill>
            <a:prstDash val="solid"/>
            <a:tailEnd type="triangle"/>
          </a:ln>
        </p:spPr>
      </p:sp>
      <p:sp>
        <p:nvSpPr>
          <p:cNvPr id="9" name="Shape 7"/>
          <p:cNvSpPr/>
          <p:nvPr/>
        </p:nvSpPr>
        <p:spPr>
          <a:xfrm>
            <a:off x="3063240" y="1188720"/>
            <a:ext cx="2651760" cy="868680"/>
          </a:xfrm>
          <a:prstGeom prst="roundRect">
            <a:avLst>
              <a:gd name="adj" fmla="val 8421"/>
            </a:avLst>
          </a:prstGeom>
          <a:solidFill>
            <a:srgbClr val="548687"/>
          </a:solidFill>
          <a:ln w="12700">
            <a:solidFill>
              <a:srgbClr val="548687"/>
            </a:solidFill>
            <a:prstDash val="solid"/>
          </a:ln>
        </p:spPr>
      </p:sp>
      <p:sp>
        <p:nvSpPr>
          <p:cNvPr id="10" name="Text 8"/>
          <p:cNvSpPr txBox="1"/>
          <p:nvPr/>
        </p:nvSpPr>
        <p:spPr>
          <a:xfrm>
            <a:off x="3063240" y="1188720"/>
            <a:ext cx="265176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Compile guarded fast path</a:t>
            </a:r>
            <a:endParaRPr lang="en-US" sz="1200" dirty="0"/>
          </a:p>
          <a:p>
            <a:pPr algn="ctr" indent="0" marL="0">
              <a:buNone/>
            </a:pPr>
            <a:r>
              <a:rPr lang="en-US" sz="1050" dirty="0">
                <a:solidFill>
                  <a:srgbClr val="FFFFFF"/>
                </a:solidFill>
                <a:latin typeface="Courier New" pitchFamily="34" charset="0"/>
                <a:ea typeface="Courier New" pitchFamily="34" charset="-122"/>
                <a:cs typeface="Courier New" pitchFamily="34" charset="-120"/>
              </a:rPr>
              <a:t>if shape == A: read slot 1</a:t>
            </a:r>
            <a:endParaRPr lang="en-US" sz="1200" dirty="0"/>
          </a:p>
        </p:txBody>
      </p:sp>
      <p:sp>
        <p:nvSpPr>
          <p:cNvPr id="11" name="Shape 9"/>
          <p:cNvSpPr/>
          <p:nvPr/>
        </p:nvSpPr>
        <p:spPr>
          <a:xfrm>
            <a:off x="4389120" y="2103120"/>
            <a:ext cx="0" cy="365760"/>
          </a:xfrm>
          <a:prstGeom prst="line">
            <a:avLst/>
          </a:prstGeom>
          <a:noFill/>
          <a:ln w="22225">
            <a:solidFill>
              <a:srgbClr val="7D6A6B"/>
            </a:solidFill>
            <a:prstDash val="solid"/>
            <a:tailEnd type="triangle"/>
          </a:ln>
        </p:spPr>
      </p:sp>
      <p:sp>
        <p:nvSpPr>
          <p:cNvPr id="12" name="Shape 10"/>
          <p:cNvSpPr/>
          <p:nvPr/>
        </p:nvSpPr>
        <p:spPr>
          <a:xfrm>
            <a:off x="3474720" y="2514600"/>
            <a:ext cx="1828800" cy="548640"/>
          </a:xfrm>
          <a:prstGeom prst="roundRect">
            <a:avLst>
              <a:gd name="adj" fmla="val 13333"/>
            </a:avLst>
          </a:prstGeom>
          <a:solidFill>
            <a:srgbClr val="E5BE9E"/>
          </a:solidFill>
          <a:ln w="12700">
            <a:solidFill>
              <a:srgbClr val="E5BE9E"/>
            </a:solidFill>
            <a:prstDash val="solid"/>
          </a:ln>
        </p:spPr>
      </p:sp>
      <p:sp>
        <p:nvSpPr>
          <p:cNvPr id="13" name="Text 11"/>
          <p:cNvSpPr txBox="1"/>
          <p:nvPr/>
        </p:nvSpPr>
        <p:spPr>
          <a:xfrm>
            <a:off x="3474720" y="2514600"/>
            <a:ext cx="182880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Guard holds?</a:t>
            </a:r>
            <a:endParaRPr lang="en-US" sz="1200" dirty="0"/>
          </a:p>
        </p:txBody>
      </p:sp>
      <p:sp>
        <p:nvSpPr>
          <p:cNvPr id="14" name="Shape 12"/>
          <p:cNvSpPr/>
          <p:nvPr/>
        </p:nvSpPr>
        <p:spPr>
          <a:xfrm flipH="1">
            <a:off x="2606040" y="2788920"/>
            <a:ext cx="822960" cy="0"/>
          </a:xfrm>
          <a:prstGeom prst="line">
            <a:avLst/>
          </a:prstGeom>
          <a:noFill/>
          <a:ln w="22225">
            <a:solidFill>
              <a:srgbClr val="7D6A6B"/>
            </a:solidFill>
            <a:prstDash val="solid"/>
            <a:tailEnd type="triangle"/>
          </a:ln>
        </p:spPr>
      </p:sp>
      <p:sp>
        <p:nvSpPr>
          <p:cNvPr id="15" name="Text 13"/>
          <p:cNvSpPr txBox="1"/>
          <p:nvPr/>
        </p:nvSpPr>
        <p:spPr>
          <a:xfrm>
            <a:off x="2651760" y="2487168"/>
            <a:ext cx="54864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yes</a:t>
            </a:r>
            <a:endParaRPr lang="en-US" sz="1000" dirty="0"/>
          </a:p>
        </p:txBody>
      </p:sp>
      <p:sp>
        <p:nvSpPr>
          <p:cNvPr id="16" name="Shape 14"/>
          <p:cNvSpPr/>
          <p:nvPr/>
        </p:nvSpPr>
        <p:spPr>
          <a:xfrm>
            <a:off x="457200" y="2514600"/>
            <a:ext cx="2103120" cy="548640"/>
          </a:xfrm>
          <a:prstGeom prst="roundRect">
            <a:avLst>
              <a:gd name="adj" fmla="val 13333"/>
            </a:avLst>
          </a:prstGeom>
          <a:solidFill>
            <a:srgbClr val="E6F8FF"/>
          </a:solidFill>
          <a:ln w="12700">
            <a:solidFill>
              <a:srgbClr val="E6F8FF"/>
            </a:solidFill>
            <a:prstDash val="solid"/>
          </a:ln>
        </p:spPr>
      </p:sp>
      <p:sp>
        <p:nvSpPr>
          <p:cNvPr id="17" name="Text 15"/>
          <p:cNvSpPr txBox="1"/>
          <p:nvPr/>
        </p:nvSpPr>
        <p:spPr>
          <a:xfrm>
            <a:off x="457200" y="2514600"/>
            <a:ext cx="210312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Direct read — fastest</a:t>
            </a:r>
            <a:endParaRPr lang="en-US" sz="1200" dirty="0"/>
          </a:p>
        </p:txBody>
      </p:sp>
      <p:sp>
        <p:nvSpPr>
          <p:cNvPr id="18" name="Shape 16"/>
          <p:cNvSpPr/>
          <p:nvPr/>
        </p:nvSpPr>
        <p:spPr>
          <a:xfrm>
            <a:off x="4389120" y="3108960"/>
            <a:ext cx="0" cy="365760"/>
          </a:xfrm>
          <a:prstGeom prst="line">
            <a:avLst/>
          </a:prstGeom>
          <a:noFill/>
          <a:ln w="22225">
            <a:solidFill>
              <a:srgbClr val="7D6A6B"/>
            </a:solidFill>
            <a:prstDash val="solid"/>
            <a:tailEnd type="triangle"/>
          </a:ln>
        </p:spPr>
      </p:sp>
      <p:sp>
        <p:nvSpPr>
          <p:cNvPr id="19" name="Text 17"/>
          <p:cNvSpPr txBox="1"/>
          <p:nvPr/>
        </p:nvSpPr>
        <p:spPr>
          <a:xfrm>
            <a:off x="4480560" y="3127248"/>
            <a:ext cx="45720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no</a:t>
            </a:r>
            <a:endParaRPr lang="en-US" sz="1000" dirty="0"/>
          </a:p>
        </p:txBody>
      </p:sp>
      <p:sp>
        <p:nvSpPr>
          <p:cNvPr id="20" name="Shape 18"/>
          <p:cNvSpPr/>
          <p:nvPr/>
        </p:nvSpPr>
        <p:spPr>
          <a:xfrm>
            <a:off x="2377440" y="3520440"/>
            <a:ext cx="4023360" cy="1051560"/>
          </a:xfrm>
          <a:prstGeom prst="roundRect">
            <a:avLst>
              <a:gd name="adj" fmla="val 6957"/>
            </a:avLst>
          </a:prstGeom>
          <a:solidFill>
            <a:srgbClr val="513B3C"/>
          </a:solidFill>
          <a:ln w="12700">
            <a:solidFill>
              <a:srgbClr val="513B3C"/>
            </a:solidFill>
            <a:prstDash val="solid"/>
          </a:ln>
        </p:spPr>
      </p:sp>
      <p:sp>
        <p:nvSpPr>
          <p:cNvPr id="21" name="Text 19"/>
          <p:cNvSpPr txBox="1"/>
          <p:nvPr/>
        </p:nvSpPr>
        <p:spPr>
          <a:xfrm>
            <a:off x="2514600" y="3566160"/>
            <a:ext cx="3749040" cy="960120"/>
          </a:xfrm>
          <a:prstGeom prst="rect">
            <a:avLst/>
          </a:prstGeom>
          <a:noFill/>
          <a:ln/>
        </p:spPr>
        <p:txBody>
          <a:bodyPr wrap="square" lIns="0" tIns="0" rIns="0" bIns="0" rtlCol="0" anchor="ctr"/>
          <a:lstStyle/>
          <a:p>
            <a:pPr indent="0" marL="0">
              <a:buNone/>
            </a:pPr>
            <a:r>
              <a:rPr lang="en-US" sz="1150" b="1" dirty="0">
                <a:solidFill>
                  <a:srgbClr val="E1B07E"/>
                </a:solidFill>
                <a:latin typeface="Calibri" pitchFamily="34" charset="0"/>
                <a:ea typeface="Calibri" pitchFamily="34" charset="-122"/>
                <a:cs typeface="Calibri" pitchFamily="34" charset="-120"/>
              </a:rPr>
              <a:t>Deoptimise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1. Discard compiled code   2. Hard-reset IC → UNINIT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3. Redo the access through the interpreter + IC</a:t>
            </a:r>
            <a:endParaRPr lang="en-US" sz="1150" dirty="0"/>
          </a:p>
        </p:txBody>
      </p:sp>
      <p:sp>
        <p:nvSpPr>
          <p:cNvPr id="22" name="Text 20"/>
          <p:cNvSpPr txBox="1"/>
          <p:nvPr/>
        </p:nvSpPr>
        <p:spPr>
          <a:xfrm>
            <a:off x="6675120" y="1143000"/>
            <a:ext cx="2103120" cy="457200"/>
          </a:xfrm>
          <a:prstGeom prst="rect">
            <a:avLst/>
          </a:prstGeom>
          <a:noFill/>
          <a:ln/>
        </p:spPr>
        <p:txBody>
          <a:bodyPr wrap="square" lIns="0" tIns="0" rIns="0" bIns="0" rtlCol="0" anchor="t"/>
          <a:lstStyle/>
          <a:p>
            <a:pPr indent="0" marL="0">
              <a:buNone/>
            </a:pPr>
            <a:r>
              <a:rPr lang="en-US" sz="1100" b="1" dirty="0">
                <a:solidFill>
                  <a:srgbClr val="513B3C"/>
                </a:solidFill>
                <a:latin typeface="Calibri" pitchFamily="34" charset="0"/>
                <a:ea typeface="Calibri" pitchFamily="34" charset="-122"/>
                <a:cs typeface="Calibri" pitchFamily="34" charset="-120"/>
              </a:rPr>
              <a:t>IC5: 50 shape-A objects, then 50 shape-B</a:t>
            </a:r>
            <a:endParaRPr lang="en-US" sz="1100" dirty="0"/>
          </a:p>
        </p:txBody>
      </p:sp>
      <p:sp>
        <p:nvSpPr>
          <p:cNvPr id="23" name="Text 21"/>
          <p:cNvSpPr txBox="1"/>
          <p:nvPr/>
        </p:nvSpPr>
        <p:spPr>
          <a:xfrm>
            <a:off x="6675120" y="164592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1</a:t>
            </a:r>
            <a:endParaRPr lang="en-US" sz="2400" dirty="0"/>
          </a:p>
        </p:txBody>
      </p:sp>
      <p:sp>
        <p:nvSpPr>
          <p:cNvPr id="24" name="Text 22"/>
          <p:cNvSpPr txBox="1"/>
          <p:nvPr/>
        </p:nvSpPr>
        <p:spPr>
          <a:xfrm>
            <a:off x="6675120" y="201168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deopt, at the first B</a:t>
            </a:r>
            <a:endParaRPr lang="en-US" sz="1050" dirty="0"/>
          </a:p>
        </p:txBody>
      </p:sp>
      <p:sp>
        <p:nvSpPr>
          <p:cNvPr id="25" name="Text 23"/>
          <p:cNvSpPr txBox="1"/>
          <p:nvPr/>
        </p:nvSpPr>
        <p:spPr>
          <a:xfrm>
            <a:off x="6675120" y="2377440"/>
            <a:ext cx="2011680" cy="384048"/>
          </a:xfrm>
          <a:prstGeom prst="rect">
            <a:avLst/>
          </a:prstGeom>
          <a:noFill/>
          <a:ln/>
        </p:spPr>
        <p:txBody>
          <a:bodyPr wrap="square" lIns="0" tIns="0" rIns="0" bIns="0" rtlCol="0" anchor="ctr"/>
          <a:lstStyle/>
          <a:p>
            <a:pPr indent="0" marL="0">
              <a:buNone/>
            </a:pPr>
            <a:r>
              <a:rPr lang="en-US" sz="1800" b="1" dirty="0">
                <a:solidFill>
                  <a:srgbClr val="548687"/>
                </a:solidFill>
                <a:latin typeface="Cambria" pitchFamily="34" charset="0"/>
                <a:ea typeface="Cambria" pitchFamily="34" charset="-122"/>
                <a:cs typeface="Cambria" pitchFamily="34" charset="-120"/>
              </a:rPr>
              <a:t>UNINIT</a:t>
            </a:r>
            <a:endParaRPr lang="en-US" sz="1800" dirty="0"/>
          </a:p>
        </p:txBody>
      </p:sp>
      <p:sp>
        <p:nvSpPr>
          <p:cNvPr id="26" name="Text 24"/>
          <p:cNvSpPr txBox="1"/>
          <p:nvPr/>
        </p:nvSpPr>
        <p:spPr>
          <a:xfrm>
            <a:off x="6675120" y="274320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state right after reset</a:t>
            </a:r>
            <a:endParaRPr lang="en-US" sz="1050" dirty="0"/>
          </a:p>
        </p:txBody>
      </p:sp>
      <p:sp>
        <p:nvSpPr>
          <p:cNvPr id="27" name="Text 25"/>
          <p:cNvSpPr txBox="1"/>
          <p:nvPr/>
        </p:nvSpPr>
        <p:spPr>
          <a:xfrm>
            <a:off x="6675120" y="310896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92</a:t>
            </a:r>
            <a:endParaRPr lang="en-US" sz="2400" dirty="0"/>
          </a:p>
        </p:txBody>
      </p:sp>
      <p:sp>
        <p:nvSpPr>
          <p:cNvPr id="28" name="Text 26"/>
          <p:cNvSpPr txBox="1"/>
          <p:nvPr/>
        </p:nvSpPr>
        <p:spPr>
          <a:xfrm>
            <a:off x="6675120" y="347472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fast-path reads</a:t>
            </a:r>
            <a:endParaRPr lang="en-US" sz="1050" dirty="0"/>
          </a:p>
        </p:txBody>
      </p:sp>
      <p:sp>
        <p:nvSpPr>
          <p:cNvPr id="29" name="Text 27"/>
          <p:cNvSpPr txBox="1"/>
          <p:nvPr/>
        </p:nvSpPr>
        <p:spPr>
          <a:xfrm>
            <a:off x="6675120" y="384048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0</a:t>
            </a:r>
            <a:endParaRPr lang="en-US" sz="2400" dirty="0"/>
          </a:p>
        </p:txBody>
      </p:sp>
      <p:sp>
        <p:nvSpPr>
          <p:cNvPr id="30" name="Text 28"/>
          <p:cNvSpPr txBox="1"/>
          <p:nvPr/>
        </p:nvSpPr>
        <p:spPr>
          <a:xfrm>
            <a:off x="6675120" y="420624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mismatches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21</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Megamorphic cache tuning</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846320" cy="512064"/>
          </a:xfrm>
          <a:prstGeom prst="roundRect">
            <a:avLst>
              <a:gd name="adj" fmla="val 14286"/>
            </a:avLst>
          </a:prstGeom>
          <a:solidFill>
            <a:srgbClr val="E6F8FF"/>
          </a:solidFill>
          <a:ln w="12700">
            <a:solidFill>
              <a:srgbClr val="E6F8FF"/>
            </a:solidFill>
            <a:prstDash val="solid"/>
          </a:ln>
        </p:spPr>
      </p:sp>
      <p:sp>
        <p:nvSpPr>
          <p:cNvPr id="7" name="Text 5"/>
          <p:cNvSpPr txBox="1"/>
          <p:nvPr/>
        </p:nvSpPr>
        <p:spPr>
          <a:xfrm>
            <a:off x="640080" y="1188720"/>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4 slots, FIFO (Review 2 setting) · 25% hits</a:t>
            </a:r>
            <a:endParaRPr lang="en-US" sz="1200" dirty="0"/>
          </a:p>
        </p:txBody>
      </p:sp>
      <p:sp>
        <p:nvSpPr>
          <p:cNvPr id="8" name="Shape 6"/>
          <p:cNvSpPr/>
          <p:nvPr/>
        </p:nvSpPr>
        <p:spPr>
          <a:xfrm>
            <a:off x="4069080" y="1289304"/>
            <a:ext cx="1097280" cy="310896"/>
          </a:xfrm>
          <a:prstGeom prst="roundRect">
            <a:avLst>
              <a:gd name="adj" fmla="val 23529"/>
            </a:avLst>
          </a:prstGeom>
          <a:solidFill>
            <a:srgbClr val="E1B07E"/>
          </a:solidFill>
          <a:ln w="12700">
            <a:solidFill>
              <a:srgbClr val="E1B07E"/>
            </a:solidFill>
            <a:prstDash val="solid"/>
          </a:ln>
        </p:spPr>
      </p:sp>
      <p:sp>
        <p:nvSpPr>
          <p:cNvPr id="9" name="Text 7"/>
          <p:cNvSpPr txBox="1"/>
          <p:nvPr/>
        </p:nvSpPr>
        <p:spPr>
          <a:xfrm>
            <a:off x="4069080" y="1289304"/>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0.98×</a:t>
            </a:r>
            <a:endParaRPr lang="en-US" sz="1050" dirty="0"/>
          </a:p>
        </p:txBody>
      </p:sp>
      <p:sp>
        <p:nvSpPr>
          <p:cNvPr id="10" name="Shape 8"/>
          <p:cNvSpPr/>
          <p:nvPr/>
        </p:nvSpPr>
        <p:spPr>
          <a:xfrm>
            <a:off x="457200" y="1810512"/>
            <a:ext cx="4846320" cy="512064"/>
          </a:xfrm>
          <a:prstGeom prst="roundRect">
            <a:avLst>
              <a:gd name="adj" fmla="val 14286"/>
            </a:avLst>
          </a:prstGeom>
          <a:solidFill>
            <a:srgbClr val="E6F8FF"/>
          </a:solidFill>
          <a:ln w="12700">
            <a:solidFill>
              <a:srgbClr val="E6F8FF"/>
            </a:solidFill>
            <a:prstDash val="solid"/>
          </a:ln>
        </p:spPr>
      </p:sp>
      <p:sp>
        <p:nvSpPr>
          <p:cNvPr id="11" name="Text 9"/>
          <p:cNvSpPr txBox="1"/>
          <p:nvPr/>
        </p:nvSpPr>
        <p:spPr>
          <a:xfrm>
            <a:off x="640080" y="1810512"/>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4 slots, LRU · 25% hits</a:t>
            </a:r>
            <a:endParaRPr lang="en-US" sz="1200" dirty="0"/>
          </a:p>
        </p:txBody>
      </p:sp>
      <p:sp>
        <p:nvSpPr>
          <p:cNvPr id="12" name="Shape 10"/>
          <p:cNvSpPr/>
          <p:nvPr/>
        </p:nvSpPr>
        <p:spPr>
          <a:xfrm>
            <a:off x="4069080" y="1911096"/>
            <a:ext cx="1097280" cy="310896"/>
          </a:xfrm>
          <a:prstGeom prst="roundRect">
            <a:avLst>
              <a:gd name="adj" fmla="val 23529"/>
            </a:avLst>
          </a:prstGeom>
          <a:solidFill>
            <a:srgbClr val="E1B07E"/>
          </a:solidFill>
          <a:ln w="12700">
            <a:solidFill>
              <a:srgbClr val="E1B07E"/>
            </a:solidFill>
            <a:prstDash val="solid"/>
          </a:ln>
        </p:spPr>
      </p:sp>
      <p:sp>
        <p:nvSpPr>
          <p:cNvPr id="13" name="Text 11"/>
          <p:cNvSpPr txBox="1"/>
          <p:nvPr/>
        </p:nvSpPr>
        <p:spPr>
          <a:xfrm>
            <a:off x="4069080" y="1911096"/>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0.99×</a:t>
            </a:r>
            <a:endParaRPr lang="en-US" sz="1050" dirty="0"/>
          </a:p>
        </p:txBody>
      </p:sp>
      <p:sp>
        <p:nvSpPr>
          <p:cNvPr id="14" name="Shape 12"/>
          <p:cNvSpPr/>
          <p:nvPr/>
        </p:nvSpPr>
        <p:spPr>
          <a:xfrm>
            <a:off x="457200" y="2432304"/>
            <a:ext cx="4846320" cy="512064"/>
          </a:xfrm>
          <a:prstGeom prst="roundRect">
            <a:avLst>
              <a:gd name="adj" fmla="val 14286"/>
            </a:avLst>
          </a:prstGeom>
          <a:solidFill>
            <a:srgbClr val="E6F8FF"/>
          </a:solidFill>
          <a:ln w="12700">
            <a:solidFill>
              <a:srgbClr val="E6F8FF"/>
            </a:solidFill>
            <a:prstDash val="solid"/>
          </a:ln>
        </p:spPr>
      </p:sp>
      <p:sp>
        <p:nvSpPr>
          <p:cNvPr id="15" name="Text 13"/>
          <p:cNvSpPr txBox="1"/>
          <p:nvPr/>
        </p:nvSpPr>
        <p:spPr>
          <a:xfrm>
            <a:off x="640080" y="2432304"/>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8 slots, FIFO or LRU · 50% hits</a:t>
            </a:r>
            <a:endParaRPr lang="en-US" sz="1200" dirty="0"/>
          </a:p>
        </p:txBody>
      </p:sp>
      <p:sp>
        <p:nvSpPr>
          <p:cNvPr id="16" name="Shape 14"/>
          <p:cNvSpPr/>
          <p:nvPr/>
        </p:nvSpPr>
        <p:spPr>
          <a:xfrm>
            <a:off x="4069080" y="2532888"/>
            <a:ext cx="1097280" cy="310896"/>
          </a:xfrm>
          <a:prstGeom prst="roundRect">
            <a:avLst>
              <a:gd name="adj" fmla="val 23529"/>
            </a:avLst>
          </a:prstGeom>
          <a:solidFill>
            <a:srgbClr val="548687"/>
          </a:solidFill>
          <a:ln w="12700">
            <a:solidFill>
              <a:srgbClr val="548687"/>
            </a:solidFill>
            <a:prstDash val="solid"/>
          </a:ln>
        </p:spPr>
      </p:sp>
      <p:sp>
        <p:nvSpPr>
          <p:cNvPr id="17" name="Text 15"/>
          <p:cNvSpPr txBox="1"/>
          <p:nvPr/>
        </p:nvSpPr>
        <p:spPr>
          <a:xfrm>
            <a:off x="4069080" y="2532888"/>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1.07×</a:t>
            </a:r>
            <a:endParaRPr lang="en-US" sz="1050" dirty="0"/>
          </a:p>
        </p:txBody>
      </p:sp>
      <p:sp>
        <p:nvSpPr>
          <p:cNvPr id="18" name="Shape 16"/>
          <p:cNvSpPr/>
          <p:nvPr/>
        </p:nvSpPr>
        <p:spPr>
          <a:xfrm>
            <a:off x="457200" y="3054096"/>
            <a:ext cx="4846320" cy="512064"/>
          </a:xfrm>
          <a:prstGeom prst="roundRect">
            <a:avLst>
              <a:gd name="adj" fmla="val 14286"/>
            </a:avLst>
          </a:prstGeom>
          <a:solidFill>
            <a:srgbClr val="E6F8FF"/>
          </a:solidFill>
          <a:ln w="12700">
            <a:solidFill>
              <a:srgbClr val="E6F8FF"/>
            </a:solidFill>
            <a:prstDash val="solid"/>
          </a:ln>
        </p:spPr>
      </p:sp>
      <p:sp>
        <p:nvSpPr>
          <p:cNvPr id="19" name="Text 17"/>
          <p:cNvSpPr txBox="1"/>
          <p:nvPr/>
        </p:nvSpPr>
        <p:spPr>
          <a:xfrm>
            <a:off x="640080" y="3054096"/>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16 slots, FIFO or LRU · 100% hits</a:t>
            </a:r>
            <a:endParaRPr lang="en-US" sz="1200" dirty="0"/>
          </a:p>
        </p:txBody>
      </p:sp>
      <p:sp>
        <p:nvSpPr>
          <p:cNvPr id="20" name="Shape 18"/>
          <p:cNvSpPr/>
          <p:nvPr/>
        </p:nvSpPr>
        <p:spPr>
          <a:xfrm>
            <a:off x="4069080" y="3154680"/>
            <a:ext cx="1097280" cy="310896"/>
          </a:xfrm>
          <a:prstGeom prst="roundRect">
            <a:avLst>
              <a:gd name="adj" fmla="val 23529"/>
            </a:avLst>
          </a:prstGeom>
          <a:solidFill>
            <a:srgbClr val="548687"/>
          </a:solidFill>
          <a:ln w="12700">
            <a:solidFill>
              <a:srgbClr val="548687"/>
            </a:solidFill>
            <a:prstDash val="solid"/>
          </a:ln>
        </p:spPr>
      </p:sp>
      <p:sp>
        <p:nvSpPr>
          <p:cNvPr id="21" name="Text 19"/>
          <p:cNvSpPr txBox="1"/>
          <p:nvPr/>
        </p:nvSpPr>
        <p:spPr>
          <a:xfrm>
            <a:off x="4069080" y="3154680"/>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1.49×</a:t>
            </a:r>
            <a:endParaRPr lang="en-US" sz="1050" dirty="0"/>
          </a:p>
        </p:txBody>
      </p:sp>
      <p:sp>
        <p:nvSpPr>
          <p:cNvPr id="22" name="Text 20"/>
          <p:cNvSpPr txBox="1"/>
          <p:nvPr/>
        </p:nvSpPr>
        <p:spPr>
          <a:xfrm>
            <a:off x="457200" y="3749040"/>
            <a:ext cx="484632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Speedup vs baseline · 16 shapes, 100,000 reads, seed 42 · 0 mismatches in every run (mega_tuning.py)</a:t>
            </a:r>
            <a:endParaRPr lang="en-US" sz="1100" dirty="0"/>
          </a:p>
        </p:txBody>
      </p:sp>
      <p:sp>
        <p:nvSpPr>
          <p:cNvPr id="23" name="Shape 21"/>
          <p:cNvSpPr/>
          <p:nvPr/>
        </p:nvSpPr>
        <p:spPr>
          <a:xfrm>
            <a:off x="5577840" y="1188720"/>
            <a:ext cx="3108960" cy="3383280"/>
          </a:xfrm>
          <a:prstGeom prst="roundRect">
            <a:avLst>
              <a:gd name="adj" fmla="val 2353"/>
            </a:avLst>
          </a:prstGeom>
          <a:solidFill>
            <a:srgbClr val="513B3C"/>
          </a:solidFill>
          <a:ln w="12700">
            <a:solidFill>
              <a:srgbClr val="513B3C"/>
            </a:solidFill>
            <a:prstDash val="solid"/>
          </a:ln>
        </p:spPr>
      </p:sp>
      <p:sp>
        <p:nvSpPr>
          <p:cNvPr id="24" name="Text 22"/>
          <p:cNvSpPr txBox="1"/>
          <p:nvPr/>
        </p:nvSpPr>
        <p:spPr>
          <a:xfrm>
            <a:off x="580644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FINDING</a:t>
            </a:r>
            <a:endParaRPr lang="en-US" sz="1100" dirty="0"/>
          </a:p>
        </p:txBody>
      </p:sp>
      <p:sp>
        <p:nvSpPr>
          <p:cNvPr id="25" name="Text 23"/>
          <p:cNvSpPr txBox="1"/>
          <p:nvPr/>
        </p:nvSpPr>
        <p:spPr>
          <a:xfrm>
            <a:off x="5806440" y="1600200"/>
            <a:ext cx="2743200"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Capacity matters; eviction policy doesn't</a:t>
            </a:r>
            <a:endParaRPr lang="en-US" sz="1600" dirty="0"/>
          </a:p>
        </p:txBody>
      </p:sp>
      <p:sp>
        <p:nvSpPr>
          <p:cNvPr id="26" name="Text 24"/>
          <p:cNvSpPr txBox="1"/>
          <p:nvPr/>
        </p:nvSpPr>
        <p:spPr>
          <a:xfrm>
            <a:off x="5806440" y="2194560"/>
            <a:ext cx="2743200" cy="64008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LRU and FIFO differ by at most 0.04× at every size. Only enough slots stops the misses.</a:t>
            </a:r>
            <a:endParaRPr lang="en-US" sz="1150" dirty="0"/>
          </a:p>
        </p:txBody>
      </p:sp>
      <p:sp>
        <p:nvSpPr>
          <p:cNvPr id="27" name="Text 25"/>
          <p:cNvSpPr txBox="1"/>
          <p:nvPr/>
        </p:nvSpPr>
        <p:spPr>
          <a:xfrm>
            <a:off x="5806440" y="29260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TRADE-OFF</a:t>
            </a:r>
            <a:endParaRPr lang="en-US" sz="1100" dirty="0"/>
          </a:p>
        </p:txBody>
      </p:sp>
      <p:sp>
        <p:nvSpPr>
          <p:cNvPr id="28" name="Text 26"/>
          <p:cNvSpPr txBox="1"/>
          <p:nvPr/>
        </p:nvSpPr>
        <p:spPr>
          <a:xfrm>
            <a:off x="5806440" y="3200400"/>
            <a:ext cx="2743200" cy="118872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A bigger table costs memory at every call site. Real engines such as V8 share one large megamorphic cache across all sites.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22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Conclusions and future work</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023360" cy="914400"/>
          </a:xfrm>
          <a:prstGeom prst="roundRect">
            <a:avLst>
              <a:gd name="adj" fmla="val 8000"/>
            </a:avLst>
          </a:prstGeom>
          <a:solidFill>
            <a:srgbClr val="C1EEFF"/>
          </a:solidFill>
          <a:ln w="12700">
            <a:solidFill>
              <a:srgbClr val="C1EEFF"/>
            </a:solidFill>
            <a:prstDash val="solid"/>
          </a:ln>
        </p:spPr>
      </p:sp>
      <p:sp>
        <p:nvSpPr>
          <p:cNvPr id="7" name="Shape 5"/>
          <p:cNvSpPr/>
          <p:nvPr/>
        </p:nvSpPr>
        <p:spPr>
          <a:xfrm>
            <a:off x="640080" y="1389888"/>
            <a:ext cx="512064" cy="512064"/>
          </a:xfrm>
          <a:prstGeom prst="ellipse">
            <a:avLst/>
          </a:prstGeom>
          <a:solidFill>
            <a:srgbClr val="548687"/>
          </a:solidFill>
          <a:ln w="12700">
            <a:solidFill>
              <a:srgbClr val="548687"/>
            </a:solidFill>
            <a:prstDash val="solid"/>
          </a:ln>
        </p:spPr>
      </p:sp>
      <p:sp>
        <p:nvSpPr>
          <p:cNvPr id="8" name="Text 6"/>
          <p:cNvSpPr txBox="1"/>
          <p:nvPr/>
        </p:nvSpPr>
        <p:spPr>
          <a:xfrm>
            <a:off x="64008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32588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Always correct</a:t>
            </a:r>
            <a:endParaRPr lang="en-US" sz="1300" dirty="0"/>
          </a:p>
        </p:txBody>
      </p:sp>
      <p:sp>
        <p:nvSpPr>
          <p:cNvPr id="10" name="Text 8"/>
          <p:cNvSpPr txBox="1"/>
          <p:nvPr/>
        </p:nvSpPr>
        <p:spPr>
          <a:xfrm>
            <a:off x="132588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0 mismatches · 18 / 18 runs match Node</a:t>
            </a:r>
            <a:endParaRPr lang="en-US" sz="1100" dirty="0"/>
          </a:p>
        </p:txBody>
      </p:sp>
      <p:sp>
        <p:nvSpPr>
          <p:cNvPr id="11" name="Shape 9"/>
          <p:cNvSpPr/>
          <p:nvPr/>
        </p:nvSpPr>
        <p:spPr>
          <a:xfrm>
            <a:off x="4663440" y="1188720"/>
            <a:ext cx="4023360" cy="914400"/>
          </a:xfrm>
          <a:prstGeom prst="roundRect">
            <a:avLst>
              <a:gd name="adj" fmla="val 8000"/>
            </a:avLst>
          </a:prstGeom>
          <a:solidFill>
            <a:srgbClr val="C1EEFF"/>
          </a:solidFill>
          <a:ln w="12700">
            <a:solidFill>
              <a:srgbClr val="C1EEFF"/>
            </a:solidFill>
            <a:prstDash val="solid"/>
          </a:ln>
        </p:spPr>
      </p:sp>
      <p:sp>
        <p:nvSpPr>
          <p:cNvPr id="12" name="Shape 10"/>
          <p:cNvSpPr/>
          <p:nvPr/>
        </p:nvSpPr>
        <p:spPr>
          <a:xfrm>
            <a:off x="4846320" y="1389888"/>
            <a:ext cx="512064" cy="512064"/>
          </a:xfrm>
          <a:prstGeom prst="ellipse">
            <a:avLst/>
          </a:prstGeom>
          <a:solidFill>
            <a:srgbClr val="548687"/>
          </a:solidFill>
          <a:ln w="12700">
            <a:solidFill>
              <a:srgbClr val="548687"/>
            </a:solidFill>
            <a:prstDash val="solid"/>
          </a:ln>
        </p:spPr>
      </p:sp>
      <p:sp>
        <p:nvSpPr>
          <p:cNvPr id="13" name="Text 11"/>
          <p:cNvSpPr txBox="1"/>
          <p:nvPr/>
        </p:nvSpPr>
        <p:spPr>
          <a:xfrm>
            <a:off x="484632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53212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Deopt keeps shortcuts safe</a:t>
            </a:r>
            <a:endParaRPr lang="en-US" sz="1300" dirty="0"/>
          </a:p>
        </p:txBody>
      </p:sp>
      <p:sp>
        <p:nvSpPr>
          <p:cNvPr id="15" name="Text 13"/>
          <p:cNvSpPr txBox="1"/>
          <p:nvPr/>
        </p:nvSpPr>
        <p:spPr>
          <a:xfrm>
            <a:off x="553212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IC5: 1 deopt, 0 wrong answers</a:t>
            </a:r>
            <a:endParaRPr lang="en-US" sz="1100" dirty="0"/>
          </a:p>
        </p:txBody>
      </p:sp>
      <p:sp>
        <p:nvSpPr>
          <p:cNvPr id="16" name="Shape 14"/>
          <p:cNvSpPr/>
          <p:nvPr/>
        </p:nvSpPr>
        <p:spPr>
          <a:xfrm>
            <a:off x="457200" y="2286000"/>
            <a:ext cx="4023360" cy="914400"/>
          </a:xfrm>
          <a:prstGeom prst="roundRect">
            <a:avLst>
              <a:gd name="adj" fmla="val 8000"/>
            </a:avLst>
          </a:prstGeom>
          <a:solidFill>
            <a:srgbClr val="E6F8FF"/>
          </a:solidFill>
          <a:ln w="12700">
            <a:solidFill>
              <a:srgbClr val="E6F8FF"/>
            </a:solidFill>
            <a:prstDash val="solid"/>
          </a:ln>
        </p:spPr>
      </p:sp>
      <p:sp>
        <p:nvSpPr>
          <p:cNvPr id="17" name="Shape 15"/>
          <p:cNvSpPr/>
          <p:nvPr/>
        </p:nvSpPr>
        <p:spPr>
          <a:xfrm>
            <a:off x="640080" y="2487168"/>
            <a:ext cx="512064" cy="512064"/>
          </a:xfrm>
          <a:prstGeom prst="ellipse">
            <a:avLst/>
          </a:prstGeom>
          <a:solidFill>
            <a:srgbClr val="548687"/>
          </a:solidFill>
          <a:ln w="12700">
            <a:solidFill>
              <a:srgbClr val="548687"/>
            </a:solidFill>
            <a:prstDash val="solid"/>
          </a:ln>
        </p:spPr>
      </p:sp>
      <p:sp>
        <p:nvSpPr>
          <p:cNvPr id="18" name="Text 16"/>
          <p:cNvSpPr txBox="1"/>
          <p:nvPr/>
        </p:nvSpPr>
        <p:spPr>
          <a:xfrm>
            <a:off x="64008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32588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Cache wins on wide objects</a:t>
            </a:r>
            <a:endParaRPr lang="en-US" sz="1300" dirty="0"/>
          </a:p>
        </p:txBody>
      </p:sp>
      <p:sp>
        <p:nvSpPr>
          <p:cNvPr id="20" name="Text 18"/>
          <p:cNvSpPr txBox="1"/>
          <p:nvPr/>
        </p:nvSpPr>
        <p:spPr>
          <a:xfrm>
            <a:off x="132588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2.23× at 200 fields · 1.46× at 32</a:t>
            </a:r>
            <a:endParaRPr lang="en-US" sz="1100" dirty="0"/>
          </a:p>
        </p:txBody>
      </p:sp>
      <p:sp>
        <p:nvSpPr>
          <p:cNvPr id="21" name="Shape 19"/>
          <p:cNvSpPr/>
          <p:nvPr/>
        </p:nvSpPr>
        <p:spPr>
          <a:xfrm>
            <a:off x="4663440" y="2286000"/>
            <a:ext cx="4023360" cy="914400"/>
          </a:xfrm>
          <a:prstGeom prst="roundRect">
            <a:avLst>
              <a:gd name="adj" fmla="val 8000"/>
            </a:avLst>
          </a:prstGeom>
          <a:solidFill>
            <a:srgbClr val="E6F8FF"/>
          </a:solidFill>
          <a:ln w="12700">
            <a:solidFill>
              <a:srgbClr val="E6F8FF"/>
            </a:solidFill>
            <a:prstDash val="solid"/>
          </a:ln>
        </p:spPr>
      </p:sp>
      <p:sp>
        <p:nvSpPr>
          <p:cNvPr id="22" name="Shape 20"/>
          <p:cNvSpPr/>
          <p:nvPr/>
        </p:nvSpPr>
        <p:spPr>
          <a:xfrm>
            <a:off x="4846320" y="2487168"/>
            <a:ext cx="512064" cy="512064"/>
          </a:xfrm>
          <a:prstGeom prst="ellipse">
            <a:avLst/>
          </a:prstGeom>
          <a:solidFill>
            <a:srgbClr val="548687"/>
          </a:solidFill>
          <a:ln w="12700">
            <a:solidFill>
              <a:srgbClr val="548687"/>
            </a:solidFill>
            <a:prstDash val="solid"/>
          </a:ln>
        </p:spPr>
      </p:sp>
      <p:sp>
        <p:nvSpPr>
          <p:cNvPr id="23" name="Text 21"/>
          <p:cNvSpPr txBox="1"/>
          <p:nvPr/>
        </p:nvSpPr>
        <p:spPr>
          <a:xfrm>
            <a:off x="484632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553212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Mega fixed by capacity</a:t>
            </a:r>
            <a:endParaRPr lang="en-US" sz="1300" dirty="0"/>
          </a:p>
        </p:txBody>
      </p:sp>
      <p:sp>
        <p:nvSpPr>
          <p:cNvPr id="25" name="Text 23"/>
          <p:cNvSpPr txBox="1"/>
          <p:nvPr/>
        </p:nvSpPr>
        <p:spPr>
          <a:xfrm>
            <a:off x="553212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16 slots: 25% → 100% hits, 1.49×</a:t>
            </a:r>
            <a:endParaRPr lang="en-US" sz="1100" dirty="0"/>
          </a:p>
        </p:txBody>
      </p:sp>
      <p:sp>
        <p:nvSpPr>
          <p:cNvPr id="26" name="Shape 24"/>
          <p:cNvSpPr/>
          <p:nvPr/>
        </p:nvSpPr>
        <p:spPr>
          <a:xfrm>
            <a:off x="457200" y="3383280"/>
            <a:ext cx="4023360" cy="914400"/>
          </a:xfrm>
          <a:prstGeom prst="roundRect">
            <a:avLst>
              <a:gd name="adj" fmla="val 8000"/>
            </a:avLst>
          </a:prstGeom>
          <a:solidFill>
            <a:srgbClr val="E6F8FF"/>
          </a:solidFill>
          <a:ln w="12700">
            <a:solidFill>
              <a:srgbClr val="E6F8FF"/>
            </a:solidFill>
            <a:prstDash val="solid"/>
          </a:ln>
        </p:spPr>
      </p:sp>
      <p:sp>
        <p:nvSpPr>
          <p:cNvPr id="27" name="Shape 25"/>
          <p:cNvSpPr/>
          <p:nvPr/>
        </p:nvSpPr>
        <p:spPr>
          <a:xfrm>
            <a:off x="640080" y="3584448"/>
            <a:ext cx="512064" cy="512064"/>
          </a:xfrm>
          <a:prstGeom prst="ellipse">
            <a:avLst/>
          </a:prstGeom>
          <a:solidFill>
            <a:srgbClr val="548687"/>
          </a:solidFill>
          <a:ln w="12700">
            <a:solidFill>
              <a:srgbClr val="548687"/>
            </a:solidFill>
            <a:prstDash val="solid"/>
          </a:ln>
        </p:spPr>
      </p:sp>
      <p:sp>
        <p:nvSpPr>
          <p:cNvPr id="28" name="Text 26"/>
          <p:cNvSpPr txBox="1"/>
          <p:nvPr/>
        </p:nvSpPr>
        <p:spPr>
          <a:xfrm>
            <a:off x="64008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txBox="1"/>
          <p:nvPr/>
        </p:nvSpPr>
        <p:spPr>
          <a:xfrm>
            <a:off x="132588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Future: native machine code</a:t>
            </a:r>
            <a:endParaRPr lang="en-US" sz="1300" dirty="0"/>
          </a:p>
        </p:txBody>
      </p:sp>
      <p:sp>
        <p:nvSpPr>
          <p:cNvPr id="30" name="Text 28"/>
          <p:cNvSpPr txBox="1"/>
          <p:nvPr/>
        </p:nvSpPr>
        <p:spPr>
          <a:xfrm>
            <a:off x="132588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emit guards and deopt with asmjit</a:t>
            </a:r>
            <a:endParaRPr lang="en-US" sz="1100" dirty="0"/>
          </a:p>
        </p:txBody>
      </p:sp>
      <p:sp>
        <p:nvSpPr>
          <p:cNvPr id="31" name="Shape 29"/>
          <p:cNvSpPr/>
          <p:nvPr/>
        </p:nvSpPr>
        <p:spPr>
          <a:xfrm>
            <a:off x="4663440" y="3383280"/>
            <a:ext cx="4023360" cy="914400"/>
          </a:xfrm>
          <a:prstGeom prst="roundRect">
            <a:avLst>
              <a:gd name="adj" fmla="val 8000"/>
            </a:avLst>
          </a:prstGeom>
          <a:solidFill>
            <a:srgbClr val="E6F8FF"/>
          </a:solidFill>
          <a:ln w="12700">
            <a:solidFill>
              <a:srgbClr val="E6F8FF"/>
            </a:solidFill>
            <a:prstDash val="solid"/>
          </a:ln>
        </p:spPr>
      </p:sp>
      <p:sp>
        <p:nvSpPr>
          <p:cNvPr id="32" name="Shape 30"/>
          <p:cNvSpPr/>
          <p:nvPr/>
        </p:nvSpPr>
        <p:spPr>
          <a:xfrm>
            <a:off x="4846320" y="3584448"/>
            <a:ext cx="512064" cy="512064"/>
          </a:xfrm>
          <a:prstGeom prst="ellipse">
            <a:avLst/>
          </a:prstGeom>
          <a:solidFill>
            <a:srgbClr val="548687"/>
          </a:solidFill>
          <a:ln w="12700">
            <a:solidFill>
              <a:srgbClr val="548687"/>
            </a:solidFill>
            <a:prstDash val="solid"/>
          </a:ln>
        </p:spPr>
      </p:sp>
      <p:sp>
        <p:nvSpPr>
          <p:cNvPr id="33" name="Text 31"/>
          <p:cNvSpPr txBox="1"/>
          <p:nvPr/>
        </p:nvSpPr>
        <p:spPr>
          <a:xfrm>
            <a:off x="484632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txBox="1"/>
          <p:nvPr/>
        </p:nvSpPr>
        <p:spPr>
          <a:xfrm>
            <a:off x="553212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Future: larger JavaScript subset</a:t>
            </a:r>
            <a:endParaRPr lang="en-US" sz="1300" dirty="0"/>
          </a:p>
        </p:txBody>
      </p:sp>
      <p:sp>
        <p:nvSpPr>
          <p:cNvPr id="35" name="Text 33"/>
          <p:cNvSpPr txBox="1"/>
          <p:nvPr/>
        </p:nvSpPr>
        <p:spPr>
          <a:xfrm>
            <a:off x="553212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functions, strings, field writes</a:t>
            </a:r>
            <a:endParaRPr lang="en-US" sz="1100" dirty="0"/>
          </a:p>
        </p:txBody>
      </p:sp>
      <p:sp>
        <p:nvSpPr>
          <p:cNvPr id="36" name="Text 34"/>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Tiles 1–4: what the project showed. Tiles 5–6: future work beyond its scope.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548640" y="1965960"/>
            <a:ext cx="5486400" cy="548640"/>
          </a:xfrm>
          <a:prstGeom prst="rect">
            <a:avLst/>
          </a:prstGeom>
          <a:noFill/>
          <a:ln/>
        </p:spPr>
        <p:txBody>
          <a:bodyPr wrap="square" lIns="0" tIns="0" rIns="0" bIns="0" rtlCol="0" anchor="ctr"/>
          <a:lstStyle/>
          <a:p>
            <a:pPr indent="0" marL="0">
              <a:buNone/>
            </a:pPr>
            <a:r>
              <a:rPr lang="en-US" sz="2200" dirty="0">
                <a:solidFill>
                  <a:srgbClr val="E5BE9E"/>
                </a:solidFill>
                <a:latin typeface="Calibri" pitchFamily="34" charset="0"/>
                <a:ea typeface="Calibri" pitchFamily="34" charset="-122"/>
                <a:cs typeface="Calibri" pitchFamily="34" charset="-120"/>
              </a:rPr>
              <a:t>Questions?</a:t>
            </a:r>
            <a:endParaRPr lang="en-US" sz="2200" dirty="0"/>
          </a:p>
        </p:txBody>
      </p:sp>
      <p:sp>
        <p:nvSpPr>
          <p:cNvPr id="4" name="Shape 2"/>
          <p:cNvSpPr/>
          <p:nvPr/>
        </p:nvSpPr>
        <p:spPr>
          <a:xfrm>
            <a:off x="548640" y="3017520"/>
            <a:ext cx="5669280" cy="1143000"/>
          </a:xfrm>
          <a:prstGeom prst="roundRect">
            <a:avLst>
              <a:gd name="adj" fmla="val 6400"/>
            </a:avLst>
          </a:prstGeom>
          <a:solidFill>
            <a:srgbClr val="5E4748"/>
          </a:solidFill>
          <a:ln w="12700">
            <a:solidFill>
              <a:srgbClr val="5E4748"/>
            </a:solidFill>
            <a:prstDash val="solid"/>
          </a:ln>
        </p:spPr>
      </p:sp>
      <p:sp>
        <p:nvSpPr>
          <p:cNvPr id="5" name="Text 3"/>
          <p:cNvSpPr txBox="1"/>
          <p:nvPr/>
        </p:nvSpPr>
        <p:spPr>
          <a:xfrm>
            <a:off x="777240" y="3127248"/>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LIVE DEMO</a:t>
            </a:r>
            <a:endParaRPr lang="en-US" sz="1100" dirty="0"/>
          </a:p>
        </p:txBody>
      </p:sp>
      <p:sp>
        <p:nvSpPr>
          <p:cNvPr id="6" name="Text 4"/>
          <p:cNvSpPr txBox="1"/>
          <p:nvPr/>
        </p:nvSpPr>
        <p:spPr>
          <a:xfrm>
            <a:off x="777240" y="3429000"/>
            <a:ext cx="5303520" cy="320040"/>
          </a:xfrm>
          <a:prstGeom prst="rect">
            <a:avLst/>
          </a:prstGeom>
          <a:noFill/>
          <a:ln/>
        </p:spPr>
        <p:txBody>
          <a:bodyPr wrap="square" lIns="0" tIns="0" rIns="0" bIns="0" rtlCol="0" anchor="ctr"/>
          <a:lstStyle/>
          <a:p>
            <a:pPr indent="0" marL="0">
              <a:buNone/>
            </a:pPr>
            <a:r>
              <a:rPr lang="en-US" sz="1500" b="1" dirty="0">
                <a:solidFill>
                  <a:srgbClr val="C1EEFF"/>
                </a:solidFill>
                <a:latin typeface="Courier New" pitchFamily="34" charset="0"/>
                <a:ea typeface="Courier New" pitchFamily="34" charset="-122"/>
                <a:cs typeface="Courier New" pitchFamily="34" charset="-120"/>
              </a:rPr>
              <a:t>python3 run_js.py examples/*.js</a:t>
            </a:r>
            <a:endParaRPr lang="en-US" sz="1500" dirty="0"/>
          </a:p>
        </p:txBody>
      </p:sp>
      <p:sp>
        <p:nvSpPr>
          <p:cNvPr id="7" name="Text 5"/>
          <p:cNvSpPr txBox="1"/>
          <p:nvPr/>
        </p:nvSpPr>
        <p:spPr>
          <a:xfrm>
            <a:off x="777240" y="3767328"/>
            <a:ext cx="5303520" cy="274320"/>
          </a:xfrm>
          <a:prstGeom prst="rect">
            <a:avLst/>
          </a:prstGeom>
          <a:noFill/>
          <a:ln/>
        </p:spPr>
        <p:txBody>
          <a:bodyPr wrap="square" lIns="0" tIns="0" rIns="0" bIns="0" rtlCol="0" anchor="ctr"/>
          <a:lstStyle/>
          <a:p>
            <a:pPr indent="0" marL="0">
              <a:buNone/>
            </a:pPr>
            <a:r>
              <a:rPr lang="en-US" sz="1200" dirty="0">
                <a:solidFill>
                  <a:srgbClr val="E5BE9E"/>
                </a:solidFill>
                <a:latin typeface="Calibri" pitchFamily="34" charset="0"/>
                <a:ea typeface="Calibri" pitchFamily="34" charset="-122"/>
                <a:cs typeface="Calibri" pitchFamily="34" charset="-120"/>
              </a:rPr>
              <a:t>also python3 demo.py  ·  17 / 17 tests  ·  6 JS programs identical to Node</a:t>
            </a:r>
            <a:endParaRPr lang="en-US" sz="1200" dirty="0"/>
          </a:p>
        </p:txBody>
      </p:sp>
      <p:sp>
        <p:nvSpPr>
          <p:cNvPr id="8" name="Shape 6"/>
          <p:cNvSpPr/>
          <p:nvPr/>
        </p:nvSpPr>
        <p:spPr>
          <a:xfrm>
            <a:off x="6766560" y="1371600"/>
            <a:ext cx="822960" cy="822960"/>
          </a:xfrm>
          <a:prstGeom prst="ellipse">
            <a:avLst/>
          </a:prstGeom>
          <a:solidFill>
            <a:srgbClr val="C1EEFF"/>
          </a:solidFill>
          <a:ln w="12700">
            <a:solidFill>
              <a:srgbClr val="C1EEFF"/>
            </a:solidFill>
            <a:prstDash val="solid"/>
          </a:ln>
        </p:spPr>
      </p:sp>
      <p:sp>
        <p:nvSpPr>
          <p:cNvPr id="9" name="Shape 7"/>
          <p:cNvSpPr/>
          <p:nvPr/>
        </p:nvSpPr>
        <p:spPr>
          <a:xfrm>
            <a:off x="7726680" y="1371600"/>
            <a:ext cx="822960" cy="822960"/>
          </a:xfrm>
          <a:prstGeom prst="ellipse">
            <a:avLst/>
          </a:prstGeom>
          <a:solidFill>
            <a:srgbClr val="548687"/>
          </a:solidFill>
          <a:ln w="12700">
            <a:solidFill>
              <a:srgbClr val="548687"/>
            </a:solidFill>
            <a:prstDash val="solid"/>
          </a:ln>
        </p:spPr>
      </p:sp>
      <p:sp>
        <p:nvSpPr>
          <p:cNvPr id="10" name="Shape 8"/>
          <p:cNvSpPr/>
          <p:nvPr/>
        </p:nvSpPr>
        <p:spPr>
          <a:xfrm>
            <a:off x="6766560" y="2331720"/>
            <a:ext cx="822960" cy="822960"/>
          </a:xfrm>
          <a:prstGeom prst="ellipse">
            <a:avLst/>
          </a:prstGeom>
          <a:solidFill>
            <a:srgbClr val="E1B07E"/>
          </a:solidFill>
          <a:ln w="12700">
            <a:solidFill>
              <a:srgbClr val="E1B07E"/>
            </a:solidFill>
            <a:prstDash val="solid"/>
          </a:ln>
        </p:spPr>
      </p:sp>
      <p:sp>
        <p:nvSpPr>
          <p:cNvPr id="11" name="Shape 9"/>
          <p:cNvSpPr/>
          <p:nvPr/>
        </p:nvSpPr>
        <p:spPr>
          <a:xfrm>
            <a:off x="7726680" y="2331720"/>
            <a:ext cx="822960" cy="822960"/>
          </a:xfrm>
          <a:prstGeom prst="ellipse">
            <a:avLst/>
          </a:prstGeom>
          <a:solidFill>
            <a:srgbClr val="E5BE9E"/>
          </a:solidFill>
          <a:ln w="12700">
            <a:solidFill>
              <a:srgbClr val="E5BE9E"/>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Compiling JavaScript to our bytecode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43000"/>
            <a:ext cx="3657600" cy="3429000"/>
          </a:xfrm>
          <a:prstGeom prst="roundRect">
            <a:avLst>
              <a:gd name="adj" fmla="val 2133"/>
            </a:avLst>
          </a:prstGeom>
          <a:solidFill>
            <a:srgbClr val="513B3C"/>
          </a:solidFill>
          <a:ln w="12700">
            <a:solidFill>
              <a:srgbClr val="513B3C"/>
            </a:solidFill>
            <a:prstDash val="solid"/>
          </a:ln>
        </p:spPr>
      </p:sp>
      <p:sp>
        <p:nvSpPr>
          <p:cNvPr id="7" name="Text 5"/>
          <p:cNvSpPr txBox="1"/>
          <p:nvPr/>
        </p:nvSpPr>
        <p:spPr>
          <a:xfrm>
            <a:off x="640080" y="128016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4</a:t>
            </a:r>
            <a:endParaRPr lang="en-US" sz="1050" dirty="0"/>
          </a:p>
        </p:txBody>
      </p:sp>
      <p:sp>
        <p:nvSpPr>
          <p:cNvPr id="8" name="Text 6"/>
          <p:cNvSpPr txBox="1"/>
          <p:nvPr/>
        </p:nvSpPr>
        <p:spPr>
          <a:xfrm>
            <a:off x="1097280" y="1280160"/>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LOAD 1</a:t>
            </a:r>
            <a:endParaRPr lang="en-US" sz="1100" dirty="0"/>
          </a:p>
        </p:txBody>
      </p:sp>
      <p:sp>
        <p:nvSpPr>
          <p:cNvPr id="9" name="Text 7"/>
          <p:cNvSpPr txBox="1"/>
          <p:nvPr/>
        </p:nvSpPr>
        <p:spPr>
          <a:xfrm>
            <a:off x="2514600" y="1280160"/>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 loop head: i</a:t>
            </a:r>
            <a:endParaRPr lang="en-US" sz="1000" dirty="0"/>
          </a:p>
        </p:txBody>
      </p:sp>
      <p:sp>
        <p:nvSpPr>
          <p:cNvPr id="10" name="Text 8"/>
          <p:cNvSpPr txBox="1"/>
          <p:nvPr/>
        </p:nvSpPr>
        <p:spPr>
          <a:xfrm>
            <a:off x="640080" y="154533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5</a:t>
            </a:r>
            <a:endParaRPr lang="en-US" sz="1050" dirty="0"/>
          </a:p>
        </p:txBody>
      </p:sp>
      <p:sp>
        <p:nvSpPr>
          <p:cNvPr id="11" name="Text 9"/>
          <p:cNvSpPr txBox="1"/>
          <p:nvPr/>
        </p:nvSpPr>
        <p:spPr>
          <a:xfrm>
            <a:off x="1097280" y="154533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20</a:t>
            </a:r>
            <a:endParaRPr lang="en-US" sz="1100" dirty="0"/>
          </a:p>
        </p:txBody>
      </p:sp>
      <p:sp>
        <p:nvSpPr>
          <p:cNvPr id="12" name="Text 10"/>
          <p:cNvSpPr txBox="1"/>
          <p:nvPr/>
        </p:nvSpPr>
        <p:spPr>
          <a:xfrm>
            <a:off x="2514600" y="154533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items.length</a:t>
            </a:r>
            <a:endParaRPr lang="en-US" sz="1000" dirty="0"/>
          </a:p>
        </p:txBody>
      </p:sp>
      <p:sp>
        <p:nvSpPr>
          <p:cNvPr id="13" name="Text 11"/>
          <p:cNvSpPr txBox="1"/>
          <p:nvPr/>
        </p:nvSpPr>
        <p:spPr>
          <a:xfrm>
            <a:off x="640080" y="181051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6</a:t>
            </a:r>
            <a:endParaRPr lang="en-US" sz="1050" dirty="0"/>
          </a:p>
        </p:txBody>
      </p:sp>
      <p:sp>
        <p:nvSpPr>
          <p:cNvPr id="14" name="Text 12"/>
          <p:cNvSpPr txBox="1"/>
          <p:nvPr/>
        </p:nvSpPr>
        <p:spPr>
          <a:xfrm>
            <a:off x="1097280" y="181051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LT</a:t>
            </a:r>
            <a:endParaRPr lang="en-US" sz="1100" dirty="0"/>
          </a:p>
        </p:txBody>
      </p:sp>
      <p:sp>
        <p:nvSpPr>
          <p:cNvPr id="15" name="Text 13"/>
          <p:cNvSpPr txBox="1"/>
          <p:nvPr/>
        </p:nvSpPr>
        <p:spPr>
          <a:xfrm>
            <a:off x="2514600" y="1810512"/>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&lt; length ?</a:t>
            </a:r>
            <a:endParaRPr lang="en-US" sz="1000" dirty="0"/>
          </a:p>
        </p:txBody>
      </p:sp>
      <p:sp>
        <p:nvSpPr>
          <p:cNvPr id="16" name="Text 14"/>
          <p:cNvSpPr txBox="1"/>
          <p:nvPr/>
        </p:nvSpPr>
        <p:spPr>
          <a:xfrm>
            <a:off x="640080" y="207568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7</a:t>
            </a:r>
            <a:endParaRPr lang="en-US" sz="1050" dirty="0"/>
          </a:p>
        </p:txBody>
      </p:sp>
      <p:sp>
        <p:nvSpPr>
          <p:cNvPr id="17" name="Text 15"/>
          <p:cNvSpPr txBox="1"/>
          <p:nvPr/>
        </p:nvSpPr>
        <p:spPr>
          <a:xfrm>
            <a:off x="1097280" y="207568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JZ 21</a:t>
            </a:r>
            <a:endParaRPr lang="en-US" sz="1100" dirty="0"/>
          </a:p>
        </p:txBody>
      </p:sp>
      <p:sp>
        <p:nvSpPr>
          <p:cNvPr id="18" name="Text 16"/>
          <p:cNvSpPr txBox="1"/>
          <p:nvPr/>
        </p:nvSpPr>
        <p:spPr>
          <a:xfrm>
            <a:off x="2514600" y="2075688"/>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exit loop</a:t>
            </a:r>
            <a:endParaRPr lang="en-US" sz="1000" dirty="0"/>
          </a:p>
        </p:txBody>
      </p:sp>
      <p:sp>
        <p:nvSpPr>
          <p:cNvPr id="19" name="Text 17"/>
          <p:cNvSpPr txBox="1"/>
          <p:nvPr/>
        </p:nvSpPr>
        <p:spPr>
          <a:xfrm>
            <a:off x="640080" y="234086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8</a:t>
            </a:r>
            <a:endParaRPr lang="en-US" sz="1050" dirty="0"/>
          </a:p>
        </p:txBody>
      </p:sp>
      <p:sp>
        <p:nvSpPr>
          <p:cNvPr id="20" name="Text 18"/>
          <p:cNvSpPr txBox="1"/>
          <p:nvPr/>
        </p:nvSpPr>
        <p:spPr>
          <a:xfrm>
            <a:off x="1097280" y="234086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0</a:t>
            </a:r>
            <a:endParaRPr lang="en-US" sz="1100" dirty="0"/>
          </a:p>
        </p:txBody>
      </p:sp>
      <p:sp>
        <p:nvSpPr>
          <p:cNvPr id="21" name="Text 19"/>
          <p:cNvSpPr txBox="1"/>
          <p:nvPr/>
        </p:nvSpPr>
        <p:spPr>
          <a:xfrm>
            <a:off x="2514600" y="2340864"/>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a:t>
            </a:r>
            <a:endParaRPr lang="en-US" sz="1000" dirty="0"/>
          </a:p>
        </p:txBody>
      </p:sp>
      <p:sp>
        <p:nvSpPr>
          <p:cNvPr id="22" name="Text 20"/>
          <p:cNvSpPr txBox="1"/>
          <p:nvPr/>
        </p:nvSpPr>
        <p:spPr>
          <a:xfrm>
            <a:off x="640080" y="260604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9</a:t>
            </a:r>
            <a:endParaRPr lang="en-US" sz="1050" dirty="0"/>
          </a:p>
        </p:txBody>
      </p:sp>
      <p:sp>
        <p:nvSpPr>
          <p:cNvPr id="23" name="Text 21"/>
          <p:cNvSpPr txBox="1"/>
          <p:nvPr/>
        </p:nvSpPr>
        <p:spPr>
          <a:xfrm>
            <a:off x="1097280" y="260604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0</a:t>
            </a:r>
            <a:endParaRPr lang="en-US" sz="1100" dirty="0"/>
          </a:p>
        </p:txBody>
      </p:sp>
      <p:sp>
        <p:nvSpPr>
          <p:cNvPr id="24" name="Text 22"/>
          <p:cNvSpPr txBox="1"/>
          <p:nvPr/>
        </p:nvSpPr>
        <p:spPr>
          <a:xfrm>
            <a:off x="2514600" y="260604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 starts at 0</a:t>
            </a:r>
            <a:endParaRPr lang="en-US" sz="1000" dirty="0"/>
          </a:p>
        </p:txBody>
      </p:sp>
      <p:sp>
        <p:nvSpPr>
          <p:cNvPr id="25" name="Text 23"/>
          <p:cNvSpPr txBox="1"/>
          <p:nvPr/>
        </p:nvSpPr>
        <p:spPr>
          <a:xfrm>
            <a:off x="640080" y="287121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10</a:t>
            </a:r>
            <a:endParaRPr lang="en-US" sz="1050" dirty="0"/>
          </a:p>
        </p:txBody>
      </p:sp>
      <p:sp>
        <p:nvSpPr>
          <p:cNvPr id="26" name="Text 24"/>
          <p:cNvSpPr txBox="1"/>
          <p:nvPr/>
        </p:nvSpPr>
        <p:spPr>
          <a:xfrm>
            <a:off x="1097280" y="287121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1</a:t>
            </a:r>
            <a:endParaRPr lang="en-US" sz="1100" dirty="0"/>
          </a:p>
        </p:txBody>
      </p:sp>
      <p:sp>
        <p:nvSpPr>
          <p:cNvPr id="27" name="Text 25"/>
          <p:cNvSpPr txBox="1"/>
          <p:nvPr/>
        </p:nvSpPr>
        <p:spPr>
          <a:xfrm>
            <a:off x="2514600" y="287121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a:t>
            </a:r>
            <a:endParaRPr lang="en-US" sz="1000" dirty="0"/>
          </a:p>
        </p:txBody>
      </p:sp>
      <p:sp>
        <p:nvSpPr>
          <p:cNvPr id="28" name="Text 26"/>
          <p:cNvSpPr txBox="1"/>
          <p:nvPr/>
        </p:nvSpPr>
        <p:spPr>
          <a:xfrm>
            <a:off x="640080" y="313639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11</a:t>
            </a:r>
            <a:endParaRPr lang="en-US" sz="1050" dirty="0"/>
          </a:p>
        </p:txBody>
      </p:sp>
      <p:sp>
        <p:nvSpPr>
          <p:cNvPr id="29" name="Text 27"/>
          <p:cNvSpPr txBox="1"/>
          <p:nvPr/>
        </p:nvSpPr>
        <p:spPr>
          <a:xfrm>
            <a:off x="1097280" y="313639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0" name="Text 28"/>
          <p:cNvSpPr txBox="1"/>
          <p:nvPr/>
        </p:nvSpPr>
        <p:spPr>
          <a:xfrm>
            <a:off x="2514600" y="3136392"/>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base + i</a:t>
            </a:r>
            <a:endParaRPr lang="en-US" sz="1000" dirty="0"/>
          </a:p>
        </p:txBody>
      </p:sp>
      <p:sp>
        <p:nvSpPr>
          <p:cNvPr id="31" name="Text 29"/>
          <p:cNvSpPr txBox="1"/>
          <p:nvPr/>
        </p:nvSpPr>
        <p:spPr>
          <a:xfrm>
            <a:off x="640080" y="340156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12</a:t>
            </a:r>
            <a:endParaRPr lang="en-US" sz="1050" dirty="0"/>
          </a:p>
        </p:txBody>
      </p:sp>
      <p:sp>
        <p:nvSpPr>
          <p:cNvPr id="32" name="Text 30"/>
          <p:cNvSpPr txBox="1"/>
          <p:nvPr/>
        </p:nvSpPr>
        <p:spPr>
          <a:xfrm>
            <a:off x="1097280" y="340156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LOADOBJ</a:t>
            </a:r>
            <a:endParaRPr lang="en-US" sz="1100" dirty="0"/>
          </a:p>
        </p:txBody>
      </p:sp>
      <p:sp>
        <p:nvSpPr>
          <p:cNvPr id="33" name="Text 31"/>
          <p:cNvSpPr txBox="1"/>
          <p:nvPr/>
        </p:nvSpPr>
        <p:spPr>
          <a:xfrm>
            <a:off x="2514600" y="3401568"/>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items[i]</a:t>
            </a:r>
            <a:endParaRPr lang="en-US" sz="1000" dirty="0"/>
          </a:p>
        </p:txBody>
      </p:sp>
      <p:sp>
        <p:nvSpPr>
          <p:cNvPr id="34" name="Text 32"/>
          <p:cNvSpPr txBox="1"/>
          <p:nvPr/>
        </p:nvSpPr>
        <p:spPr>
          <a:xfrm>
            <a:off x="640080" y="366674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13</a:t>
            </a:r>
            <a:endParaRPr lang="en-US" sz="1050" dirty="0"/>
          </a:p>
        </p:txBody>
      </p:sp>
      <p:sp>
        <p:nvSpPr>
          <p:cNvPr id="35" name="Text 33"/>
          <p:cNvSpPr txBox="1"/>
          <p:nvPr/>
        </p:nvSpPr>
        <p:spPr>
          <a:xfrm>
            <a:off x="1097280" y="3666744"/>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GETFIELD x</a:t>
            </a:r>
            <a:endParaRPr lang="en-US" sz="1100" dirty="0"/>
          </a:p>
        </p:txBody>
      </p:sp>
      <p:sp>
        <p:nvSpPr>
          <p:cNvPr id="36" name="Text 34"/>
          <p:cNvSpPr txBox="1"/>
          <p:nvPr/>
        </p:nvSpPr>
        <p:spPr>
          <a:xfrm>
            <a:off x="2514600" y="3666744"/>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.x  ← cached site</a:t>
            </a:r>
            <a:endParaRPr lang="en-US" sz="1000" dirty="0"/>
          </a:p>
        </p:txBody>
      </p:sp>
      <p:sp>
        <p:nvSpPr>
          <p:cNvPr id="37" name="Text 35"/>
          <p:cNvSpPr txBox="1"/>
          <p:nvPr/>
        </p:nvSpPr>
        <p:spPr>
          <a:xfrm>
            <a:off x="640080" y="393192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14</a:t>
            </a:r>
            <a:endParaRPr lang="en-US" sz="1050" dirty="0"/>
          </a:p>
        </p:txBody>
      </p:sp>
      <p:sp>
        <p:nvSpPr>
          <p:cNvPr id="38" name="Text 36"/>
          <p:cNvSpPr txBox="1"/>
          <p:nvPr/>
        </p:nvSpPr>
        <p:spPr>
          <a:xfrm>
            <a:off x="1097280" y="393192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9" name="Text 37"/>
          <p:cNvSpPr txBox="1"/>
          <p:nvPr/>
        </p:nvSpPr>
        <p:spPr>
          <a:xfrm>
            <a:off x="2514600" y="393192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 + …</a:t>
            </a:r>
            <a:endParaRPr lang="en-US" sz="1000" dirty="0"/>
          </a:p>
        </p:txBody>
      </p:sp>
      <p:sp>
        <p:nvSpPr>
          <p:cNvPr id="40" name="Text 38"/>
          <p:cNvSpPr txBox="1"/>
          <p:nvPr/>
        </p:nvSpPr>
        <p:spPr>
          <a:xfrm>
            <a:off x="640080" y="419709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15</a:t>
            </a:r>
            <a:endParaRPr lang="en-US" sz="1050" dirty="0"/>
          </a:p>
        </p:txBody>
      </p:sp>
      <p:sp>
        <p:nvSpPr>
          <p:cNvPr id="41" name="Text 39"/>
          <p:cNvSpPr txBox="1"/>
          <p:nvPr/>
        </p:nvSpPr>
        <p:spPr>
          <a:xfrm>
            <a:off x="1097280" y="419709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42" name="Text 40"/>
          <p:cNvSpPr txBox="1"/>
          <p:nvPr/>
        </p:nvSpPr>
        <p:spPr>
          <a:xfrm>
            <a:off x="2514600" y="419709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 = …</a:t>
            </a:r>
            <a:endParaRPr lang="en-US" sz="1000" dirty="0"/>
          </a:p>
        </p:txBody>
      </p:sp>
      <p:sp>
        <p:nvSpPr>
          <p:cNvPr id="43" name="Shape 41"/>
          <p:cNvSpPr/>
          <p:nvPr/>
        </p:nvSpPr>
        <p:spPr>
          <a:xfrm>
            <a:off x="4480560" y="1188720"/>
            <a:ext cx="457200" cy="457200"/>
          </a:xfrm>
          <a:prstGeom prst="ellipse">
            <a:avLst/>
          </a:prstGeom>
          <a:solidFill>
            <a:srgbClr val="548687"/>
          </a:solidFill>
          <a:ln w="12700">
            <a:solidFill>
              <a:srgbClr val="548687"/>
            </a:solidFill>
            <a:prstDash val="solid"/>
          </a:ln>
        </p:spPr>
      </p:sp>
      <p:sp>
        <p:nvSpPr>
          <p:cNvPr id="44" name="Text 42"/>
          <p:cNvSpPr txBox="1"/>
          <p:nvPr/>
        </p:nvSpPr>
        <p:spPr>
          <a:xfrm>
            <a:off x="448056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5" name="Text 43"/>
          <p:cNvSpPr txBox="1"/>
          <p:nvPr/>
        </p:nvSpPr>
        <p:spPr>
          <a:xfrm>
            <a:off x="5120640" y="117043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Tokenize</a:t>
            </a:r>
            <a:endParaRPr lang="en-US" sz="1400" dirty="0"/>
          </a:p>
        </p:txBody>
      </p:sp>
      <p:sp>
        <p:nvSpPr>
          <p:cNvPr id="46" name="Text 44"/>
          <p:cNvSpPr txBox="1"/>
          <p:nvPr/>
        </p:nvSpPr>
        <p:spPr>
          <a:xfrm>
            <a:off x="5120640" y="144475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A regex lexer splits the source into numbers, names and operators.</a:t>
            </a:r>
            <a:endParaRPr lang="en-US" sz="1150" dirty="0"/>
          </a:p>
        </p:txBody>
      </p:sp>
      <p:sp>
        <p:nvSpPr>
          <p:cNvPr id="47" name="Shape 45"/>
          <p:cNvSpPr/>
          <p:nvPr/>
        </p:nvSpPr>
        <p:spPr>
          <a:xfrm>
            <a:off x="4480560" y="2057400"/>
            <a:ext cx="457200" cy="457200"/>
          </a:xfrm>
          <a:prstGeom prst="ellipse">
            <a:avLst/>
          </a:prstGeom>
          <a:solidFill>
            <a:srgbClr val="548687"/>
          </a:solidFill>
          <a:ln w="12700">
            <a:solidFill>
              <a:srgbClr val="548687"/>
            </a:solidFill>
            <a:prstDash val="solid"/>
          </a:ln>
        </p:spPr>
      </p:sp>
      <p:sp>
        <p:nvSpPr>
          <p:cNvPr id="48" name="Text 46"/>
          <p:cNvSpPr txBox="1"/>
          <p:nvPr/>
        </p:nvSpPr>
        <p:spPr>
          <a:xfrm>
            <a:off x="4480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49" name="Text 47"/>
          <p:cNvSpPr txBox="1"/>
          <p:nvPr/>
        </p:nvSpPr>
        <p:spPr>
          <a:xfrm>
            <a:off x="5120640" y="203911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Parse &amp; emit</a:t>
            </a:r>
            <a:endParaRPr lang="en-US" sz="1400" dirty="0"/>
          </a:p>
        </p:txBody>
      </p:sp>
      <p:sp>
        <p:nvSpPr>
          <p:cNvPr id="50" name="Text 48"/>
          <p:cNvSpPr txBox="1"/>
          <p:nvPr/>
        </p:nvSpPr>
        <p:spPr>
          <a:xfrm>
            <a:off x="5120640" y="231343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A recursive-descent parser writes bytecode in one pass; jump targets are back-patched.</a:t>
            </a:r>
            <a:endParaRPr lang="en-US" sz="1150" dirty="0"/>
          </a:p>
        </p:txBody>
      </p:sp>
      <p:sp>
        <p:nvSpPr>
          <p:cNvPr id="51" name="Shape 49"/>
          <p:cNvSpPr/>
          <p:nvPr/>
        </p:nvSpPr>
        <p:spPr>
          <a:xfrm>
            <a:off x="4480560" y="2926080"/>
            <a:ext cx="457200" cy="457200"/>
          </a:xfrm>
          <a:prstGeom prst="ellipse">
            <a:avLst/>
          </a:prstGeom>
          <a:solidFill>
            <a:srgbClr val="548687"/>
          </a:solidFill>
          <a:ln w="12700">
            <a:solidFill>
              <a:srgbClr val="548687"/>
            </a:solidFill>
            <a:prstDash val="solid"/>
          </a:ln>
        </p:spPr>
      </p:sp>
      <p:sp>
        <p:nvSpPr>
          <p:cNvPr id="52" name="Text 50"/>
          <p:cNvSpPr txBox="1"/>
          <p:nvPr/>
        </p:nvSpPr>
        <p:spPr>
          <a:xfrm>
            <a:off x="4480560"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3" name="Text 51"/>
          <p:cNvSpPr txBox="1"/>
          <p:nvPr/>
        </p:nvSpPr>
        <p:spPr>
          <a:xfrm>
            <a:off x="5120640" y="290779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Lower</a:t>
            </a:r>
            <a:endParaRPr lang="en-US" sz="1400" dirty="0"/>
          </a:p>
        </p:txBody>
      </p:sp>
      <p:sp>
        <p:nvSpPr>
          <p:cNvPr id="54" name="Text 52"/>
          <p:cNvSpPr txBox="1"/>
          <p:nvPr/>
        </p:nvSpPr>
        <p:spPr>
          <a:xfrm>
            <a:off x="5120640" y="318211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Our ISA has no &gt;, == or %: they become LT / ADD / SUB / DIV with temp locals.</a:t>
            </a:r>
            <a:endParaRPr lang="en-US" sz="1150" dirty="0"/>
          </a:p>
        </p:txBody>
      </p:sp>
      <p:sp>
        <p:nvSpPr>
          <p:cNvPr id="55" name="Shape 53"/>
          <p:cNvSpPr/>
          <p:nvPr/>
        </p:nvSpPr>
        <p:spPr>
          <a:xfrm>
            <a:off x="4480560" y="3840480"/>
            <a:ext cx="4206240" cy="685800"/>
          </a:xfrm>
          <a:prstGeom prst="roundRect">
            <a:avLst>
              <a:gd name="adj" fmla="val 10667"/>
            </a:avLst>
          </a:prstGeom>
          <a:solidFill>
            <a:srgbClr val="C1EEFF"/>
          </a:solidFill>
          <a:ln w="12700">
            <a:solidFill>
              <a:srgbClr val="C1EEFF"/>
            </a:solidFill>
            <a:prstDash val="solid"/>
          </a:ln>
        </p:spPr>
      </p:sp>
      <p:sp>
        <p:nvSpPr>
          <p:cNvPr id="56" name="Text 54"/>
          <p:cNvSpPr txBox="1"/>
          <p:nvPr/>
        </p:nvSpPr>
        <p:spPr>
          <a:xfrm>
            <a:off x="4663440" y="3840480"/>
            <a:ext cx="3931920" cy="685800"/>
          </a:xfrm>
          <a:prstGeom prst="rect">
            <a:avLst/>
          </a:prstGeom>
          <a:noFill/>
          <a:ln/>
        </p:spPr>
        <p:txBody>
          <a:bodyPr wrap="square" lIns="0" tIns="0" rIns="0" bIns="0" rtlCol="0" anchor="ctr"/>
          <a:lstStyle/>
          <a:p>
            <a:pPr indent="0" marL="0">
              <a:buNone/>
            </a:pPr>
            <a:r>
              <a:rPr lang="en-US" sz="1150" b="1" dirty="0">
                <a:solidFill>
                  <a:srgbClr val="513B3C"/>
                </a:solidFill>
                <a:latin typeface="Calibri" pitchFamily="34" charset="0"/>
                <a:ea typeface="Calibri" pitchFamily="34" charset="-122"/>
                <a:cs typeface="Calibri" pitchFamily="34" charset="-120"/>
              </a:rPr>
              <a:t>jsc.py: </a:t>
            </a:r>
            <a:pPr indent="0" marL="0">
              <a:buNone/>
            </a:pPr>
            <a:r>
              <a:rPr lang="en-US" sz="1150" dirty="0">
                <a:solidFill>
                  <a:srgbClr val="513B3C"/>
                </a:solidFill>
                <a:latin typeface="Calibri" pitchFamily="34" charset="0"/>
                <a:ea typeface="Calibri" pitchFamily="34" charset="-122"/>
                <a:cs typeface="Calibri" pitchFamily="34" charset="-120"/>
              </a:rPr>
              <a:t>total += items[i].x;  inside a for loop (examples/deopt.js)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19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Every program checked against Node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737360"/>
            <a:ext cx="1828800" cy="914400"/>
          </a:xfrm>
          <a:prstGeom prst="roundRect">
            <a:avLst>
              <a:gd name="adj" fmla="val 8000"/>
            </a:avLst>
          </a:prstGeom>
          <a:solidFill>
            <a:srgbClr val="F6E7DB"/>
          </a:solidFill>
          <a:ln w="12700">
            <a:solidFill>
              <a:srgbClr val="F6E7DB"/>
            </a:solidFill>
            <a:prstDash val="solid"/>
          </a:ln>
        </p:spPr>
      </p:sp>
      <p:sp>
        <p:nvSpPr>
          <p:cNvPr id="7" name="Text 5"/>
          <p:cNvSpPr txBox="1"/>
          <p:nvPr/>
        </p:nvSpPr>
        <p:spPr>
          <a:xfrm>
            <a:off x="548640" y="1737360"/>
            <a:ext cx="164592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examples/*.js</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6 JavaScript programs</a:t>
            </a:r>
            <a:endParaRPr lang="en-US" sz="1200" dirty="0"/>
          </a:p>
        </p:txBody>
      </p:sp>
      <p:sp>
        <p:nvSpPr>
          <p:cNvPr id="8" name="Shape 6"/>
          <p:cNvSpPr/>
          <p:nvPr/>
        </p:nvSpPr>
        <p:spPr>
          <a:xfrm>
            <a:off x="2926080" y="1188720"/>
            <a:ext cx="2011680" cy="731520"/>
          </a:xfrm>
          <a:prstGeom prst="roundRect">
            <a:avLst>
              <a:gd name="adj" fmla="val 10000"/>
            </a:avLst>
          </a:prstGeom>
          <a:solidFill>
            <a:srgbClr val="E6F8FF"/>
          </a:solidFill>
          <a:ln w="12700">
            <a:solidFill>
              <a:srgbClr val="E6F8FF"/>
            </a:solidFill>
            <a:prstDash val="solid"/>
          </a:ln>
        </p:spPr>
      </p:sp>
      <p:sp>
        <p:nvSpPr>
          <p:cNvPr id="9" name="Text 7"/>
          <p:cNvSpPr txBox="1"/>
          <p:nvPr/>
        </p:nvSpPr>
        <p:spPr>
          <a:xfrm>
            <a:off x="2926080" y="1188720"/>
            <a:ext cx="2011680" cy="7315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Node.js (V8): reference</a:t>
            </a:r>
            <a:endParaRPr lang="en-US" sz="1200" dirty="0"/>
          </a:p>
        </p:txBody>
      </p:sp>
      <p:sp>
        <p:nvSpPr>
          <p:cNvPr id="10" name="Shape 8"/>
          <p:cNvSpPr/>
          <p:nvPr/>
        </p:nvSpPr>
        <p:spPr>
          <a:xfrm>
            <a:off x="2926080" y="2468880"/>
            <a:ext cx="2011680" cy="731520"/>
          </a:xfrm>
          <a:prstGeom prst="roundRect">
            <a:avLst>
              <a:gd name="adj" fmla="val 10000"/>
            </a:avLst>
          </a:prstGeom>
          <a:solidFill>
            <a:srgbClr val="548687"/>
          </a:solidFill>
          <a:ln w="12700">
            <a:solidFill>
              <a:srgbClr val="548687"/>
            </a:solidFill>
            <a:prstDash val="solid"/>
          </a:ln>
        </p:spPr>
      </p:sp>
      <p:sp>
        <p:nvSpPr>
          <p:cNvPr id="11" name="Text 9"/>
          <p:cNvSpPr txBox="1"/>
          <p:nvPr/>
        </p:nvSpPr>
        <p:spPr>
          <a:xfrm>
            <a:off x="2926080" y="2468880"/>
            <a:ext cx="2011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jsc.py → our VM, 3 modes</a:t>
            </a:r>
            <a:endParaRPr lang="en-US" sz="1200" dirty="0"/>
          </a:p>
        </p:txBody>
      </p:sp>
      <p:sp>
        <p:nvSpPr>
          <p:cNvPr id="12" name="Shape 10"/>
          <p:cNvSpPr/>
          <p:nvPr/>
        </p:nvSpPr>
        <p:spPr>
          <a:xfrm flipV="1">
            <a:off x="2286000" y="1554480"/>
            <a:ext cx="640080" cy="502920"/>
          </a:xfrm>
          <a:prstGeom prst="line">
            <a:avLst/>
          </a:prstGeom>
          <a:noFill/>
          <a:ln w="22225">
            <a:solidFill>
              <a:srgbClr val="7D6A6B"/>
            </a:solidFill>
            <a:prstDash val="solid"/>
            <a:tailEnd type="triangle"/>
          </a:ln>
        </p:spPr>
      </p:sp>
      <p:sp>
        <p:nvSpPr>
          <p:cNvPr id="13" name="Shape 11"/>
          <p:cNvSpPr/>
          <p:nvPr/>
        </p:nvSpPr>
        <p:spPr>
          <a:xfrm>
            <a:off x="2286000" y="2240280"/>
            <a:ext cx="640080" cy="594360"/>
          </a:xfrm>
          <a:prstGeom prst="line">
            <a:avLst/>
          </a:prstGeom>
          <a:noFill/>
          <a:ln w="22225">
            <a:solidFill>
              <a:srgbClr val="7D6A6B"/>
            </a:solidFill>
            <a:prstDash val="solid"/>
            <a:tailEnd type="triangle"/>
          </a:ln>
        </p:spPr>
      </p:sp>
      <p:sp>
        <p:nvSpPr>
          <p:cNvPr id="14" name="Shape 12"/>
          <p:cNvSpPr/>
          <p:nvPr/>
        </p:nvSpPr>
        <p:spPr>
          <a:xfrm>
            <a:off x="5577840" y="1737360"/>
            <a:ext cx="1371600" cy="914400"/>
          </a:xfrm>
          <a:prstGeom prst="roundRect">
            <a:avLst>
              <a:gd name="adj" fmla="val 8000"/>
            </a:avLst>
          </a:prstGeom>
          <a:solidFill>
            <a:srgbClr val="F6E7DB"/>
          </a:solidFill>
          <a:ln w="12700">
            <a:solidFill>
              <a:srgbClr val="F6E7DB"/>
            </a:solidFill>
            <a:prstDash val="solid"/>
          </a:ln>
        </p:spPr>
      </p:sp>
      <p:sp>
        <p:nvSpPr>
          <p:cNvPr id="15" name="Text 13"/>
          <p:cNvSpPr txBox="1"/>
          <p:nvPr/>
        </p:nvSpPr>
        <p:spPr>
          <a:xfrm>
            <a:off x="5577840" y="1737360"/>
            <a:ext cx="137160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Compare</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every printed line</a:t>
            </a:r>
            <a:endParaRPr lang="en-US" sz="1200" dirty="0"/>
          </a:p>
        </p:txBody>
      </p:sp>
      <p:sp>
        <p:nvSpPr>
          <p:cNvPr id="16" name="Shape 14"/>
          <p:cNvSpPr/>
          <p:nvPr/>
        </p:nvSpPr>
        <p:spPr>
          <a:xfrm>
            <a:off x="4937760" y="1554480"/>
            <a:ext cx="640080" cy="502920"/>
          </a:xfrm>
          <a:prstGeom prst="line">
            <a:avLst/>
          </a:prstGeom>
          <a:noFill/>
          <a:ln w="22225">
            <a:solidFill>
              <a:srgbClr val="7D6A6B"/>
            </a:solidFill>
            <a:prstDash val="solid"/>
            <a:tailEnd type="triangle"/>
          </a:ln>
        </p:spPr>
      </p:sp>
      <p:sp>
        <p:nvSpPr>
          <p:cNvPr id="17" name="Shape 15"/>
          <p:cNvSpPr/>
          <p:nvPr/>
        </p:nvSpPr>
        <p:spPr>
          <a:xfrm flipV="1">
            <a:off x="4937760" y="2240280"/>
            <a:ext cx="640080" cy="594360"/>
          </a:xfrm>
          <a:prstGeom prst="line">
            <a:avLst/>
          </a:prstGeom>
          <a:noFill/>
          <a:ln w="22225">
            <a:solidFill>
              <a:srgbClr val="7D6A6B"/>
            </a:solidFill>
            <a:prstDash val="solid"/>
            <a:tailEnd type="triangle"/>
          </a:ln>
        </p:spPr>
      </p:sp>
      <p:sp>
        <p:nvSpPr>
          <p:cNvPr id="18" name="Shape 16"/>
          <p:cNvSpPr/>
          <p:nvPr/>
        </p:nvSpPr>
        <p:spPr>
          <a:xfrm>
            <a:off x="7406640" y="1600200"/>
            <a:ext cx="1188720" cy="1188720"/>
          </a:xfrm>
          <a:prstGeom prst="ellipse">
            <a:avLst/>
          </a:prstGeom>
          <a:solidFill>
            <a:srgbClr val="548687"/>
          </a:solidFill>
          <a:ln w="12700">
            <a:solidFill>
              <a:srgbClr val="548687"/>
            </a:solidFill>
            <a:prstDash val="solid"/>
          </a:ln>
        </p:spPr>
      </p:sp>
      <p:sp>
        <p:nvSpPr>
          <p:cNvPr id="19" name="Text 17"/>
          <p:cNvSpPr txBox="1"/>
          <p:nvPr/>
        </p:nvSpPr>
        <p:spPr>
          <a:xfrm>
            <a:off x="7406640" y="16002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0" name="Shape 18"/>
          <p:cNvSpPr/>
          <p:nvPr/>
        </p:nvSpPr>
        <p:spPr>
          <a:xfrm>
            <a:off x="6949440" y="2194560"/>
            <a:ext cx="457200" cy="0"/>
          </a:xfrm>
          <a:prstGeom prst="line">
            <a:avLst/>
          </a:prstGeom>
          <a:noFill/>
          <a:ln w="22225">
            <a:solidFill>
              <a:srgbClr val="7D6A6B"/>
            </a:solidFill>
            <a:prstDash val="solid"/>
            <a:tailEnd type="triangle"/>
          </a:ln>
        </p:spPr>
      </p:sp>
      <p:sp>
        <p:nvSpPr>
          <p:cNvPr id="21" name="Text 19"/>
          <p:cNvSpPr txBox="1"/>
          <p:nvPr/>
        </p:nvSpPr>
        <p:spPr>
          <a:xfrm>
            <a:off x="7178040" y="2834640"/>
            <a:ext cx="1645920" cy="2743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differences</a:t>
            </a:r>
            <a:endParaRPr lang="en-US" sz="1200" dirty="0"/>
          </a:p>
        </p:txBody>
      </p:sp>
      <p:sp>
        <p:nvSpPr>
          <p:cNvPr id="22" name="Shape 20"/>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3" name="Text 21"/>
          <p:cNvSpPr txBox="1"/>
          <p:nvPr/>
        </p:nvSpPr>
        <p:spPr>
          <a:xfrm>
            <a:off x="64008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18 / 18</a:t>
            </a:r>
            <a:endParaRPr lang="en-US" sz="2600" dirty="0"/>
          </a:p>
        </p:txBody>
      </p:sp>
      <p:sp>
        <p:nvSpPr>
          <p:cNvPr id="24" name="Text 22"/>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runs identical to Node</a:t>
            </a:r>
            <a:endParaRPr lang="en-US" sz="1200" dirty="0"/>
          </a:p>
        </p:txBody>
      </p:sp>
      <p:sp>
        <p:nvSpPr>
          <p:cNvPr id="25" name="Shape 23"/>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342900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modes: baseline, + IC, + tier 2</a:t>
            </a:r>
            <a:endParaRPr lang="en-US" sz="1200" dirty="0"/>
          </a:p>
        </p:txBody>
      </p:sp>
      <p:sp>
        <p:nvSpPr>
          <p:cNvPr id="28" name="Shape 26"/>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29" name="Text 27"/>
          <p:cNvSpPr txBox="1"/>
          <p:nvPr/>
        </p:nvSpPr>
        <p:spPr>
          <a:xfrm>
            <a:off x="621792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4.1×</a:t>
            </a:r>
            <a:endParaRPr lang="en-US" sz="2600" dirty="0"/>
          </a:p>
        </p:txBody>
      </p:sp>
      <p:sp>
        <p:nvSpPr>
          <p:cNvPr id="30" name="Text 28"/>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V8's own mega slowdown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Final  |  20</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Results: 6 JavaScript programs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834640"/>
                <a:gridCol w="1188720"/>
                <a:gridCol w="420624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Node?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 rate · speed vs our baseline (IC / IC + tier 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basics.js: language features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33% · too short to time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points_mono.js: 1 shape, 6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0.86× / 1.12×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points_poly.js: 3 shapes, 6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0.85× / 0.84×</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points_mega.js: 16 shapes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0% · 0.69× / 0.68×</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points_wide.js: 1 shape, 32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1.13× / 1.46×</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deopt.js: shape A → B mid-loop</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90% · 1 deopt, every total correct</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Takeaway: on 6-field objects the cache costs more than the scan it saves; on wide objects it wins (1.46×).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A4 Review 2 — Bytecode JIT Compiler with Inline Caching</dc:title>
  <dc:subject>PptxGenJS Presentation</dc:subject>
  <dc:creator>PptxGenJS</dc:creator>
  <cp:lastModifiedBy>PptxGenJS</cp:lastModifiedBy>
  <cp:revision>1</cp:revision>
  <dcterms:created xsi:type="dcterms:W3CDTF">2026-09-23T04:25:32Z</dcterms:created>
  <dcterms:modified xsi:type="dcterms:W3CDTF">2026-09-23T04:25:32Z</dcterms:modified>
</cp:coreProperties>
</file>